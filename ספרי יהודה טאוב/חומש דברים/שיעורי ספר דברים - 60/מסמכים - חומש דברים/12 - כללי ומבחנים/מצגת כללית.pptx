
<file path=[Content_Types].xml><?xml version="1.0" encoding="utf-8"?>
<Types xmlns="http://schemas.openxmlformats.org/package/2006/content-types">
  <Default Extension="wmf" ContentType="image/x-w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94" r:id="rId6"/>
    <p:sldId id="270" r:id="rId7"/>
    <p:sldId id="429" r:id="rId8"/>
    <p:sldId id="360" r:id="rId9"/>
    <p:sldId id="272" r:id="rId10"/>
    <p:sldId id="374" r:id="rId11"/>
    <p:sldId id="356" r:id="rId12"/>
    <p:sldId id="359" r:id="rId13"/>
    <p:sldId id="358" r:id="rId14"/>
    <p:sldId id="357" r:id="rId15"/>
    <p:sldId id="279" r:id="rId16"/>
    <p:sldId id="297" r:id="rId17"/>
    <p:sldId id="281" r:id="rId18"/>
    <p:sldId id="282" r:id="rId19"/>
    <p:sldId id="283" r:id="rId20"/>
    <p:sldId id="284" r:id="rId21"/>
    <p:sldId id="285" r:id="rId22"/>
    <p:sldId id="340" r:id="rId23"/>
    <p:sldId id="286" r:id="rId24"/>
    <p:sldId id="342" r:id="rId25"/>
    <p:sldId id="343" r:id="rId26"/>
    <p:sldId id="344" r:id="rId27"/>
    <p:sldId id="420" r:id="rId28"/>
    <p:sldId id="345" r:id="rId29"/>
    <p:sldId id="346" r:id="rId30"/>
    <p:sldId id="436" r:id="rId31"/>
    <p:sldId id="354" r:id="rId32"/>
    <p:sldId id="398" r:id="rId33"/>
    <p:sldId id="422" r:id="rId34"/>
    <p:sldId id="421" r:id="rId35"/>
    <p:sldId id="347" r:id="rId36"/>
    <p:sldId id="387" r:id="rId37"/>
    <p:sldId id="412" r:id="rId38"/>
    <p:sldId id="413" r:id="rId39"/>
    <p:sldId id="415" r:id="rId40"/>
    <p:sldId id="417" r:id="rId41"/>
    <p:sldId id="419" r:id="rId42"/>
    <p:sldId id="416" r:id="rId43"/>
    <p:sldId id="337" r:id="rId44"/>
    <p:sldId id="418" r:id="rId45"/>
    <p:sldId id="331" r:id="rId46"/>
    <p:sldId id="332" r:id="rId47"/>
    <p:sldId id="389" r:id="rId48"/>
    <p:sldId id="390" r:id="rId49"/>
    <p:sldId id="334" r:id="rId50"/>
    <p:sldId id="424" r:id="rId51"/>
    <p:sldId id="336" r:id="rId52"/>
    <p:sldId id="335" r:id="rId53"/>
    <p:sldId id="425" r:id="rId54"/>
    <p:sldId id="399" r:id="rId55"/>
    <p:sldId id="400" r:id="rId56"/>
    <p:sldId id="401" r:id="rId57"/>
    <p:sldId id="402" r:id="rId58"/>
    <p:sldId id="403" r:id="rId59"/>
    <p:sldId id="404" r:id="rId60"/>
    <p:sldId id="405" r:id="rId61"/>
    <p:sldId id="406" r:id="rId62"/>
    <p:sldId id="407" r:id="rId63"/>
    <p:sldId id="408" r:id="rId64"/>
    <p:sldId id="433" r:id="rId65"/>
    <p:sldId id="434" r:id="rId66"/>
    <p:sldId id="435" r:id="rId67"/>
    <p:sldId id="437" r:id="rId68"/>
    <p:sldId id="439" r:id="rId69"/>
  </p:sldIdLst>
  <p:sldSz cx="61214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FF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380"/>
    <p:restoredTop sz="94660"/>
  </p:normalViewPr>
  <p:slideViewPr>
    <p:cSldViewPr>
      <p:cViewPr>
        <p:scale>
          <a:sx n="60" d="100"/>
          <a:sy n="60" d="100"/>
        </p:scale>
        <p:origin x="-2010" y="-228"/>
      </p:cViewPr>
      <p:guideLst>
        <p:guide orient="horz" pos="2160"/>
        <p:guide pos="19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" Type="http://schemas.openxmlformats.org/officeDocument/2006/relationships/slide" Target="slides/slide6.xml"/><Relationship Id="rId71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F66A4A3-1589-4A5B-AA52-EB99B9B96CC7}" type="doc">
      <dgm:prSet loTypeId="urn:microsoft.com/office/officeart/2005/8/layout/chevron1" loCatId="process" qsTypeId="urn:microsoft.com/office/officeart/2005/8/quickstyle/simple5" qsCatId="simple" csTypeId="urn:microsoft.com/office/officeart/2005/8/colors/colorful1" csCatId="colorful" phldr="1"/>
      <dgm:spPr/>
    </dgm:pt>
    <dgm:pt modelId="{2465A1B2-34EE-4178-BBAD-D0C56A3C330B}">
      <dgm:prSet phldrT="[טקסט]"/>
      <dgm:spPr/>
      <dgm:t>
        <a:bodyPr/>
        <a:lstStyle/>
        <a:p>
          <a:pPr rtl="1"/>
          <a:r>
            <a:rPr lang="he-IL" dirty="0" smtClean="0"/>
            <a:t>מאזהרה</a:t>
          </a:r>
        </a:p>
      </dgm:t>
    </dgm:pt>
    <dgm:pt modelId="{76C740EF-1D0A-495D-90BA-7A401864114A}" type="parTrans" cxnId="{15AC81BA-E753-4B90-9520-9D9600BDEB0F}">
      <dgm:prSet/>
      <dgm:spPr/>
      <dgm:t>
        <a:bodyPr/>
        <a:lstStyle/>
        <a:p>
          <a:pPr rtl="1"/>
          <a:endParaRPr lang="he-IL"/>
        </a:p>
      </dgm:t>
    </dgm:pt>
    <dgm:pt modelId="{CC74BDDF-5857-4CE2-9A26-E72CDA50F56C}" type="sibTrans" cxnId="{15AC81BA-E753-4B90-9520-9D9600BDEB0F}">
      <dgm:prSet/>
      <dgm:spPr/>
      <dgm:t>
        <a:bodyPr/>
        <a:lstStyle/>
        <a:p>
          <a:pPr rtl="1"/>
          <a:endParaRPr lang="he-IL"/>
        </a:p>
      </dgm:t>
    </dgm:pt>
    <dgm:pt modelId="{376633B6-C38F-4599-96FE-797409D28769}">
      <dgm:prSet phldrT="[טקסט]"/>
      <dgm:spPr/>
      <dgm:t>
        <a:bodyPr/>
        <a:lstStyle/>
        <a:p>
          <a:pPr rtl="1"/>
          <a:r>
            <a:rPr lang="he-IL" dirty="0" smtClean="0"/>
            <a:t>לתקווה</a:t>
          </a:r>
          <a:endParaRPr lang="he-IL" dirty="0"/>
        </a:p>
      </dgm:t>
    </dgm:pt>
    <dgm:pt modelId="{AFA11FC8-52E6-4FB3-9234-3542CDD7E09C}" type="parTrans" cxnId="{93A60F61-7C54-4FC7-AFA5-DB504579CF20}">
      <dgm:prSet/>
      <dgm:spPr/>
      <dgm:t>
        <a:bodyPr/>
        <a:lstStyle/>
        <a:p>
          <a:pPr rtl="1"/>
          <a:endParaRPr lang="he-IL"/>
        </a:p>
      </dgm:t>
    </dgm:pt>
    <dgm:pt modelId="{D8467CFA-DEBA-4D97-9AB5-9E92515D0CEB}" type="sibTrans" cxnId="{93A60F61-7C54-4FC7-AFA5-DB504579CF20}">
      <dgm:prSet/>
      <dgm:spPr/>
      <dgm:t>
        <a:bodyPr/>
        <a:lstStyle/>
        <a:p>
          <a:pPr rtl="1"/>
          <a:endParaRPr lang="he-IL"/>
        </a:p>
      </dgm:t>
    </dgm:pt>
    <dgm:pt modelId="{9C998F8D-E675-4C4D-9C8D-FE84620B716E}" type="pres">
      <dgm:prSet presAssocID="{AF66A4A3-1589-4A5B-AA52-EB99B9B96CC7}" presName="Name0" presStyleCnt="0">
        <dgm:presLayoutVars>
          <dgm:dir val="rev"/>
          <dgm:animLvl val="lvl"/>
          <dgm:resizeHandles val="exact"/>
        </dgm:presLayoutVars>
      </dgm:prSet>
      <dgm:spPr/>
    </dgm:pt>
    <dgm:pt modelId="{0FB44379-CD12-4400-9E23-06262F61DFAA}" type="pres">
      <dgm:prSet presAssocID="{2465A1B2-34EE-4178-BBAD-D0C56A3C330B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  <dgm:pt modelId="{96795DD8-EC7D-410B-A882-B34ABFBBD68B}" type="pres">
      <dgm:prSet presAssocID="{CC74BDDF-5857-4CE2-9A26-E72CDA50F56C}" presName="parTxOnlySpace" presStyleCnt="0"/>
      <dgm:spPr/>
    </dgm:pt>
    <dgm:pt modelId="{AAFE913F-B194-4EAC-B141-2058DA533806}" type="pres">
      <dgm:prSet presAssocID="{376633B6-C38F-4599-96FE-797409D28769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</dgm:ptLst>
  <dgm:cxnLst>
    <dgm:cxn modelId="{7BD6351C-EC12-431D-B6C7-0F55278A1009}" type="presOf" srcId="{AF66A4A3-1589-4A5B-AA52-EB99B9B96CC7}" destId="{9C998F8D-E675-4C4D-9C8D-FE84620B716E}" srcOrd="0" destOrd="0" presId="urn:microsoft.com/office/officeart/2005/8/layout/chevron1"/>
    <dgm:cxn modelId="{03DD6B09-E1DB-4D5F-95B1-38DD031339D5}" type="presOf" srcId="{376633B6-C38F-4599-96FE-797409D28769}" destId="{AAFE913F-B194-4EAC-B141-2058DA533806}" srcOrd="0" destOrd="0" presId="urn:microsoft.com/office/officeart/2005/8/layout/chevron1"/>
    <dgm:cxn modelId="{CBDB9F7B-CEC6-4582-9174-C25783E6A9D3}" type="presOf" srcId="{2465A1B2-34EE-4178-BBAD-D0C56A3C330B}" destId="{0FB44379-CD12-4400-9E23-06262F61DFAA}" srcOrd="0" destOrd="0" presId="urn:microsoft.com/office/officeart/2005/8/layout/chevron1"/>
    <dgm:cxn modelId="{15AC81BA-E753-4B90-9520-9D9600BDEB0F}" srcId="{AF66A4A3-1589-4A5B-AA52-EB99B9B96CC7}" destId="{2465A1B2-34EE-4178-BBAD-D0C56A3C330B}" srcOrd="0" destOrd="0" parTransId="{76C740EF-1D0A-495D-90BA-7A401864114A}" sibTransId="{CC74BDDF-5857-4CE2-9A26-E72CDA50F56C}"/>
    <dgm:cxn modelId="{93A60F61-7C54-4FC7-AFA5-DB504579CF20}" srcId="{AF66A4A3-1589-4A5B-AA52-EB99B9B96CC7}" destId="{376633B6-C38F-4599-96FE-797409D28769}" srcOrd="1" destOrd="0" parTransId="{AFA11FC8-52E6-4FB3-9234-3542CDD7E09C}" sibTransId="{D8467CFA-DEBA-4D97-9AB5-9E92515D0CEB}"/>
    <dgm:cxn modelId="{892A0151-19EE-49B7-857D-F167EFEF6AD3}" type="presParOf" srcId="{9C998F8D-E675-4C4D-9C8D-FE84620B716E}" destId="{0FB44379-CD12-4400-9E23-06262F61DFAA}" srcOrd="0" destOrd="0" presId="urn:microsoft.com/office/officeart/2005/8/layout/chevron1"/>
    <dgm:cxn modelId="{DA8B79E8-0FDE-48F4-A3A8-603A5F525F62}" type="presParOf" srcId="{9C998F8D-E675-4C4D-9C8D-FE84620B716E}" destId="{96795DD8-EC7D-410B-A882-B34ABFBBD68B}" srcOrd="1" destOrd="0" presId="urn:microsoft.com/office/officeart/2005/8/layout/chevron1"/>
    <dgm:cxn modelId="{8B3E1BDB-D8AD-488A-8C52-3E2BFFEA204E}" type="presParOf" srcId="{9C998F8D-E675-4C4D-9C8D-FE84620B716E}" destId="{AAFE913F-B194-4EAC-B141-2058DA533806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66A4A3-1589-4A5B-AA52-EB99B9B96CC7}" type="doc">
      <dgm:prSet loTypeId="urn:microsoft.com/office/officeart/2005/8/layout/chevron1" loCatId="process" qsTypeId="urn:microsoft.com/office/officeart/2005/8/quickstyle/simple5" qsCatId="simple" csTypeId="urn:microsoft.com/office/officeart/2005/8/colors/colorful1" csCatId="colorful" phldr="1"/>
      <dgm:spPr/>
    </dgm:pt>
    <dgm:pt modelId="{2465A1B2-34EE-4178-BBAD-D0C56A3C330B}">
      <dgm:prSet phldrT="[טקסט]"/>
      <dgm:spPr/>
      <dgm:t>
        <a:bodyPr/>
        <a:lstStyle/>
        <a:p>
          <a:pPr rtl="1"/>
          <a:r>
            <a:rPr lang="he-IL" dirty="0" smtClean="0"/>
            <a:t>ברכות וקללות (כ"ח)</a:t>
          </a:r>
        </a:p>
      </dgm:t>
    </dgm:pt>
    <dgm:pt modelId="{76C740EF-1D0A-495D-90BA-7A401864114A}" type="parTrans" cxnId="{15AC81BA-E753-4B90-9520-9D9600BDEB0F}">
      <dgm:prSet/>
      <dgm:spPr/>
      <dgm:t>
        <a:bodyPr/>
        <a:lstStyle/>
        <a:p>
          <a:pPr rtl="1"/>
          <a:endParaRPr lang="he-IL"/>
        </a:p>
      </dgm:t>
    </dgm:pt>
    <dgm:pt modelId="{CC74BDDF-5857-4CE2-9A26-E72CDA50F56C}" type="sibTrans" cxnId="{15AC81BA-E753-4B90-9520-9D9600BDEB0F}">
      <dgm:prSet/>
      <dgm:spPr/>
      <dgm:t>
        <a:bodyPr/>
        <a:lstStyle/>
        <a:p>
          <a:pPr rtl="1"/>
          <a:endParaRPr lang="he-IL"/>
        </a:p>
      </dgm:t>
    </dgm:pt>
    <dgm:pt modelId="{376633B6-C38F-4599-96FE-797409D28769}">
      <dgm:prSet phldrT="[טקסט]"/>
      <dgm:spPr/>
      <dgm:t>
        <a:bodyPr/>
        <a:lstStyle/>
        <a:p>
          <a:pPr rtl="1"/>
          <a:r>
            <a:rPr lang="he-IL" dirty="0" smtClean="0"/>
            <a:t>ניצבים -</a:t>
          </a:r>
          <a:r>
            <a:rPr lang="he-IL" baseline="0" dirty="0" smtClean="0"/>
            <a:t> </a:t>
          </a:r>
          <a:r>
            <a:rPr lang="he-IL" dirty="0" smtClean="0"/>
            <a:t>תשובה ובחירה</a:t>
          </a:r>
          <a:r>
            <a:rPr lang="he-IL" baseline="0" dirty="0" smtClean="0"/>
            <a:t> (כ"ט-ל')</a:t>
          </a:r>
          <a:endParaRPr lang="he-IL" dirty="0"/>
        </a:p>
      </dgm:t>
    </dgm:pt>
    <dgm:pt modelId="{AFA11FC8-52E6-4FB3-9234-3542CDD7E09C}" type="parTrans" cxnId="{93A60F61-7C54-4FC7-AFA5-DB504579CF20}">
      <dgm:prSet/>
      <dgm:spPr/>
      <dgm:t>
        <a:bodyPr/>
        <a:lstStyle/>
        <a:p>
          <a:pPr rtl="1"/>
          <a:endParaRPr lang="he-IL"/>
        </a:p>
      </dgm:t>
    </dgm:pt>
    <dgm:pt modelId="{D8467CFA-DEBA-4D97-9AB5-9E92515D0CEB}" type="sibTrans" cxnId="{93A60F61-7C54-4FC7-AFA5-DB504579CF20}">
      <dgm:prSet/>
      <dgm:spPr/>
      <dgm:t>
        <a:bodyPr/>
        <a:lstStyle/>
        <a:p>
          <a:pPr rtl="1"/>
          <a:endParaRPr lang="he-IL"/>
        </a:p>
      </dgm:t>
    </dgm:pt>
    <dgm:pt modelId="{9C998F8D-E675-4C4D-9C8D-FE84620B716E}" type="pres">
      <dgm:prSet presAssocID="{AF66A4A3-1589-4A5B-AA52-EB99B9B96CC7}" presName="Name0" presStyleCnt="0">
        <dgm:presLayoutVars>
          <dgm:dir val="rev"/>
          <dgm:animLvl val="lvl"/>
          <dgm:resizeHandles val="exact"/>
        </dgm:presLayoutVars>
      </dgm:prSet>
      <dgm:spPr/>
    </dgm:pt>
    <dgm:pt modelId="{0FB44379-CD12-4400-9E23-06262F61DFAA}" type="pres">
      <dgm:prSet presAssocID="{2465A1B2-34EE-4178-BBAD-D0C56A3C330B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  <dgm:pt modelId="{96795DD8-EC7D-410B-A882-B34ABFBBD68B}" type="pres">
      <dgm:prSet presAssocID="{CC74BDDF-5857-4CE2-9A26-E72CDA50F56C}" presName="parTxOnlySpace" presStyleCnt="0"/>
      <dgm:spPr/>
    </dgm:pt>
    <dgm:pt modelId="{AAFE913F-B194-4EAC-B141-2058DA533806}" type="pres">
      <dgm:prSet presAssocID="{376633B6-C38F-4599-96FE-797409D28769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</dgm:ptLst>
  <dgm:cxnLst>
    <dgm:cxn modelId="{15AC81BA-E753-4B90-9520-9D9600BDEB0F}" srcId="{AF66A4A3-1589-4A5B-AA52-EB99B9B96CC7}" destId="{2465A1B2-34EE-4178-BBAD-D0C56A3C330B}" srcOrd="0" destOrd="0" parTransId="{76C740EF-1D0A-495D-90BA-7A401864114A}" sibTransId="{CC74BDDF-5857-4CE2-9A26-E72CDA50F56C}"/>
    <dgm:cxn modelId="{8FB7A432-A698-48D4-8B23-B2B80CF74DBD}" type="presOf" srcId="{AF66A4A3-1589-4A5B-AA52-EB99B9B96CC7}" destId="{9C998F8D-E675-4C4D-9C8D-FE84620B716E}" srcOrd="0" destOrd="0" presId="urn:microsoft.com/office/officeart/2005/8/layout/chevron1"/>
    <dgm:cxn modelId="{93A60F61-7C54-4FC7-AFA5-DB504579CF20}" srcId="{AF66A4A3-1589-4A5B-AA52-EB99B9B96CC7}" destId="{376633B6-C38F-4599-96FE-797409D28769}" srcOrd="1" destOrd="0" parTransId="{AFA11FC8-52E6-4FB3-9234-3542CDD7E09C}" sibTransId="{D8467CFA-DEBA-4D97-9AB5-9E92515D0CEB}"/>
    <dgm:cxn modelId="{50642288-06C1-404C-9ECB-293794CAC516}" type="presOf" srcId="{2465A1B2-34EE-4178-BBAD-D0C56A3C330B}" destId="{0FB44379-CD12-4400-9E23-06262F61DFAA}" srcOrd="0" destOrd="0" presId="urn:microsoft.com/office/officeart/2005/8/layout/chevron1"/>
    <dgm:cxn modelId="{EDE1D332-C77D-4488-86D9-6CD0B4B39D82}" type="presOf" srcId="{376633B6-C38F-4599-96FE-797409D28769}" destId="{AAFE913F-B194-4EAC-B141-2058DA533806}" srcOrd="0" destOrd="0" presId="urn:microsoft.com/office/officeart/2005/8/layout/chevron1"/>
    <dgm:cxn modelId="{0CD43DD1-26A4-4732-B2D7-1FF0E648DA7D}" type="presParOf" srcId="{9C998F8D-E675-4C4D-9C8D-FE84620B716E}" destId="{0FB44379-CD12-4400-9E23-06262F61DFAA}" srcOrd="0" destOrd="0" presId="urn:microsoft.com/office/officeart/2005/8/layout/chevron1"/>
    <dgm:cxn modelId="{D50173B3-73FD-48BF-810F-2495DC83D0D1}" type="presParOf" srcId="{9C998F8D-E675-4C4D-9C8D-FE84620B716E}" destId="{96795DD8-EC7D-410B-A882-B34ABFBBD68B}" srcOrd="1" destOrd="0" presId="urn:microsoft.com/office/officeart/2005/8/layout/chevron1"/>
    <dgm:cxn modelId="{2E79EA5F-7AD3-40F9-AC61-7126A7F328B5}" type="presParOf" srcId="{9C998F8D-E675-4C4D-9C8D-FE84620B716E}" destId="{AAFE913F-B194-4EAC-B141-2058DA533806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F66A4A3-1589-4A5B-AA52-EB99B9B96CC7}" type="doc">
      <dgm:prSet loTypeId="urn:microsoft.com/office/officeart/2005/8/layout/chevron1" loCatId="process" qsTypeId="urn:microsoft.com/office/officeart/2005/8/quickstyle/simple5" qsCatId="simple" csTypeId="urn:microsoft.com/office/officeart/2005/8/colors/colorful1" csCatId="colorful" phldr="1"/>
      <dgm:spPr/>
    </dgm:pt>
    <dgm:pt modelId="{2465A1B2-34EE-4178-BBAD-D0C56A3C330B}">
      <dgm:prSet phldrT="[טקסט]"/>
      <dgm:spPr/>
      <dgm:t>
        <a:bodyPr/>
        <a:lstStyle/>
        <a:p>
          <a:pPr rtl="1"/>
          <a:r>
            <a:rPr lang="he-IL" dirty="0" smtClean="0"/>
            <a:t>שירת האזינו (ל"א-ל"ב)</a:t>
          </a:r>
        </a:p>
      </dgm:t>
    </dgm:pt>
    <dgm:pt modelId="{76C740EF-1D0A-495D-90BA-7A401864114A}" type="parTrans" cxnId="{15AC81BA-E753-4B90-9520-9D9600BDEB0F}">
      <dgm:prSet/>
      <dgm:spPr/>
      <dgm:t>
        <a:bodyPr/>
        <a:lstStyle/>
        <a:p>
          <a:pPr rtl="1"/>
          <a:endParaRPr lang="he-IL"/>
        </a:p>
      </dgm:t>
    </dgm:pt>
    <dgm:pt modelId="{CC74BDDF-5857-4CE2-9A26-E72CDA50F56C}" type="sibTrans" cxnId="{15AC81BA-E753-4B90-9520-9D9600BDEB0F}">
      <dgm:prSet/>
      <dgm:spPr/>
      <dgm:t>
        <a:bodyPr/>
        <a:lstStyle/>
        <a:p>
          <a:pPr rtl="1"/>
          <a:endParaRPr lang="he-IL"/>
        </a:p>
      </dgm:t>
    </dgm:pt>
    <dgm:pt modelId="{376633B6-C38F-4599-96FE-797409D28769}">
      <dgm:prSet phldrT="[טקסט]"/>
      <dgm:spPr/>
      <dgm:t>
        <a:bodyPr/>
        <a:lstStyle/>
        <a:p>
          <a:pPr rtl="1"/>
          <a:r>
            <a:rPr lang="he-IL" dirty="0" smtClean="0"/>
            <a:t>שירת ברכות משה (ל"ג)</a:t>
          </a:r>
          <a:endParaRPr lang="he-IL" dirty="0"/>
        </a:p>
      </dgm:t>
    </dgm:pt>
    <dgm:pt modelId="{AFA11FC8-52E6-4FB3-9234-3542CDD7E09C}" type="parTrans" cxnId="{93A60F61-7C54-4FC7-AFA5-DB504579CF20}">
      <dgm:prSet/>
      <dgm:spPr/>
      <dgm:t>
        <a:bodyPr/>
        <a:lstStyle/>
        <a:p>
          <a:pPr rtl="1"/>
          <a:endParaRPr lang="he-IL"/>
        </a:p>
      </dgm:t>
    </dgm:pt>
    <dgm:pt modelId="{D8467CFA-DEBA-4D97-9AB5-9E92515D0CEB}" type="sibTrans" cxnId="{93A60F61-7C54-4FC7-AFA5-DB504579CF20}">
      <dgm:prSet/>
      <dgm:spPr/>
      <dgm:t>
        <a:bodyPr/>
        <a:lstStyle/>
        <a:p>
          <a:pPr rtl="1"/>
          <a:endParaRPr lang="he-IL"/>
        </a:p>
      </dgm:t>
    </dgm:pt>
    <dgm:pt modelId="{9C998F8D-E675-4C4D-9C8D-FE84620B716E}" type="pres">
      <dgm:prSet presAssocID="{AF66A4A3-1589-4A5B-AA52-EB99B9B96CC7}" presName="Name0" presStyleCnt="0">
        <dgm:presLayoutVars>
          <dgm:dir val="rev"/>
          <dgm:animLvl val="lvl"/>
          <dgm:resizeHandles val="exact"/>
        </dgm:presLayoutVars>
      </dgm:prSet>
      <dgm:spPr/>
    </dgm:pt>
    <dgm:pt modelId="{0FB44379-CD12-4400-9E23-06262F61DFAA}" type="pres">
      <dgm:prSet presAssocID="{2465A1B2-34EE-4178-BBAD-D0C56A3C330B}" presName="parTxOnly" presStyleLbl="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  <dgm:pt modelId="{96795DD8-EC7D-410B-A882-B34ABFBBD68B}" type="pres">
      <dgm:prSet presAssocID="{CC74BDDF-5857-4CE2-9A26-E72CDA50F56C}" presName="parTxOnlySpace" presStyleCnt="0"/>
      <dgm:spPr/>
    </dgm:pt>
    <dgm:pt modelId="{AAFE913F-B194-4EAC-B141-2058DA533806}" type="pres">
      <dgm:prSet presAssocID="{376633B6-C38F-4599-96FE-797409D28769}" presName="parTxOnly" presStyleLbl="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</dgm:ptLst>
  <dgm:cxnLst>
    <dgm:cxn modelId="{4478DE08-634A-4AE7-AC6D-300EAD704486}" type="presOf" srcId="{AF66A4A3-1589-4A5B-AA52-EB99B9B96CC7}" destId="{9C998F8D-E675-4C4D-9C8D-FE84620B716E}" srcOrd="0" destOrd="0" presId="urn:microsoft.com/office/officeart/2005/8/layout/chevron1"/>
    <dgm:cxn modelId="{DD474C06-5282-4420-A8AE-109A29CA3C87}" type="presOf" srcId="{2465A1B2-34EE-4178-BBAD-D0C56A3C330B}" destId="{0FB44379-CD12-4400-9E23-06262F61DFAA}" srcOrd="0" destOrd="0" presId="urn:microsoft.com/office/officeart/2005/8/layout/chevron1"/>
    <dgm:cxn modelId="{15AC81BA-E753-4B90-9520-9D9600BDEB0F}" srcId="{AF66A4A3-1589-4A5B-AA52-EB99B9B96CC7}" destId="{2465A1B2-34EE-4178-BBAD-D0C56A3C330B}" srcOrd="0" destOrd="0" parTransId="{76C740EF-1D0A-495D-90BA-7A401864114A}" sibTransId="{CC74BDDF-5857-4CE2-9A26-E72CDA50F56C}"/>
    <dgm:cxn modelId="{266452BA-A626-4B25-950D-1ACE5C698666}" type="presOf" srcId="{376633B6-C38F-4599-96FE-797409D28769}" destId="{AAFE913F-B194-4EAC-B141-2058DA533806}" srcOrd="0" destOrd="0" presId="urn:microsoft.com/office/officeart/2005/8/layout/chevron1"/>
    <dgm:cxn modelId="{93A60F61-7C54-4FC7-AFA5-DB504579CF20}" srcId="{AF66A4A3-1589-4A5B-AA52-EB99B9B96CC7}" destId="{376633B6-C38F-4599-96FE-797409D28769}" srcOrd="1" destOrd="0" parTransId="{AFA11FC8-52E6-4FB3-9234-3542CDD7E09C}" sibTransId="{D8467CFA-DEBA-4D97-9AB5-9E92515D0CEB}"/>
    <dgm:cxn modelId="{62FB4040-DC9A-440D-AAD5-DCB5D42AAA0B}" type="presParOf" srcId="{9C998F8D-E675-4C4D-9C8D-FE84620B716E}" destId="{0FB44379-CD12-4400-9E23-06262F61DFAA}" srcOrd="0" destOrd="0" presId="urn:microsoft.com/office/officeart/2005/8/layout/chevron1"/>
    <dgm:cxn modelId="{AB7C3084-30F6-4830-B809-62F73AB79859}" type="presParOf" srcId="{9C998F8D-E675-4C4D-9C8D-FE84620B716E}" destId="{96795DD8-EC7D-410B-A882-B34ABFBBD68B}" srcOrd="1" destOrd="0" presId="urn:microsoft.com/office/officeart/2005/8/layout/chevron1"/>
    <dgm:cxn modelId="{2D6D3CDA-706F-4A05-ABFD-B7E71FB9CDF7}" type="presParOf" srcId="{9C998F8D-E675-4C4D-9C8D-FE84620B716E}" destId="{AAFE913F-B194-4EAC-B141-2058DA533806}" srcOrd="2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1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57280A3-5B14-4285-AE4B-315F9FF8C7E0}" type="doc">
      <dgm:prSet loTypeId="urn:microsoft.com/office/officeart/2005/8/layout/arrow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pPr rtl="1"/>
          <a:endParaRPr lang="he-IL"/>
        </a:p>
      </dgm:t>
    </dgm:pt>
    <dgm:pt modelId="{6619CFD6-A066-4CF4-8E59-6B17D84675CB}">
      <dgm:prSet phldrT="[טקסט]"/>
      <dgm:spPr/>
      <dgm:t>
        <a:bodyPr/>
        <a:lstStyle/>
        <a:p>
          <a:pPr rtl="1"/>
          <a:r>
            <a:rPr lang="he-IL" dirty="0" smtClean="0"/>
            <a:t>לאומיות ואנושיות</a:t>
          </a:r>
          <a:endParaRPr lang="he-IL" dirty="0"/>
        </a:p>
      </dgm:t>
    </dgm:pt>
    <dgm:pt modelId="{2F59AD95-F0DE-491C-8CC0-3505792BAA18}" type="parTrans" cxnId="{B8271B9A-7EDC-4F7A-A140-DF55C9530EE7}">
      <dgm:prSet/>
      <dgm:spPr/>
      <dgm:t>
        <a:bodyPr/>
        <a:lstStyle/>
        <a:p>
          <a:pPr rtl="1"/>
          <a:endParaRPr lang="he-IL"/>
        </a:p>
      </dgm:t>
    </dgm:pt>
    <dgm:pt modelId="{3946B544-0E70-47DD-8C2C-90C1D287AA2F}" type="sibTrans" cxnId="{B8271B9A-7EDC-4F7A-A140-DF55C9530EE7}">
      <dgm:prSet/>
      <dgm:spPr/>
      <dgm:t>
        <a:bodyPr/>
        <a:lstStyle/>
        <a:p>
          <a:pPr rtl="1"/>
          <a:endParaRPr lang="he-IL"/>
        </a:p>
      </dgm:t>
    </dgm:pt>
    <dgm:pt modelId="{DDB3A69B-39A6-4DD8-9FDC-F17B7B2D2105}">
      <dgm:prSet phldrT="[טקסט]" custT="1"/>
      <dgm:spPr/>
      <dgm:t>
        <a:bodyPr/>
        <a:lstStyle/>
        <a:p>
          <a:pPr rtl="1"/>
          <a:r>
            <a:rPr lang="he-IL" sz="2400" dirty="0" smtClean="0"/>
            <a:t>חיבור אינטימי לקב"ה</a:t>
          </a:r>
          <a:endParaRPr lang="he-IL" sz="2400" dirty="0"/>
        </a:p>
      </dgm:t>
    </dgm:pt>
    <dgm:pt modelId="{7D585124-587B-499D-A333-F9425743FF6E}" type="parTrans" cxnId="{E073D573-E376-4ABA-B222-008C1440FD02}">
      <dgm:prSet/>
      <dgm:spPr/>
      <dgm:t>
        <a:bodyPr/>
        <a:lstStyle/>
        <a:p>
          <a:pPr rtl="1"/>
          <a:endParaRPr lang="he-IL"/>
        </a:p>
      </dgm:t>
    </dgm:pt>
    <dgm:pt modelId="{83EA0A81-B608-4EE8-B3EC-B43604F3E674}" type="sibTrans" cxnId="{E073D573-E376-4ABA-B222-008C1440FD02}">
      <dgm:prSet/>
      <dgm:spPr/>
      <dgm:t>
        <a:bodyPr/>
        <a:lstStyle/>
        <a:p>
          <a:pPr rtl="1"/>
          <a:endParaRPr lang="he-IL"/>
        </a:p>
      </dgm:t>
    </dgm:pt>
    <dgm:pt modelId="{39A6D837-A740-4945-839D-BCE5EF9B7EC1}" type="pres">
      <dgm:prSet presAssocID="{D57280A3-5B14-4285-AE4B-315F9FF8C7E0}" presName="diagram" presStyleCnt="0">
        <dgm:presLayoutVars>
          <dgm:dir/>
          <dgm:resizeHandles val="exact"/>
        </dgm:presLayoutVars>
      </dgm:prSet>
      <dgm:spPr/>
      <dgm:t>
        <a:bodyPr/>
        <a:lstStyle/>
        <a:p>
          <a:pPr rtl="1"/>
          <a:endParaRPr lang="he-IL"/>
        </a:p>
      </dgm:t>
    </dgm:pt>
    <dgm:pt modelId="{929790CA-346F-4B3A-A06B-1078BD68B7AB}" type="pres">
      <dgm:prSet presAssocID="{6619CFD6-A066-4CF4-8E59-6B17D84675CB}" presName="arrow" presStyleLbl="node1" presStyleIdx="0" presStyleCnt="2">
        <dgm:presLayoutVars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  <dgm:pt modelId="{6C3D404B-F582-4000-9DEE-76B396E1D02C}" type="pres">
      <dgm:prSet presAssocID="{DDB3A69B-39A6-4DD8-9FDC-F17B7B2D2105}" presName="arrow" presStyleLbl="node1" presStyleIdx="1" presStyleCnt="2" custRadScaleRad="100206" custRadScaleInc="-2040">
        <dgm:presLayoutVars>
          <dgm:bulletEnabled val="1"/>
        </dgm:presLayoutVars>
      </dgm:prSet>
      <dgm:spPr/>
      <dgm:t>
        <a:bodyPr/>
        <a:lstStyle/>
        <a:p>
          <a:pPr rtl="1"/>
          <a:endParaRPr lang="he-IL"/>
        </a:p>
      </dgm:t>
    </dgm:pt>
  </dgm:ptLst>
  <dgm:cxnLst>
    <dgm:cxn modelId="{E073D573-E376-4ABA-B222-008C1440FD02}" srcId="{D57280A3-5B14-4285-AE4B-315F9FF8C7E0}" destId="{DDB3A69B-39A6-4DD8-9FDC-F17B7B2D2105}" srcOrd="1" destOrd="0" parTransId="{7D585124-587B-499D-A333-F9425743FF6E}" sibTransId="{83EA0A81-B608-4EE8-B3EC-B43604F3E674}"/>
    <dgm:cxn modelId="{09A248CE-C6B5-4AD3-AFC4-5BF58314BA5B}" type="presOf" srcId="{D57280A3-5B14-4285-AE4B-315F9FF8C7E0}" destId="{39A6D837-A740-4945-839D-BCE5EF9B7EC1}" srcOrd="0" destOrd="0" presId="urn:microsoft.com/office/officeart/2005/8/layout/arrow5"/>
    <dgm:cxn modelId="{C5063FD6-6D44-453B-B0FD-11600163A697}" type="presOf" srcId="{DDB3A69B-39A6-4DD8-9FDC-F17B7B2D2105}" destId="{6C3D404B-F582-4000-9DEE-76B396E1D02C}" srcOrd="0" destOrd="0" presId="urn:microsoft.com/office/officeart/2005/8/layout/arrow5"/>
    <dgm:cxn modelId="{795B085A-8B2F-4436-91F6-1232599B0698}" type="presOf" srcId="{6619CFD6-A066-4CF4-8E59-6B17D84675CB}" destId="{929790CA-346F-4B3A-A06B-1078BD68B7AB}" srcOrd="0" destOrd="0" presId="urn:microsoft.com/office/officeart/2005/8/layout/arrow5"/>
    <dgm:cxn modelId="{B8271B9A-7EDC-4F7A-A140-DF55C9530EE7}" srcId="{D57280A3-5B14-4285-AE4B-315F9FF8C7E0}" destId="{6619CFD6-A066-4CF4-8E59-6B17D84675CB}" srcOrd="0" destOrd="0" parTransId="{2F59AD95-F0DE-491C-8CC0-3505792BAA18}" sibTransId="{3946B544-0E70-47DD-8C2C-90C1D287AA2F}"/>
    <dgm:cxn modelId="{B97C9945-095C-4C17-B985-9EC81DC89D82}" type="presParOf" srcId="{39A6D837-A740-4945-839D-BCE5EF9B7EC1}" destId="{929790CA-346F-4B3A-A06B-1078BD68B7AB}" srcOrd="0" destOrd="0" presId="urn:microsoft.com/office/officeart/2005/8/layout/arrow5"/>
    <dgm:cxn modelId="{ECFE704C-A444-473E-81E8-1DB74729636B}" type="presParOf" srcId="{39A6D837-A740-4945-839D-BCE5EF9B7EC1}" destId="{6C3D404B-F582-4000-9DEE-76B396E1D02C}" srcOrd="1" destOrd="0" presId="urn:microsoft.com/office/officeart/2005/8/layout/arrow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B44379-CD12-4400-9E23-06262F61DFAA}">
      <dsp:nvSpPr>
        <dsp:cNvPr id="0" name=""/>
        <dsp:cNvSpPr/>
      </dsp:nvSpPr>
      <dsp:spPr>
        <a:xfrm rot="10800000">
          <a:off x="1933262" y="931494"/>
          <a:ext cx="2144083" cy="857633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6005" tIns="36005" rIns="108014" bIns="36005" numCol="1" spcCol="1270" anchor="ctr" anchorCtr="0">
          <a:noAutofit/>
        </a:bodyPr>
        <a:lstStyle/>
        <a:p>
          <a:pPr lvl="0" algn="ctr" defTabSz="120015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2700" kern="1200" dirty="0" smtClean="0"/>
            <a:t>מאזהרה</a:t>
          </a:r>
        </a:p>
      </dsp:txBody>
      <dsp:txXfrm rot="10800000">
        <a:off x="2362078" y="931494"/>
        <a:ext cx="1286450" cy="857633"/>
      </dsp:txXfrm>
    </dsp:sp>
    <dsp:sp modelId="{AAFE913F-B194-4EAC-B141-2058DA533806}">
      <dsp:nvSpPr>
        <dsp:cNvPr id="0" name=""/>
        <dsp:cNvSpPr/>
      </dsp:nvSpPr>
      <dsp:spPr>
        <a:xfrm rot="10800000">
          <a:off x="3586" y="931494"/>
          <a:ext cx="2144083" cy="857633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6005" tIns="36005" rIns="108014" bIns="36005" numCol="1" spcCol="1270" anchor="ctr" anchorCtr="0">
          <a:noAutofit/>
        </a:bodyPr>
        <a:lstStyle/>
        <a:p>
          <a:pPr lvl="0" algn="ctr" defTabSz="120015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2700" kern="1200" dirty="0" smtClean="0"/>
            <a:t>לתקווה</a:t>
          </a:r>
          <a:endParaRPr lang="he-IL" sz="2700" kern="1200" dirty="0"/>
        </a:p>
      </dsp:txBody>
      <dsp:txXfrm rot="10800000">
        <a:off x="432402" y="931494"/>
        <a:ext cx="1286450" cy="85763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B44379-CD12-4400-9E23-06262F61DFAA}">
      <dsp:nvSpPr>
        <dsp:cNvPr id="0" name=""/>
        <dsp:cNvSpPr/>
      </dsp:nvSpPr>
      <dsp:spPr>
        <a:xfrm rot="10800000">
          <a:off x="2558428" y="872675"/>
          <a:ext cx="2837424" cy="1134969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8004" tIns="28004" rIns="84011" bIns="28004" numCol="1" spcCol="1270" anchor="ctr" anchorCtr="0">
          <a:noAutofit/>
        </a:bodyPr>
        <a:lstStyle/>
        <a:p>
          <a:pPr lvl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2100" kern="1200" dirty="0" smtClean="0"/>
            <a:t>ברכות וקללות (כ"ח)</a:t>
          </a:r>
        </a:p>
      </dsp:txBody>
      <dsp:txXfrm rot="10800000">
        <a:off x="3125912" y="872675"/>
        <a:ext cx="1702455" cy="1134969"/>
      </dsp:txXfrm>
    </dsp:sp>
    <dsp:sp modelId="{AAFE913F-B194-4EAC-B141-2058DA533806}">
      <dsp:nvSpPr>
        <dsp:cNvPr id="0" name=""/>
        <dsp:cNvSpPr/>
      </dsp:nvSpPr>
      <dsp:spPr>
        <a:xfrm rot="10800000">
          <a:off x="4746" y="872675"/>
          <a:ext cx="2837424" cy="1134969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8004" tIns="28004" rIns="84011" bIns="28004" numCol="1" spcCol="1270" anchor="ctr" anchorCtr="0">
          <a:noAutofit/>
        </a:bodyPr>
        <a:lstStyle/>
        <a:p>
          <a:pPr lvl="0" algn="ctr" defTabSz="93345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2100" kern="1200" dirty="0" smtClean="0"/>
            <a:t>ניצבים -</a:t>
          </a:r>
          <a:r>
            <a:rPr lang="he-IL" sz="2100" kern="1200" baseline="0" dirty="0" smtClean="0"/>
            <a:t> </a:t>
          </a:r>
          <a:r>
            <a:rPr lang="he-IL" sz="2100" kern="1200" dirty="0" smtClean="0"/>
            <a:t>תשובה ובחירה</a:t>
          </a:r>
          <a:r>
            <a:rPr lang="he-IL" sz="2100" kern="1200" baseline="0" dirty="0" smtClean="0"/>
            <a:t> (כ"ט-ל')</a:t>
          </a:r>
          <a:endParaRPr lang="he-IL" sz="2100" kern="1200" dirty="0"/>
        </a:p>
      </dsp:txBody>
      <dsp:txXfrm rot="10800000">
        <a:off x="572230" y="872675"/>
        <a:ext cx="1702455" cy="11349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B44379-CD12-4400-9E23-06262F61DFAA}">
      <dsp:nvSpPr>
        <dsp:cNvPr id="0" name=""/>
        <dsp:cNvSpPr/>
      </dsp:nvSpPr>
      <dsp:spPr>
        <a:xfrm rot="10800000">
          <a:off x="2524316" y="800392"/>
          <a:ext cx="2799592" cy="1119836"/>
        </a:xfrm>
        <a:prstGeom prst="chevron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671" tIns="34671" rIns="104013" bIns="34671" numCol="1" spcCol="1270" anchor="ctr" anchorCtr="0">
          <a:noAutofit/>
        </a:bodyPr>
        <a:lstStyle/>
        <a:p>
          <a:pPr lvl="0" algn="ct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2600" kern="1200" dirty="0" smtClean="0"/>
            <a:t>שירת האזינו (ל"א-ל"ב)</a:t>
          </a:r>
        </a:p>
      </dsp:txBody>
      <dsp:txXfrm rot="10800000">
        <a:off x="3084234" y="800392"/>
        <a:ext cx="1679756" cy="1119836"/>
      </dsp:txXfrm>
    </dsp:sp>
    <dsp:sp modelId="{AAFE913F-B194-4EAC-B141-2058DA533806}">
      <dsp:nvSpPr>
        <dsp:cNvPr id="0" name=""/>
        <dsp:cNvSpPr/>
      </dsp:nvSpPr>
      <dsp:spPr>
        <a:xfrm rot="10800000">
          <a:off x="4683" y="800392"/>
          <a:ext cx="2799592" cy="1119836"/>
        </a:xfrm>
        <a:prstGeom prst="chevron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3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4671" tIns="34671" rIns="104013" bIns="34671" numCol="1" spcCol="1270" anchor="ctr" anchorCtr="0">
          <a:noAutofit/>
        </a:bodyPr>
        <a:lstStyle/>
        <a:p>
          <a:pPr lvl="0" algn="ctr" defTabSz="115570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2600" kern="1200" dirty="0" smtClean="0"/>
            <a:t>שירת ברכות משה (ל"ג)</a:t>
          </a:r>
          <a:endParaRPr lang="he-IL" sz="2600" kern="1200" dirty="0"/>
        </a:p>
      </dsp:txBody>
      <dsp:txXfrm rot="10800000">
        <a:off x="564601" y="800392"/>
        <a:ext cx="1679756" cy="1119836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9790CA-346F-4B3A-A06B-1078BD68B7AB}">
      <dsp:nvSpPr>
        <dsp:cNvPr id="0" name=""/>
        <dsp:cNvSpPr/>
      </dsp:nvSpPr>
      <dsp:spPr>
        <a:xfrm rot="16200000">
          <a:off x="706" y="364"/>
          <a:ext cx="2087503" cy="208750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0" tIns="177800" rIns="177800" bIns="177800" numCol="1" spcCol="1270" anchor="ctr" anchorCtr="0">
          <a:noAutofit/>
        </a:bodyPr>
        <a:lstStyle/>
        <a:p>
          <a:pPr lvl="0" algn="ctr" defTabSz="111125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2500" kern="1200" dirty="0" smtClean="0"/>
            <a:t>לאומיות ואנושיות</a:t>
          </a:r>
          <a:endParaRPr lang="he-IL" sz="2500" kern="1200" dirty="0"/>
        </a:p>
      </dsp:txBody>
      <dsp:txXfrm rot="5400000">
        <a:off x="707" y="522240"/>
        <a:ext cx="1722190" cy="1043751"/>
      </dsp:txXfrm>
    </dsp:sp>
    <dsp:sp modelId="{6C3D404B-F582-4000-9DEE-76B396E1D02C}">
      <dsp:nvSpPr>
        <dsp:cNvPr id="0" name=""/>
        <dsp:cNvSpPr/>
      </dsp:nvSpPr>
      <dsp:spPr>
        <a:xfrm rot="5400000">
          <a:off x="2256515" y="0"/>
          <a:ext cx="2087503" cy="2087503"/>
        </a:xfrm>
        <a:prstGeom prst="downArrow">
          <a:avLst>
            <a:gd name="adj1" fmla="val 50000"/>
            <a:gd name="adj2" fmla="val 35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lvl="0" algn="ctr" defTabSz="1066800" rtl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he-IL" sz="2400" kern="1200" dirty="0" smtClean="0"/>
            <a:t>חיבור אינטימי לקב"ה</a:t>
          </a:r>
          <a:endParaRPr lang="he-IL" sz="2400" kern="1200" dirty="0"/>
        </a:p>
      </dsp:txBody>
      <dsp:txXfrm rot="-5400000">
        <a:off x="2621829" y="521875"/>
        <a:ext cx="1722190" cy="10437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arrow5">
  <dgm:title val=""/>
  <dgm:desc val=""/>
  <dgm:catLst>
    <dgm:cat type="relationship" pri="6000"/>
    <dgm:cat type="process" pri="3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4" srcId="0" destId="1" srcOrd="0" destOrd="0"/>
        <dgm:cxn modelId="5" srcId="0" destId="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ch" ptType="node" func="cnt" op="equ" val="2">
        <dgm:choose name="Name2">
          <dgm:if name="Name3" func="var" arg="dir" op="equ" val="norm">
            <dgm:alg type="cycle">
              <dgm:param type="rotPath" val="alongPath"/>
              <dgm:param type="stAng" val="270"/>
            </dgm:alg>
          </dgm:if>
          <dgm:else name="Name4">
            <dgm:alg type="cycle">
              <dgm:param type="rotPath" val="alongPath"/>
              <dgm:param type="stAng" val="90"/>
              <dgm:param type="spanAng" val="-360"/>
            </dgm:alg>
          </dgm:else>
        </dgm:choose>
      </dgm:if>
      <dgm:else name="Name5">
        <dgm:choose name="Name6">
          <dgm:if name="Name7" func="var" arg="dir" op="equ" val="norm">
            <dgm:alg type="cycle">
              <dgm:param type="rotPath" val="alongPath"/>
            </dgm:alg>
          </dgm:if>
          <dgm:else name="Name8">
            <dgm:alg type="cycle">
              <dgm:param type="rotPath" val="alongPath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axis="ch" ptType="node" func="cnt" op="lte" val="2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0.1"/>
          <dgm:constr type="sibSp" refType="h" op="lte" fact="0.1"/>
          <dgm:constr type="diam" refType="w" refFor="ch" refPtType="node" op="equ" fact="1.1"/>
        </dgm:constrLst>
      </dgm:if>
      <dgm:if name="Name11" axis="ch" ptType="node" func="cnt" op="equ" val="5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2"/>
          <dgm:constr type="sibSp" refType="h" op="lte" fact="0.1"/>
        </dgm:constrLst>
      </dgm:if>
      <dgm:if name="Name12" axis="ch" ptType="node" func="cnt" op="equ" val="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3" axis="ch" ptType="node" func="cnt" op="equ" val="7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if name="Name14" axis="ch" ptType="node" func="cnt" op="equ" val="8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/>
          <dgm:constr type="sibSp" refType="h" op="lte" fact="0.1"/>
        </dgm:constrLst>
      </dgm:if>
      <dgm:if name="Name15" axis="ch" ptType="node" func="cnt" op="gte" val="9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1"/>
          <dgm:constr type="sibSp" refType="h" op="lte" fact="0.1"/>
        </dgm:constrLst>
      </dgm:if>
      <dgm:else name="Name16">
        <dgm:constrLst>
          <dgm:constr type="primFontSz" for="ch" ptType="node" op="equ" val="65"/>
          <dgm:constr type="w" for="ch" ptType="node" refType="w"/>
          <dgm:constr type="h" for="ch" ptType="node" refType="w" refFor="ch" refPtType="node" op="equ"/>
          <dgm:constr type="sibSp" refType="w" refFor="ch" refPtType="node" fact="-0.35"/>
        </dgm:constrLst>
      </dgm:else>
    </dgm:choose>
    <dgm:ruleLst/>
    <dgm:forEach name="Name17" axis="ch" ptType="node">
      <dgm:layoutNode name="arrow">
        <dgm:varLst>
          <dgm:bulletEnabled val="1"/>
        </dgm:varLst>
        <dgm:alg type="tx"/>
        <dgm:shape xmlns:r="http://schemas.openxmlformats.org/officeDocument/2006/relationships" type="downArrow" r:blip="">
          <dgm:adjLst>
            <dgm:adj idx="2" val="0.35"/>
          </dgm:adjLst>
        </dgm:shape>
        <dgm:presOf axis="desOrSelf" ptType="node"/>
        <dgm:constrLst/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459105" y="2130426"/>
            <a:ext cx="5203190" cy="1470025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918210" y="3886200"/>
            <a:ext cx="428498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99BE-E7EA-424A-8EE0-C2D08E1C570F}" type="datetimeFigureOut">
              <a:rPr lang="he-IL" smtClean="0"/>
              <a:t>ב'/אלול/תשע"ה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56CE-EA7A-4D01-A9B0-868BEB4376F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107460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99BE-E7EA-424A-8EE0-C2D08E1C570F}" type="datetimeFigureOut">
              <a:rPr lang="he-IL" smtClean="0"/>
              <a:t>ב'/אלול/תשע"ה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56CE-EA7A-4D01-A9B0-868BEB4376F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81326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83548" y="4406901"/>
            <a:ext cx="520319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83548" y="2906713"/>
            <a:ext cx="520319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99BE-E7EA-424A-8EE0-C2D08E1C570F}" type="datetimeFigureOut">
              <a:rPr lang="he-IL" smtClean="0"/>
              <a:t>ב'/אלול/תשע"ה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56CE-EA7A-4D01-A9B0-868BEB4376F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19827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205110" y="1600201"/>
            <a:ext cx="1792847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2099981" y="1600201"/>
            <a:ext cx="1792848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99BE-E7EA-424A-8EE0-C2D08E1C570F}" type="datetimeFigureOut">
              <a:rPr lang="he-IL" smtClean="0"/>
              <a:t>ב'/אלול/תשע"ה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56CE-EA7A-4D01-A9B0-868BEB4376F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309657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274638"/>
            <a:ext cx="550926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306070" y="1535113"/>
            <a:ext cx="270468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306070" y="2174875"/>
            <a:ext cx="270468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3109586" y="1535113"/>
            <a:ext cx="270574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3109586" y="2174875"/>
            <a:ext cx="270574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99BE-E7EA-424A-8EE0-C2D08E1C570F}" type="datetimeFigureOut">
              <a:rPr lang="he-IL" smtClean="0"/>
              <a:t>ב'/אלול/תשע"ה</a:t>
            </a:fld>
            <a:endParaRPr lang="he-IL"/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56CE-EA7A-4D01-A9B0-868BEB4376F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22504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99BE-E7EA-424A-8EE0-C2D08E1C570F}" type="datetimeFigureOut">
              <a:rPr lang="he-IL" smtClean="0"/>
              <a:t>ב'/אלול/תשע"ה</a:t>
            </a:fld>
            <a:endParaRPr lang="he-IL"/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56CE-EA7A-4D01-A9B0-868BEB4376F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27929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99BE-E7EA-424A-8EE0-C2D08E1C570F}" type="datetimeFigureOut">
              <a:rPr lang="he-IL" smtClean="0"/>
              <a:t>ב'/אלול/תשע"ה</a:t>
            </a:fld>
            <a:endParaRPr lang="he-IL"/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56CE-EA7A-4D01-A9B0-868BEB4376F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48489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1" y="273050"/>
            <a:ext cx="2013898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2393297" y="273051"/>
            <a:ext cx="3422033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306071" y="1435101"/>
            <a:ext cx="201389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99BE-E7EA-424A-8EE0-C2D08E1C570F}" type="datetimeFigureOut">
              <a:rPr lang="he-IL" smtClean="0"/>
              <a:t>ב'/אלול/תשע"ה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56CE-EA7A-4D01-A9B0-868BEB4376F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69211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199837" y="4800600"/>
            <a:ext cx="367284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199837" y="612775"/>
            <a:ext cx="367284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199837" y="5367338"/>
            <a:ext cx="367284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99BE-E7EA-424A-8EE0-C2D08E1C570F}" type="datetimeFigureOut">
              <a:rPr lang="he-IL" smtClean="0"/>
              <a:t>ב'/אלול/תשע"ה</a:t>
            </a:fld>
            <a:endParaRPr lang="he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56CE-EA7A-4D01-A9B0-868BEB4376F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49215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99BE-E7EA-424A-8EE0-C2D08E1C570F}" type="datetimeFigureOut">
              <a:rPr lang="he-IL" smtClean="0"/>
              <a:t>ב'/אלול/תשע"ה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56CE-EA7A-4D01-A9B0-868BEB4376F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2257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2971430" y="274639"/>
            <a:ext cx="921399" cy="5851525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205109" y="274639"/>
            <a:ext cx="2664297" cy="5851525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ACE99BE-E7EA-424A-8EE0-C2D08E1C570F}" type="datetimeFigureOut">
              <a:rPr lang="he-IL" smtClean="0"/>
              <a:t>ב'/אלול/תשע"ה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F956CE-EA7A-4D01-A9B0-868BEB4376F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1980443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306070" y="274638"/>
            <a:ext cx="550926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306070" y="1600201"/>
            <a:ext cx="550926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4387003" y="6356351"/>
            <a:ext cx="1428327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CE99BE-E7EA-424A-8EE0-C2D08E1C570F}" type="datetimeFigureOut">
              <a:rPr lang="he-IL" smtClean="0"/>
              <a:t>ב'/אלול/תשע"ה</a:t>
            </a:fld>
            <a:endParaRPr lang="he-IL"/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2091479" y="6356351"/>
            <a:ext cx="1938443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306070" y="6356351"/>
            <a:ext cx="1428327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F956CE-EA7A-4D01-A9B0-868BEB4376F6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78703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wmf"/><Relationship Id="rId2" Type="http://schemas.openxmlformats.org/officeDocument/2006/relationships/image" Target="../media/image1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wmf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diagramLayout" Target="../diagrams/layout3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diagramData" Target="../diagrams/data3.xml"/><Relationship Id="rId2" Type="http://schemas.openxmlformats.org/officeDocument/2006/relationships/diagramData" Target="../diagrams/data1.xml"/><Relationship Id="rId16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5" Type="http://schemas.openxmlformats.org/officeDocument/2006/relationships/diagramColors" Target="../diagrams/colors3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Relationship Id="rId14" Type="http://schemas.openxmlformats.org/officeDocument/2006/relationships/diagramQuickStyle" Target="../diagrams/quickStyle3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459105" y="980728"/>
            <a:ext cx="5203190" cy="1470025"/>
          </a:xfrm>
        </p:spPr>
        <p:txBody>
          <a:bodyPr/>
          <a:lstStyle/>
          <a:p>
            <a:r>
              <a:rPr lang="he-IL" dirty="0" smtClean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מבוא לספר דברים</a:t>
            </a:r>
            <a:endParaRPr lang="he-IL" dirty="0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918210" y="5276800"/>
            <a:ext cx="4284980" cy="1248544"/>
          </a:xfrm>
        </p:spPr>
        <p:txBody>
          <a:bodyPr>
            <a:normAutofit fontScale="70000" lnSpcReduction="20000"/>
          </a:bodyPr>
          <a:lstStyle/>
          <a:p>
            <a:r>
              <a:rPr lang="he-IL" dirty="0" smtClean="0">
                <a:solidFill>
                  <a:schemeClr val="bg2">
                    <a:lumMod val="25000"/>
                  </a:schemeClr>
                </a:solidFill>
              </a:rPr>
              <a:t>יהודה טרופר</a:t>
            </a:r>
          </a:p>
          <a:p>
            <a:r>
              <a:rPr lang="he-IL" dirty="0" smtClean="0">
                <a:solidFill>
                  <a:schemeClr val="bg2">
                    <a:lumMod val="25000"/>
                  </a:schemeClr>
                </a:solidFill>
              </a:rPr>
              <a:t>רב בי"ס </a:t>
            </a:r>
            <a:r>
              <a:rPr lang="he-IL" dirty="0" err="1" smtClean="0">
                <a:solidFill>
                  <a:schemeClr val="bg2">
                    <a:lumMod val="25000"/>
                  </a:schemeClr>
                </a:solidFill>
              </a:rPr>
              <a:t>שק"ד</a:t>
            </a:r>
            <a:r>
              <a:rPr lang="he-IL" dirty="0" smtClean="0">
                <a:solidFill>
                  <a:schemeClr val="bg2">
                    <a:lumMod val="25000"/>
                  </a:schemeClr>
                </a:solidFill>
              </a:rPr>
              <a:t> יסודי קיבוץ שדה אליהו </a:t>
            </a:r>
          </a:p>
          <a:p>
            <a:r>
              <a:rPr lang="he-IL" dirty="0" smtClean="0">
                <a:solidFill>
                  <a:schemeClr val="bg2">
                    <a:lumMod val="25000"/>
                  </a:schemeClr>
                </a:solidFill>
              </a:rPr>
              <a:t>מרצה לתנ"ך ולחינוך במכללת שאנן</a:t>
            </a:r>
          </a:p>
        </p:txBody>
      </p:sp>
    </p:spTree>
    <p:extLst>
      <p:ext uri="{BB962C8B-B14F-4D97-AF65-F5344CB8AC3E}">
        <p14:creationId xmlns:p14="http://schemas.microsoft.com/office/powerpoint/2010/main" val="3572885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>
                <a:solidFill>
                  <a:srgbClr val="FF0000"/>
                </a:solidFill>
              </a:rPr>
              <a:t>מטרות ההרצאה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spcBef>
                <a:spcPts val="1000"/>
              </a:spcBef>
            </a:pPr>
            <a:r>
              <a:rPr lang="he-IL" dirty="0" smtClean="0"/>
              <a:t>המורה יכיר את מבנה ספר דברים.</a:t>
            </a:r>
          </a:p>
          <a:p>
            <a:pPr>
              <a:spcBef>
                <a:spcPts val="1000"/>
              </a:spcBef>
            </a:pPr>
            <a:r>
              <a:rPr lang="he-IL" dirty="0" smtClean="0"/>
              <a:t>המורה יבין מגמות רעיוניות ורוחניות מרכזיות בספר דברים.</a:t>
            </a:r>
          </a:p>
          <a:p>
            <a:pPr>
              <a:spcBef>
                <a:spcPts val="1000"/>
              </a:spcBef>
            </a:pPr>
            <a:r>
              <a:rPr lang="he-IL" dirty="0" smtClean="0"/>
              <a:t>המורה יחבר בין מבט-על לבין מבט-נקודתי.</a:t>
            </a:r>
          </a:p>
          <a:p>
            <a:pPr>
              <a:spcBef>
                <a:spcPts val="1000"/>
              </a:spcBef>
            </a:pPr>
            <a:r>
              <a:rPr lang="he-IL" dirty="0" smtClean="0"/>
              <a:t>המורה ירחיב את הכרת ספר דברים מעבר לנחוץ להוראה.</a:t>
            </a:r>
          </a:p>
          <a:p>
            <a:pPr>
              <a:spcBef>
                <a:spcPts val="1000"/>
              </a:spcBef>
            </a:pPr>
            <a:r>
              <a:rPr lang="he-IL" dirty="0" smtClean="0"/>
              <a:t>המורה יקבל כלים מעשיים להוראה בכיתה.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673713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-27384"/>
            <a:ext cx="5509260" cy="1143000"/>
          </a:xfrm>
        </p:spPr>
        <p:txBody>
          <a:bodyPr>
            <a:normAutofit/>
          </a:bodyPr>
          <a:lstStyle/>
          <a:p>
            <a:r>
              <a:rPr lang="he-IL" sz="4000" dirty="0">
                <a:solidFill>
                  <a:srgbClr val="3333FF"/>
                </a:solidFill>
                <a:latin typeface="Guttman Calligraphic" pitchFamily="2" charset="-79"/>
                <a:cs typeface="Guttman Calligraphic" pitchFamily="2" charset="-79"/>
              </a:rPr>
              <a:t>מתי נאמר ספר דברים?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06070" y="1052737"/>
            <a:ext cx="5509260" cy="5616624"/>
          </a:xfrm>
        </p:spPr>
        <p:txBody>
          <a:bodyPr>
            <a:normAutofit/>
          </a:bodyPr>
          <a:lstStyle/>
          <a:p>
            <a:pPr algn="just"/>
            <a:r>
              <a:rPr lang="he-IL" sz="2400" u="sng" dirty="0" smtClean="0"/>
              <a:t>פתיחת הספר:</a:t>
            </a:r>
            <a:r>
              <a:rPr lang="he-IL" sz="2400" dirty="0" smtClean="0"/>
              <a:t> א', ג: וַיְהִי </a:t>
            </a:r>
            <a:r>
              <a:rPr lang="he-IL" sz="2400" dirty="0"/>
              <a:t>בְּאַרְבָּעִים שָׁנָה </a:t>
            </a:r>
            <a:r>
              <a:rPr lang="he-IL" sz="2400" b="1" dirty="0">
                <a:solidFill>
                  <a:srgbClr val="FF0000"/>
                </a:solidFill>
              </a:rPr>
              <a:t>בְּעַשְׁתֵּי עָשָׂר חֹדֶשׁ בְּאֶחָד לַחֹדֶשׁ </a:t>
            </a:r>
            <a:r>
              <a:rPr lang="he-IL" sz="2400" dirty="0"/>
              <a:t>דִּבֶּר מֹשֶׁה אֶל בְּנֵי יִשְׂרָאֵל כְּכֹל אֲשֶׁר </a:t>
            </a:r>
            <a:r>
              <a:rPr lang="he-IL" sz="2400" dirty="0" err="1"/>
              <a:t>צִוָּה</a:t>
            </a:r>
            <a:r>
              <a:rPr lang="he-IL" sz="2400" dirty="0"/>
              <a:t> ה’ אֹתוֹ </a:t>
            </a:r>
            <a:r>
              <a:rPr lang="he-IL" sz="2400" dirty="0" err="1" smtClean="0"/>
              <a:t>אֲלֵהֶם</a:t>
            </a:r>
            <a:r>
              <a:rPr lang="he-IL" sz="2400" dirty="0"/>
              <a:t>:</a:t>
            </a:r>
            <a:endParaRPr lang="en-US" sz="2400" dirty="0"/>
          </a:p>
          <a:p>
            <a:pPr marL="0" indent="0">
              <a:buNone/>
            </a:pPr>
            <a:r>
              <a:rPr lang="he-IL" sz="2400" b="1" dirty="0" smtClean="0">
                <a:solidFill>
                  <a:srgbClr val="FF0000"/>
                </a:solidFill>
              </a:rPr>
              <a:t>	ר"ח שבט שנת הארבעים.</a:t>
            </a:r>
          </a:p>
          <a:p>
            <a:pPr algn="just"/>
            <a:r>
              <a:rPr lang="he-IL" sz="2400" u="sng" dirty="0" smtClean="0"/>
              <a:t>סיום הספר:</a:t>
            </a:r>
            <a:r>
              <a:rPr lang="he-IL" sz="2400" dirty="0" smtClean="0"/>
              <a:t> ל"ד, ה-ח: </a:t>
            </a:r>
            <a:r>
              <a:rPr lang="he-IL" sz="2400" dirty="0"/>
              <a:t>וַיָּמָת שָׁם מֹשֶׁה עֶבֶד ה' בְּאֶרֶץ מוֹאָב עַל פִּי ה</a:t>
            </a:r>
            <a:r>
              <a:rPr lang="he-IL" sz="2400" dirty="0" smtClean="0"/>
              <a:t>':</a:t>
            </a:r>
            <a:r>
              <a:rPr lang="he-IL" sz="2400" dirty="0"/>
              <a:t> </a:t>
            </a:r>
            <a:r>
              <a:rPr lang="he-IL" sz="2400" dirty="0" smtClean="0"/>
              <a:t>... </a:t>
            </a:r>
            <a:r>
              <a:rPr lang="he-IL" sz="2400" dirty="0"/>
              <a:t>וַיִּבְכּוּ בְנֵי יִשְׂרָאֵל אֶת מֹשֶׁה בְּעַרְבֹת מוֹאָב שְׁלֹשִׁים יוֹם וַיִּתְּמוּ יְמֵי בְכִי אֵבֶל מֹשֶׁה:</a:t>
            </a:r>
            <a:endParaRPr lang="en-US" sz="2400" dirty="0"/>
          </a:p>
          <a:p>
            <a:pPr marL="0" indent="0">
              <a:buNone/>
            </a:pPr>
            <a:r>
              <a:rPr lang="he-IL" sz="2400" b="1" dirty="0" smtClean="0">
                <a:solidFill>
                  <a:srgbClr val="FF0000"/>
                </a:solidFill>
              </a:rPr>
              <a:t>	ז' באדר*. </a:t>
            </a:r>
          </a:p>
          <a:p>
            <a:endParaRPr lang="he-IL" sz="2400" dirty="0"/>
          </a:p>
          <a:p>
            <a:pPr marL="0" indent="0">
              <a:buNone/>
            </a:pPr>
            <a:endParaRPr lang="he-IL" sz="2400" dirty="0" smtClean="0"/>
          </a:p>
          <a:p>
            <a:pPr marL="0" indent="0">
              <a:buNone/>
            </a:pPr>
            <a:endParaRPr lang="he-IL" sz="2400" dirty="0" smtClean="0"/>
          </a:p>
          <a:p>
            <a:pPr marL="0" indent="0" algn="ctr">
              <a:buNone/>
            </a:pPr>
            <a:r>
              <a:rPr lang="he-IL" sz="1800" dirty="0" smtClean="0"/>
              <a:t>(*גמרא בקידושין דף לח. עושה את החשבון עד ז' באדר)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20540" y="4725144"/>
            <a:ext cx="2808312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4800" b="1" cap="all" dirty="0" smtClean="0">
                <a:ln w="9000" cmpd="sng">
                  <a:solidFill>
                    <a:schemeClr val="accent4">
                      <a:shade val="50000"/>
                      <a:satMod val="12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4">
                        <a:shade val="20000"/>
                        <a:satMod val="245000"/>
                      </a:schemeClr>
                    </a:gs>
                    <a:gs pos="43000">
                      <a:schemeClr val="accent4">
                        <a:satMod val="255000"/>
                      </a:schemeClr>
                    </a:gs>
                    <a:gs pos="48000">
                      <a:schemeClr val="accent4">
                        <a:shade val="85000"/>
                        <a:satMod val="255000"/>
                      </a:schemeClr>
                    </a:gs>
                    <a:gs pos="100000">
                      <a:schemeClr val="accent4">
                        <a:shade val="20000"/>
                        <a:satMod val="245000"/>
                      </a:schemeClr>
                    </a:gs>
                  </a:gsLst>
                  <a:lin ang="5400000"/>
                </a:gradFill>
                <a:effectLst>
                  <a:reflection blurRad="12700" stA="28000" endPos="45000" dist="1000" dir="5400000" sy="-100000" algn="bl" rotWithShape="0"/>
                </a:effectLst>
              </a:rPr>
              <a:t>37 יום!!!</a:t>
            </a:r>
            <a:endParaRPr lang="he-IL" sz="4800" b="1" cap="all" dirty="0">
              <a:ln w="9000" cmpd="sng">
                <a:solidFill>
                  <a:schemeClr val="accent4">
                    <a:shade val="50000"/>
                    <a:satMod val="120000"/>
                  </a:schemeClr>
                </a:solidFill>
                <a:prstDash val="solid"/>
              </a:ln>
              <a:gradFill>
                <a:gsLst>
                  <a:gs pos="0">
                    <a:schemeClr val="accent4">
                      <a:shade val="20000"/>
                      <a:satMod val="245000"/>
                    </a:schemeClr>
                  </a:gs>
                  <a:gs pos="43000">
                    <a:schemeClr val="accent4">
                      <a:satMod val="255000"/>
                    </a:schemeClr>
                  </a:gs>
                  <a:gs pos="48000">
                    <a:schemeClr val="accent4">
                      <a:shade val="85000"/>
                      <a:satMod val="255000"/>
                    </a:schemeClr>
                  </a:gs>
                  <a:gs pos="100000">
                    <a:schemeClr val="accent4">
                      <a:shade val="20000"/>
                      <a:satMod val="245000"/>
                    </a:schemeClr>
                  </a:gs>
                </a:gsLst>
                <a:lin ang="5400000"/>
              </a:gradFill>
              <a:effectLst>
                <a:reflection blurRad="12700" stA="28000" endPos="45000" dist="1000" dir="5400000" sy="-100000" algn="bl" rotWithShape="0"/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44892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4000" dirty="0">
                <a:solidFill>
                  <a:srgbClr val="3333FF"/>
                </a:solidFill>
                <a:latin typeface="Guttman Calligraphic" pitchFamily="2" charset="-79"/>
                <a:cs typeface="Guttman Calligraphic" pitchFamily="2" charset="-79"/>
              </a:rPr>
              <a:t>היכן נאמר ספר דברים?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he-IL" sz="2400" dirty="0" smtClean="0"/>
              <a:t>במדבר כ"ב, א: </a:t>
            </a:r>
            <a:r>
              <a:rPr lang="he-IL" sz="2400" dirty="0" err="1"/>
              <a:t>וַיִּסְעו</a:t>
            </a:r>
            <a:r>
              <a:rPr lang="he-IL" sz="2400" dirty="0"/>
              <a:t>ּ בְּנֵי יִשְׂרָאֵל וַיַּחֲנוּ </a:t>
            </a:r>
            <a:r>
              <a:rPr lang="he-IL" sz="2400" dirty="0">
                <a:solidFill>
                  <a:srgbClr val="FF0000"/>
                </a:solidFill>
              </a:rPr>
              <a:t>בְּעַרְבוֹת מוֹאָב מֵעֵבֶר לְיַרְדֵּן יְרֵחוֹ</a:t>
            </a:r>
            <a:r>
              <a:rPr lang="he-IL" sz="2400" dirty="0" smtClean="0"/>
              <a:t>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he-IL" sz="2400" dirty="0" smtClean="0"/>
              <a:t>דברים ל"ד, א: </a:t>
            </a:r>
            <a:r>
              <a:rPr lang="he-IL" sz="2400" dirty="0"/>
              <a:t>וַיַּעַל מֹשֶׁה </a:t>
            </a:r>
            <a:r>
              <a:rPr lang="he-IL" sz="2400" dirty="0">
                <a:solidFill>
                  <a:srgbClr val="FF0000"/>
                </a:solidFill>
              </a:rPr>
              <a:t>מֵעַרְבֹת מוֹאָב </a:t>
            </a:r>
            <a:r>
              <a:rPr lang="he-IL" sz="2400" dirty="0"/>
              <a:t>אֶל הַר נְבוֹ רֹאשׁ הַפִּסְגָּה אֲשֶׁר עַל פְּנֵי יְרֵחוֹ וַיַּרְאֵהוּ ה' אֶת כָּל הָאָרֶץ אֶת </a:t>
            </a:r>
            <a:r>
              <a:rPr lang="he-IL" sz="2400" dirty="0" smtClean="0"/>
              <a:t>הַגִּלְעָד </a:t>
            </a:r>
            <a:r>
              <a:rPr lang="he-IL" sz="2400" dirty="0"/>
              <a:t>עַד דָּן</a:t>
            </a:r>
            <a:r>
              <a:rPr lang="he-IL" sz="2400" dirty="0" smtClean="0"/>
              <a:t>:</a:t>
            </a:r>
          </a:p>
          <a:p>
            <a:pPr marL="0" indent="0">
              <a:spcBef>
                <a:spcPts val="1200"/>
              </a:spcBef>
              <a:buNone/>
            </a:pPr>
            <a:endParaRPr lang="he-IL" sz="2400" dirty="0"/>
          </a:p>
          <a:p>
            <a:pPr marL="0" indent="0" algn="ctr">
              <a:spcBef>
                <a:spcPts val="1200"/>
              </a:spcBef>
              <a:buNone/>
            </a:pPr>
            <a:r>
              <a:rPr lang="he-IL" sz="2400" dirty="0" smtClean="0"/>
              <a:t>מפרשת חוקת ועד לסוף ספר דברים</a:t>
            </a:r>
          </a:p>
          <a:p>
            <a:pPr marL="0" indent="0" algn="ctr">
              <a:spcBef>
                <a:spcPts val="1200"/>
              </a:spcBef>
              <a:buNone/>
            </a:pPr>
            <a:r>
              <a:rPr lang="he-IL" sz="2400" dirty="0" smtClean="0"/>
              <a:t>עם ישראל חונה ב: </a:t>
            </a:r>
          </a:p>
          <a:p>
            <a:pPr marL="0" indent="0" algn="ctr">
              <a:spcBef>
                <a:spcPts val="1200"/>
              </a:spcBef>
              <a:buNone/>
            </a:pPr>
            <a:r>
              <a:rPr lang="he-IL" sz="2800" dirty="0" smtClean="0"/>
              <a:t>"</a:t>
            </a:r>
            <a:r>
              <a:rPr lang="he-IL" sz="2800" dirty="0" smtClean="0">
                <a:solidFill>
                  <a:srgbClr val="FF0000"/>
                </a:solidFill>
              </a:rPr>
              <a:t>בְּעַרְבוֹת </a:t>
            </a:r>
            <a:r>
              <a:rPr lang="he-IL" sz="2800" dirty="0">
                <a:solidFill>
                  <a:srgbClr val="FF0000"/>
                </a:solidFill>
              </a:rPr>
              <a:t>מוֹאָב מֵעֵבֶר לְיַרְדֵּן </a:t>
            </a:r>
            <a:r>
              <a:rPr lang="he-IL" sz="2800" dirty="0" smtClean="0">
                <a:solidFill>
                  <a:srgbClr val="FF0000"/>
                </a:solidFill>
              </a:rPr>
              <a:t>יְרֵחוֹ</a:t>
            </a:r>
            <a:r>
              <a:rPr lang="he-IL" sz="2800" dirty="0" smtClean="0"/>
              <a:t>"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857733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1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>
                <a:solidFill>
                  <a:srgbClr val="3333FF"/>
                </a:solidFill>
                <a:latin typeface="Guttman Calligraphic" pitchFamily="2" charset="-79"/>
                <a:cs typeface="Guttman Calligraphic" pitchFamily="2" charset="-79"/>
              </a:rPr>
              <a:t>נאומי משה</a:t>
            </a:r>
            <a:endParaRPr lang="he-IL" dirty="0">
              <a:solidFill>
                <a:srgbClr val="3333FF"/>
              </a:solidFill>
              <a:latin typeface="Guttman Calligraphic" pitchFamily="2" charset="-79"/>
              <a:cs typeface="Guttman Calligraphic" pitchFamily="2" charset="-79"/>
            </a:endParaRPr>
          </a:p>
        </p:txBody>
      </p:sp>
      <p:graphicFrame>
        <p:nvGraphicFramePr>
          <p:cNvPr id="4" name="מציין מיקום תוכן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73269040"/>
              </p:ext>
            </p:extLst>
          </p:nvPr>
        </p:nvGraphicFramePr>
        <p:xfrm>
          <a:off x="252389" y="2132856"/>
          <a:ext cx="5688632" cy="288032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604371"/>
                <a:gridCol w="2018748"/>
                <a:gridCol w="2065513"/>
              </a:tblGrid>
              <a:tr h="720080">
                <a:tc>
                  <a:txBody>
                    <a:bodyPr/>
                    <a:lstStyle/>
                    <a:p>
                      <a:pPr indent="153035" algn="just" rtl="1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he-IL" sz="2400" dirty="0">
                          <a:effectLst/>
                        </a:rPr>
                        <a:t>נאום מס' 1 </a:t>
                      </a:r>
                      <a:endParaRPr lang="en-US" sz="1800" dirty="0"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45911" marR="45911" marT="0" marB="0" anchor="ctr"/>
                </a:tc>
                <a:tc>
                  <a:txBody>
                    <a:bodyPr/>
                    <a:lstStyle/>
                    <a:p>
                      <a:pPr indent="153035" algn="just" rtl="1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he-IL" sz="2400" dirty="0">
                          <a:effectLst/>
                        </a:rPr>
                        <a:t>פרקים א'-ד'</a:t>
                      </a:r>
                      <a:endParaRPr lang="en-US" sz="1800" dirty="0"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45911" marR="45911" marT="0" marB="0" anchor="ctr"/>
                </a:tc>
                <a:tc>
                  <a:txBody>
                    <a:bodyPr/>
                    <a:lstStyle/>
                    <a:p>
                      <a:pPr indent="153035" algn="just" rtl="1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he-IL" sz="2400" b="1" dirty="0">
                          <a:solidFill>
                            <a:srgbClr val="7030A0"/>
                          </a:solidFill>
                          <a:effectLst/>
                        </a:rPr>
                        <a:t>נאום </a:t>
                      </a:r>
                      <a:r>
                        <a:rPr lang="he-IL" sz="2400" b="1" dirty="0" smtClean="0">
                          <a:solidFill>
                            <a:srgbClr val="7030A0"/>
                          </a:solidFill>
                          <a:effectLst/>
                        </a:rPr>
                        <a:t>הפתיחה</a:t>
                      </a:r>
                      <a:endParaRPr lang="en-US" sz="1800" b="1" dirty="0">
                        <a:solidFill>
                          <a:srgbClr val="7030A0"/>
                        </a:solidFill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45911" marR="45911" marT="0" marB="0" anchor="ctr"/>
                </a:tc>
              </a:tr>
              <a:tr h="720080">
                <a:tc>
                  <a:txBody>
                    <a:bodyPr/>
                    <a:lstStyle/>
                    <a:p>
                      <a:pPr indent="153035" algn="just" rtl="1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he-IL" sz="2400" dirty="0">
                          <a:effectLst/>
                        </a:rPr>
                        <a:t>נאום מס' 2</a:t>
                      </a:r>
                      <a:endParaRPr lang="en-US" sz="1800" dirty="0"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45911" marR="45911" marT="0" marB="0" anchor="ctr"/>
                </a:tc>
                <a:tc>
                  <a:txBody>
                    <a:bodyPr/>
                    <a:lstStyle/>
                    <a:p>
                      <a:pPr indent="153035" algn="just" rtl="1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he-IL" sz="2400">
                          <a:effectLst/>
                        </a:rPr>
                        <a:t>פרקים ה'-כ"ו</a:t>
                      </a:r>
                      <a:endParaRPr lang="en-US" sz="1800"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45911" marR="45911" marT="0" marB="0" anchor="ctr"/>
                </a:tc>
                <a:tc>
                  <a:txBody>
                    <a:bodyPr/>
                    <a:lstStyle/>
                    <a:p>
                      <a:pPr indent="153035" algn="just" rtl="1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he-IL" sz="2400" b="1" dirty="0">
                          <a:solidFill>
                            <a:srgbClr val="7030A0"/>
                          </a:solidFill>
                          <a:effectLst/>
                        </a:rPr>
                        <a:t>נאום </a:t>
                      </a:r>
                      <a:r>
                        <a:rPr lang="he-IL" sz="2400" b="1" dirty="0" smtClean="0">
                          <a:solidFill>
                            <a:srgbClr val="7030A0"/>
                          </a:solidFill>
                          <a:effectLst/>
                        </a:rPr>
                        <a:t>המצוות</a:t>
                      </a:r>
                      <a:endParaRPr lang="en-US" sz="1800" b="1" dirty="0">
                        <a:solidFill>
                          <a:srgbClr val="7030A0"/>
                        </a:solidFill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45911" marR="45911" marT="0" marB="0" anchor="ctr"/>
                </a:tc>
              </a:tr>
              <a:tr h="720080">
                <a:tc>
                  <a:txBody>
                    <a:bodyPr/>
                    <a:lstStyle/>
                    <a:p>
                      <a:pPr indent="153035" algn="just" rtl="1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he-IL" sz="2400" dirty="0">
                          <a:effectLst/>
                        </a:rPr>
                        <a:t>נאום מס' 3</a:t>
                      </a:r>
                      <a:endParaRPr lang="en-US" sz="1800" dirty="0"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45911" marR="45911" marT="0" marB="0" anchor="ctr"/>
                </a:tc>
                <a:tc>
                  <a:txBody>
                    <a:bodyPr/>
                    <a:lstStyle/>
                    <a:p>
                      <a:pPr indent="153035" algn="just" rtl="1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he-IL" sz="2400" dirty="0">
                          <a:effectLst/>
                        </a:rPr>
                        <a:t>פרקים </a:t>
                      </a:r>
                      <a:r>
                        <a:rPr lang="he-IL" sz="2400" dirty="0" smtClean="0">
                          <a:effectLst/>
                        </a:rPr>
                        <a:t>כ"ז-ל' </a:t>
                      </a:r>
                      <a:endParaRPr lang="en-US" sz="1800" dirty="0"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45911" marR="45911" marT="0" marB="0" anchor="ctr"/>
                </a:tc>
                <a:tc>
                  <a:txBody>
                    <a:bodyPr/>
                    <a:lstStyle/>
                    <a:p>
                      <a:pPr indent="153035" algn="just" rtl="1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he-IL" sz="2400" b="1" dirty="0" smtClean="0">
                          <a:solidFill>
                            <a:srgbClr val="7030A0"/>
                          </a:solidFill>
                          <a:effectLst/>
                        </a:rPr>
                        <a:t>נאום הברית</a:t>
                      </a:r>
                      <a:endParaRPr lang="en-US" sz="1800" b="1" dirty="0">
                        <a:solidFill>
                          <a:srgbClr val="7030A0"/>
                        </a:solidFill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45911" marR="45911" marT="0" marB="0" anchor="ctr"/>
                </a:tc>
              </a:tr>
              <a:tr h="720080">
                <a:tc>
                  <a:txBody>
                    <a:bodyPr/>
                    <a:lstStyle/>
                    <a:p>
                      <a:pPr indent="153035" algn="just" rtl="1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he-IL" sz="2400" dirty="0">
                          <a:effectLst/>
                        </a:rPr>
                        <a:t>נאום מס' 4</a:t>
                      </a:r>
                      <a:endParaRPr lang="en-US" sz="1800" dirty="0"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45911" marR="45911" marT="0" marB="0" anchor="ctr"/>
                </a:tc>
                <a:tc>
                  <a:txBody>
                    <a:bodyPr/>
                    <a:lstStyle/>
                    <a:p>
                      <a:pPr indent="153035" algn="just" rtl="1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he-IL" sz="2400" dirty="0" smtClean="0">
                          <a:effectLst/>
                          <a:latin typeface="Times New Roman"/>
                          <a:ea typeface="Times New Roman"/>
                          <a:cs typeface="+mn-cs"/>
                        </a:rPr>
                        <a:t>פרקים ל"א-ל"ד</a:t>
                      </a:r>
                      <a:endParaRPr lang="en-US" sz="2400" dirty="0">
                        <a:effectLst/>
                        <a:latin typeface="Times New Roman"/>
                        <a:ea typeface="Times New Roman"/>
                        <a:cs typeface="+mn-cs"/>
                      </a:endParaRPr>
                    </a:p>
                  </a:txBody>
                  <a:tcPr marL="45911" marR="45911" marT="0" marB="0" anchor="ctr"/>
                </a:tc>
                <a:tc>
                  <a:txBody>
                    <a:bodyPr/>
                    <a:lstStyle/>
                    <a:p>
                      <a:pPr indent="153035" algn="just" rtl="1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he-IL" sz="2400" b="1" dirty="0" smtClean="0">
                          <a:solidFill>
                            <a:srgbClr val="7030A0"/>
                          </a:solidFill>
                          <a:effectLst/>
                          <a:latin typeface="Times New Roman"/>
                          <a:ea typeface="Times New Roman"/>
                          <a:cs typeface="+mn-cs"/>
                        </a:rPr>
                        <a:t>נאום הפרידה</a:t>
                      </a:r>
                      <a:endParaRPr lang="en-US" sz="2400" b="1" dirty="0">
                        <a:solidFill>
                          <a:srgbClr val="7030A0"/>
                        </a:solidFill>
                        <a:effectLst/>
                        <a:latin typeface="Times New Roman"/>
                        <a:ea typeface="Times New Roman"/>
                        <a:cs typeface="+mn-cs"/>
                      </a:endParaRPr>
                    </a:p>
                  </a:txBody>
                  <a:tcPr marL="45911" marR="45911" marT="0" marB="0" anchor="ctr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7812685" y="3550722"/>
            <a:ext cx="33855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15240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he-IL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74651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274638"/>
            <a:ext cx="5509260" cy="706090"/>
          </a:xfrm>
        </p:spPr>
        <p:txBody>
          <a:bodyPr>
            <a:normAutofit/>
          </a:bodyPr>
          <a:lstStyle/>
          <a:p>
            <a:r>
              <a:rPr lang="he-IL" sz="3600" dirty="0" smtClean="0">
                <a:solidFill>
                  <a:srgbClr val="3333FF"/>
                </a:solidFill>
                <a:latin typeface="Guttman Calligraphic" pitchFamily="2" charset="-79"/>
                <a:cs typeface="Guttman Calligraphic" pitchFamily="2" charset="-79"/>
              </a:rPr>
              <a:t>נאום פתיחה – לקח היסטורי 1</a:t>
            </a:r>
            <a:endParaRPr lang="he-IL" sz="3600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06070" y="1124744"/>
            <a:ext cx="5509260" cy="5688632"/>
          </a:xfrm>
        </p:spPr>
        <p:txBody>
          <a:bodyPr>
            <a:normAutofit fontScale="92500" lnSpcReduction="2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he-IL" sz="2400" dirty="0" smtClean="0">
                <a:solidFill>
                  <a:srgbClr val="FF0000"/>
                </a:solidFill>
              </a:rPr>
              <a:t>סיפור שני המסעות </a:t>
            </a:r>
            <a:r>
              <a:rPr lang="he-IL" sz="2400" dirty="0" smtClean="0"/>
              <a:t>(א', </a:t>
            </a:r>
            <a:r>
              <a:rPr lang="he-IL" sz="2400" dirty="0" err="1" smtClean="0"/>
              <a:t>יט</a:t>
            </a:r>
            <a:r>
              <a:rPr lang="he-IL" sz="2400" dirty="0" smtClean="0"/>
              <a:t> – ד', ד)</a:t>
            </a:r>
          </a:p>
          <a:p>
            <a:pPr>
              <a:lnSpc>
                <a:spcPct val="150000"/>
              </a:lnSpc>
            </a:pPr>
            <a:r>
              <a:rPr lang="he-IL" sz="2400" dirty="0" smtClean="0"/>
              <a:t>מסע 1: מהר סיני לקדש ברנע </a:t>
            </a:r>
            <a:r>
              <a:rPr lang="he-IL" sz="2200" dirty="0" smtClean="0"/>
              <a:t>(א', </a:t>
            </a:r>
            <a:r>
              <a:rPr lang="he-IL" sz="2200" dirty="0" err="1" smtClean="0"/>
              <a:t>יט</a:t>
            </a:r>
            <a:r>
              <a:rPr lang="he-IL" sz="2200" dirty="0" smtClean="0"/>
              <a:t> - ב', א)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he-IL" dirty="0" smtClean="0"/>
              <a:t>    שנה שנייה </a:t>
            </a:r>
            <a:r>
              <a:rPr lang="he-IL" dirty="0" err="1" smtClean="0"/>
              <a:t>ליצ"מ</a:t>
            </a:r>
            <a:endParaRPr lang="he-IL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he-IL" dirty="0" smtClean="0"/>
              <a:t>    כישלון</a:t>
            </a:r>
          </a:p>
          <a:p>
            <a:pPr>
              <a:lnSpc>
                <a:spcPct val="150000"/>
              </a:lnSpc>
            </a:pPr>
            <a:r>
              <a:rPr lang="he-IL" sz="2400" dirty="0" smtClean="0"/>
              <a:t>מסע 2: מקדש לערבות מואב </a:t>
            </a:r>
            <a:r>
              <a:rPr lang="he-IL" sz="2200" dirty="0" smtClean="0"/>
              <a:t>(ב', ב – ג', </a:t>
            </a:r>
            <a:r>
              <a:rPr lang="he-IL" sz="2200" dirty="0" err="1" smtClean="0"/>
              <a:t>כט</a:t>
            </a:r>
            <a:r>
              <a:rPr lang="he-IL" sz="2200" dirty="0" smtClean="0"/>
              <a:t>)</a:t>
            </a:r>
          </a:p>
          <a:p>
            <a:pPr marL="914400" lvl="2" indent="0">
              <a:lnSpc>
                <a:spcPct val="150000"/>
              </a:lnSpc>
              <a:buNone/>
            </a:pPr>
            <a:r>
              <a:rPr lang="he-IL" dirty="0" smtClean="0"/>
              <a:t>    שנת 40 </a:t>
            </a:r>
            <a:r>
              <a:rPr lang="he-IL" dirty="0" err="1" smtClean="0"/>
              <a:t>ליצ"מ</a:t>
            </a:r>
            <a:endParaRPr lang="he-IL" dirty="0" smtClean="0"/>
          </a:p>
          <a:p>
            <a:pPr marL="914400" lvl="2" indent="0">
              <a:lnSpc>
                <a:spcPct val="150000"/>
              </a:lnSpc>
              <a:buNone/>
            </a:pPr>
            <a:r>
              <a:rPr lang="he-IL" dirty="0" smtClean="0"/>
              <a:t>    הצלחה!</a:t>
            </a:r>
          </a:p>
          <a:p>
            <a:pPr marL="457200" lvl="1" indent="0">
              <a:lnSpc>
                <a:spcPct val="150000"/>
              </a:lnSpc>
              <a:buNone/>
            </a:pPr>
            <a:r>
              <a:rPr lang="he-IL" sz="2400" dirty="0" smtClean="0"/>
              <a:t>מסקנה: </a:t>
            </a:r>
            <a:r>
              <a:rPr lang="he-IL" sz="2400" dirty="0" smtClean="0">
                <a:solidFill>
                  <a:srgbClr val="00B050"/>
                </a:solidFill>
                <a:latin typeface="Guttman Keren" pitchFamily="2" charset="-79"/>
                <a:cs typeface="Guttman Keren" pitchFamily="2" charset="-79"/>
              </a:rPr>
              <a:t>"לֹא </a:t>
            </a:r>
            <a:r>
              <a:rPr lang="he-IL" sz="2400" dirty="0">
                <a:solidFill>
                  <a:srgbClr val="00B050"/>
                </a:solidFill>
                <a:latin typeface="Guttman Keren" pitchFamily="2" charset="-79"/>
                <a:cs typeface="Guttman Keren" pitchFamily="2" charset="-79"/>
              </a:rPr>
              <a:t>תֹסִפוּ עַל הַדָּבָר אֲשֶׁר אָנֹכִי מְצַוֶּה אֶתְכֶם וְלֹא תִגְרְעוּ </a:t>
            </a:r>
            <a:r>
              <a:rPr lang="he-IL" sz="2400" dirty="0" smtClean="0">
                <a:solidFill>
                  <a:srgbClr val="00B050"/>
                </a:solidFill>
                <a:latin typeface="Guttman Keren" pitchFamily="2" charset="-79"/>
                <a:cs typeface="Guttman Keren" pitchFamily="2" charset="-79"/>
              </a:rPr>
              <a:t>מִמֶּנּוּ </a:t>
            </a:r>
            <a:r>
              <a:rPr lang="he-IL" sz="2400" dirty="0">
                <a:solidFill>
                  <a:srgbClr val="00B050"/>
                </a:solidFill>
                <a:latin typeface="Guttman Keren" pitchFamily="2" charset="-79"/>
                <a:cs typeface="Guttman Keren" pitchFamily="2" charset="-79"/>
              </a:rPr>
              <a:t>לִשְׁמֹר אֶת מִצְוֹת ה’ </a:t>
            </a:r>
            <a:r>
              <a:rPr lang="he-IL" sz="2400" dirty="0" err="1" smtClean="0">
                <a:solidFill>
                  <a:srgbClr val="00B050"/>
                </a:solidFill>
                <a:latin typeface="Guttman Keren" pitchFamily="2" charset="-79"/>
                <a:cs typeface="Guttman Keren" pitchFamily="2" charset="-79"/>
              </a:rPr>
              <a:t>אֱלֹהֵיכֶם</a:t>
            </a:r>
            <a:r>
              <a:rPr lang="he-IL" sz="2400" dirty="0" smtClean="0">
                <a:solidFill>
                  <a:srgbClr val="00B050"/>
                </a:solidFill>
                <a:latin typeface="Guttman Keren" pitchFamily="2" charset="-79"/>
                <a:cs typeface="Guttman Keren" pitchFamily="2" charset="-79"/>
              </a:rPr>
              <a:t> ... </a:t>
            </a:r>
            <a:r>
              <a:rPr lang="he-IL" sz="2400" dirty="0">
                <a:solidFill>
                  <a:srgbClr val="00B050"/>
                </a:solidFill>
                <a:latin typeface="Guttman Keren" pitchFamily="2" charset="-79"/>
                <a:cs typeface="Guttman Keren" pitchFamily="2" charset="-79"/>
              </a:rPr>
              <a:t>וְאַתֶּם הַדְּבֵקִים בַּה’ </a:t>
            </a:r>
            <a:r>
              <a:rPr lang="he-IL" sz="2400" dirty="0" err="1">
                <a:solidFill>
                  <a:srgbClr val="00B050"/>
                </a:solidFill>
                <a:latin typeface="Guttman Keren" pitchFamily="2" charset="-79"/>
                <a:cs typeface="Guttman Keren" pitchFamily="2" charset="-79"/>
              </a:rPr>
              <a:t>אֱלֹהֵיכֶם</a:t>
            </a:r>
            <a:r>
              <a:rPr lang="he-IL" sz="2400" dirty="0">
                <a:solidFill>
                  <a:srgbClr val="00B050"/>
                </a:solidFill>
                <a:latin typeface="Guttman Keren" pitchFamily="2" charset="-79"/>
                <a:cs typeface="Guttman Keren" pitchFamily="2" charset="-79"/>
              </a:rPr>
              <a:t> חַיִּים </a:t>
            </a:r>
            <a:r>
              <a:rPr lang="he-IL" sz="2400" dirty="0" err="1">
                <a:solidFill>
                  <a:srgbClr val="00B050"/>
                </a:solidFill>
                <a:latin typeface="Guttman Keren" pitchFamily="2" charset="-79"/>
                <a:cs typeface="Guttman Keren" pitchFamily="2" charset="-79"/>
              </a:rPr>
              <a:t>כֻּלְּכֶם</a:t>
            </a:r>
            <a:r>
              <a:rPr lang="he-IL" sz="2400" dirty="0">
                <a:solidFill>
                  <a:srgbClr val="00B050"/>
                </a:solidFill>
                <a:latin typeface="Guttman Keren" pitchFamily="2" charset="-79"/>
                <a:cs typeface="Guttman Keren" pitchFamily="2" charset="-79"/>
              </a:rPr>
              <a:t> הַיּוֹם</a:t>
            </a:r>
            <a:r>
              <a:rPr lang="he-IL" sz="2400" dirty="0" smtClean="0">
                <a:solidFill>
                  <a:srgbClr val="00B050"/>
                </a:solidFill>
                <a:latin typeface="Guttman Keren" pitchFamily="2" charset="-79"/>
                <a:cs typeface="Guttman Keren" pitchFamily="2" charset="-79"/>
              </a:rPr>
              <a:t>" </a:t>
            </a:r>
            <a:r>
              <a:rPr lang="he-IL" sz="2400" dirty="0" smtClean="0"/>
              <a:t>(ד', ב-ד)</a:t>
            </a:r>
          </a:p>
          <a:p>
            <a:pPr>
              <a:lnSpc>
                <a:spcPct val="150000"/>
              </a:lnSpc>
            </a:pPr>
            <a:endParaRPr lang="he-IL" sz="2400" dirty="0" smtClean="0"/>
          </a:p>
        </p:txBody>
      </p:sp>
      <p:pic>
        <p:nvPicPr>
          <p:cNvPr id="4" name="Picture 18" descr="MC900437789[1]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84" r="23437"/>
          <a:stretch/>
        </p:blipFill>
        <p:spPr bwMode="auto">
          <a:xfrm>
            <a:off x="1692548" y="2276872"/>
            <a:ext cx="976297" cy="99511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16" descr="dglxasset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8572" y="3680108"/>
            <a:ext cx="913607" cy="913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47709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-312961" y="274638"/>
            <a:ext cx="6360297" cy="634082"/>
          </a:xfrm>
        </p:spPr>
        <p:txBody>
          <a:bodyPr>
            <a:noAutofit/>
          </a:bodyPr>
          <a:lstStyle/>
          <a:p>
            <a:r>
              <a:rPr lang="he-IL" sz="3600" b="1" dirty="0" smtClean="0">
                <a:solidFill>
                  <a:srgbClr val="0000FF"/>
                </a:solidFill>
                <a:latin typeface="Guttman Calligraphic" pitchFamily="2" charset="-79"/>
                <a:cs typeface="Guttman Calligraphic" pitchFamily="2" charset="-79"/>
              </a:rPr>
              <a:t>שני המסעות</a:t>
            </a:r>
            <a:endParaRPr lang="he-IL" sz="3600" b="1" dirty="0">
              <a:solidFill>
                <a:srgbClr val="0000FF"/>
              </a:solidFill>
              <a:latin typeface="Guttman Calligraphic" pitchFamily="2" charset="-79"/>
              <a:cs typeface="Guttman Calligraphic" pitchFamily="2" charset="-79"/>
            </a:endParaRPr>
          </a:p>
        </p:txBody>
      </p:sp>
      <p:grpSp>
        <p:nvGrpSpPr>
          <p:cNvPr id="30" name="קבוצה 29"/>
          <p:cNvGrpSpPr/>
          <p:nvPr/>
        </p:nvGrpSpPr>
        <p:grpSpPr>
          <a:xfrm>
            <a:off x="3205316" y="5085184"/>
            <a:ext cx="2892321" cy="1815882"/>
            <a:chOff x="4945514" y="5373215"/>
            <a:chExt cx="3816425" cy="1815882"/>
          </a:xfrm>
        </p:grpSpPr>
        <p:cxnSp>
          <p:nvCxnSpPr>
            <p:cNvPr id="18" name="מחבר חץ ישר 17"/>
            <p:cNvCxnSpPr/>
            <p:nvPr/>
          </p:nvCxnSpPr>
          <p:spPr>
            <a:xfrm flipH="1">
              <a:off x="8224120" y="6885383"/>
              <a:ext cx="537819" cy="0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מחבר חץ ישר 18"/>
            <p:cNvCxnSpPr/>
            <p:nvPr/>
          </p:nvCxnSpPr>
          <p:spPr>
            <a:xfrm flipH="1">
              <a:off x="8224120" y="6453335"/>
              <a:ext cx="537819" cy="0"/>
            </a:xfrm>
            <a:prstGeom prst="straightConnector1">
              <a:avLst/>
            </a:prstGeom>
            <a:ln w="19050">
              <a:solidFill>
                <a:srgbClr val="FF0000"/>
              </a:solidFill>
              <a:prstDash val="sysDash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מחבר חץ ישר 19"/>
            <p:cNvCxnSpPr/>
            <p:nvPr/>
          </p:nvCxnSpPr>
          <p:spPr>
            <a:xfrm flipH="1">
              <a:off x="8224119" y="5557458"/>
              <a:ext cx="537819" cy="0"/>
            </a:xfrm>
            <a:prstGeom prst="straightConnector1">
              <a:avLst/>
            </a:prstGeom>
            <a:ln w="19050">
              <a:solidFill>
                <a:schemeClr val="accent6">
                  <a:lumMod val="75000"/>
                </a:schemeClr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4945514" y="5373215"/>
              <a:ext cx="3278606" cy="1815882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1">
              <a:spAutoFit/>
            </a:bodyPr>
            <a:lstStyle/>
            <a:p>
              <a:r>
                <a:rPr lang="he-IL" sz="1400" dirty="0" smtClean="0"/>
                <a:t>ההליכה מהר סיני לקדש ברנע, שנה </a:t>
              </a:r>
              <a:r>
                <a:rPr lang="he-IL" sz="1400" b="1" dirty="0" smtClean="0"/>
                <a:t>שנייה</a:t>
              </a:r>
              <a:r>
                <a:rPr lang="he-IL" sz="1400" dirty="0" smtClean="0"/>
                <a:t>.</a:t>
              </a:r>
            </a:p>
            <a:p>
              <a:r>
                <a:rPr lang="he-IL" sz="1400" dirty="0" smtClean="0"/>
                <a:t>המסלול המתוכנן לכניסה לארץ בשנה </a:t>
              </a:r>
              <a:r>
                <a:rPr lang="he-IL" sz="1400" b="1" dirty="0" err="1" smtClean="0"/>
                <a:t>השניה</a:t>
              </a:r>
              <a:r>
                <a:rPr lang="he-IL" sz="1400" dirty="0" smtClean="0"/>
                <a:t>.</a:t>
              </a:r>
            </a:p>
            <a:p>
              <a:r>
                <a:rPr lang="he-IL" sz="1400" dirty="0" smtClean="0"/>
                <a:t>בקשת משה מאדום, שנת </a:t>
              </a:r>
              <a:r>
                <a:rPr lang="he-IL" sz="1400" b="1" dirty="0" smtClean="0"/>
                <a:t>הארבעים</a:t>
              </a:r>
              <a:r>
                <a:rPr lang="he-IL" sz="1400" dirty="0" smtClean="0"/>
                <a:t>.</a:t>
              </a:r>
            </a:p>
            <a:p>
              <a:r>
                <a:rPr lang="he-IL" sz="1400" dirty="0" smtClean="0"/>
                <a:t>ההליכה מקדש לערבות מואב, שנת </a:t>
              </a:r>
              <a:r>
                <a:rPr lang="he-IL" sz="1400" b="1" dirty="0" smtClean="0"/>
                <a:t>הארבעים</a:t>
              </a:r>
              <a:r>
                <a:rPr lang="he-IL" sz="1400" dirty="0" smtClean="0"/>
                <a:t>.</a:t>
              </a:r>
              <a:endParaRPr lang="he-IL" sz="1400" dirty="0"/>
            </a:p>
          </p:txBody>
        </p:sp>
        <p:cxnSp>
          <p:nvCxnSpPr>
            <p:cNvPr id="26" name="מחבר חץ ישר 25"/>
            <p:cNvCxnSpPr/>
            <p:nvPr/>
          </p:nvCxnSpPr>
          <p:spPr>
            <a:xfrm flipH="1">
              <a:off x="8224120" y="6021287"/>
              <a:ext cx="537817" cy="0"/>
            </a:xfrm>
            <a:prstGeom prst="straightConnector1">
              <a:avLst/>
            </a:prstGeom>
            <a:ln w="19050">
              <a:prstDash val="sysDash"/>
              <a:tailEnd type="arrow"/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25" name="כותרת משנה 2"/>
          <p:cNvSpPr txBox="1">
            <a:spLocks/>
          </p:cNvSpPr>
          <p:nvPr/>
        </p:nvSpPr>
        <p:spPr>
          <a:xfrm>
            <a:off x="3053214" y="1077888"/>
            <a:ext cx="2803396" cy="766936"/>
          </a:xfrm>
          <a:prstGeom prst="rect">
            <a:avLst/>
          </a:prstGeom>
        </p:spPr>
        <p:txBody>
          <a:bodyPr vert="horz" lIns="91440" tIns="45720" rIns="91440" bIns="45720" rtlCol="1">
            <a:normAutofit lnSpcReduction="10000"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he-IL" sz="2400" dirty="0" smtClean="0"/>
              <a:t>1. מסע מהר סיני לקדש ברנע.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98137" y="2441400"/>
            <a:ext cx="2467494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/>
              <a:t>2. מסע מקדש לערבות מואב</a:t>
            </a:r>
            <a:r>
              <a:rPr lang="he-IL" sz="2400" dirty="0" smtClean="0"/>
              <a:t>.</a:t>
            </a:r>
            <a:endParaRPr lang="he-IL" sz="2400" dirty="0"/>
          </a:p>
        </p:txBody>
      </p:sp>
      <p:pic>
        <p:nvPicPr>
          <p:cNvPr id="5" name="Picture 5" descr="מפת ארץ ישראל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98" r="19909" b="3049"/>
          <a:stretch/>
        </p:blipFill>
        <p:spPr bwMode="auto">
          <a:xfrm>
            <a:off x="120174" y="845718"/>
            <a:ext cx="2988137" cy="5863045"/>
          </a:xfrm>
          <a:prstGeom prst="rect">
            <a:avLst/>
          </a:prstGeom>
          <a:noFill/>
          <a:ln w="15875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bg2">
                    <a:alpha val="47058"/>
                  </a:schemeClr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108372" y="4157145"/>
            <a:ext cx="1123671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 smtClean="0"/>
              <a:t>. </a:t>
            </a:r>
            <a:r>
              <a:rPr lang="he-IL" sz="1400" i="1" dirty="0" smtClean="0">
                <a:latin typeface="David" pitchFamily="34" charset="-79"/>
                <a:cs typeface="David" pitchFamily="34" charset="-79"/>
              </a:rPr>
              <a:t>קדש ברנע</a:t>
            </a:r>
            <a:endParaRPr lang="he-IL" sz="1200" i="1" dirty="0">
              <a:latin typeface="David" pitchFamily="34" charset="-79"/>
              <a:cs typeface="David" pitchFamily="34" charset="-79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973236" y="4563790"/>
            <a:ext cx="500820" cy="80021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400" i="1" dirty="0" smtClean="0">
                <a:latin typeface="David" pitchFamily="34" charset="-79"/>
                <a:cs typeface="David" pitchFamily="34" charset="-79"/>
              </a:rPr>
              <a:t>קדש</a:t>
            </a:r>
            <a:r>
              <a:rPr lang="he-IL" sz="1400" dirty="0" smtClean="0"/>
              <a:t> </a:t>
            </a:r>
            <a:r>
              <a:rPr lang="he-IL" sz="3200" dirty="0" smtClean="0"/>
              <a:t>.</a:t>
            </a:r>
            <a:endParaRPr lang="he-IL" sz="3200" dirty="0"/>
          </a:p>
        </p:txBody>
      </p:sp>
      <p:sp>
        <p:nvSpPr>
          <p:cNvPr id="8" name="צורה חופשית 7"/>
          <p:cNvSpPr/>
          <p:nvPr/>
        </p:nvSpPr>
        <p:spPr>
          <a:xfrm>
            <a:off x="156137" y="4645471"/>
            <a:ext cx="845121" cy="678129"/>
          </a:xfrm>
          <a:custGeom>
            <a:avLst/>
            <a:gdLst>
              <a:gd name="connsiteX0" fmla="*/ 0 w 1215117"/>
              <a:gd name="connsiteY0" fmla="*/ 604783 h 669800"/>
              <a:gd name="connsiteX1" fmla="*/ 153825 w 1215117"/>
              <a:gd name="connsiteY1" fmla="*/ 664604 h 669800"/>
              <a:gd name="connsiteX2" fmla="*/ 273466 w 1215117"/>
              <a:gd name="connsiteY2" fmla="*/ 656058 h 669800"/>
              <a:gd name="connsiteX3" fmla="*/ 470019 w 1215117"/>
              <a:gd name="connsiteY3" fmla="*/ 570600 h 669800"/>
              <a:gd name="connsiteX4" fmla="*/ 717847 w 1215117"/>
              <a:gd name="connsiteY4" fmla="*/ 365501 h 669800"/>
              <a:gd name="connsiteX5" fmla="*/ 905854 w 1215117"/>
              <a:gd name="connsiteY5" fmla="*/ 237314 h 669800"/>
              <a:gd name="connsiteX6" fmla="*/ 1136591 w 1215117"/>
              <a:gd name="connsiteY6" fmla="*/ 74944 h 669800"/>
              <a:gd name="connsiteX7" fmla="*/ 1204957 w 1215117"/>
              <a:gd name="connsiteY7" fmla="*/ 6578 h 669800"/>
              <a:gd name="connsiteX8" fmla="*/ 1213503 w 1215117"/>
              <a:gd name="connsiteY8" fmla="*/ 6578 h 669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5117" h="669800">
                <a:moveTo>
                  <a:pt x="0" y="604783"/>
                </a:moveTo>
                <a:cubicBezTo>
                  <a:pt x="54123" y="630420"/>
                  <a:pt x="108247" y="656058"/>
                  <a:pt x="153825" y="664604"/>
                </a:cubicBezTo>
                <a:cubicBezTo>
                  <a:pt x="199403" y="673150"/>
                  <a:pt x="220767" y="671725"/>
                  <a:pt x="273466" y="656058"/>
                </a:cubicBezTo>
                <a:cubicBezTo>
                  <a:pt x="326165" y="640391"/>
                  <a:pt x="395956" y="619026"/>
                  <a:pt x="470019" y="570600"/>
                </a:cubicBezTo>
                <a:cubicBezTo>
                  <a:pt x="544083" y="522174"/>
                  <a:pt x="645208" y="421049"/>
                  <a:pt x="717847" y="365501"/>
                </a:cubicBezTo>
                <a:cubicBezTo>
                  <a:pt x="790486" y="309953"/>
                  <a:pt x="905854" y="237314"/>
                  <a:pt x="905854" y="237314"/>
                </a:cubicBezTo>
                <a:cubicBezTo>
                  <a:pt x="975645" y="188888"/>
                  <a:pt x="1086741" y="113400"/>
                  <a:pt x="1136591" y="74944"/>
                </a:cubicBezTo>
                <a:cubicBezTo>
                  <a:pt x="1186442" y="36488"/>
                  <a:pt x="1192138" y="17972"/>
                  <a:pt x="1204957" y="6578"/>
                </a:cubicBezTo>
                <a:cubicBezTo>
                  <a:pt x="1217776" y="-4816"/>
                  <a:pt x="1215639" y="881"/>
                  <a:pt x="1213503" y="6578"/>
                </a:cubicBezTo>
              </a:path>
            </a:pathLst>
          </a:custGeom>
          <a:noFill/>
          <a:ln>
            <a:solidFill>
              <a:schemeClr val="accent6">
                <a:lumMod val="75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9" name="צורה חופשית 8"/>
          <p:cNvSpPr/>
          <p:nvPr/>
        </p:nvSpPr>
        <p:spPr>
          <a:xfrm>
            <a:off x="2159991" y="2772078"/>
            <a:ext cx="179028" cy="2180319"/>
          </a:xfrm>
          <a:custGeom>
            <a:avLst/>
            <a:gdLst>
              <a:gd name="connsiteX0" fmla="*/ 0 w 257407"/>
              <a:gd name="connsiteY0" fmla="*/ 2153541 h 2153541"/>
              <a:gd name="connsiteX1" fmla="*/ 170916 w 257407"/>
              <a:gd name="connsiteY1" fmla="*/ 1341690 h 2153541"/>
              <a:gd name="connsiteX2" fmla="*/ 256374 w 257407"/>
              <a:gd name="connsiteY2" fmla="*/ 367470 h 2153541"/>
              <a:gd name="connsiteX3" fmla="*/ 213645 w 257407"/>
              <a:gd name="connsiteY3" fmla="*/ 68367 h 2153541"/>
              <a:gd name="connsiteX4" fmla="*/ 145279 w 257407"/>
              <a:gd name="connsiteY4" fmla="*/ 0 h 2153541"/>
              <a:gd name="connsiteX5" fmla="*/ 145279 w 257407"/>
              <a:gd name="connsiteY5" fmla="*/ 0 h 2153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57407" h="2153541">
                <a:moveTo>
                  <a:pt x="0" y="2153541"/>
                </a:moveTo>
                <a:cubicBezTo>
                  <a:pt x="64093" y="1896454"/>
                  <a:pt x="128187" y="1639368"/>
                  <a:pt x="170916" y="1341690"/>
                </a:cubicBezTo>
                <a:cubicBezTo>
                  <a:pt x="213645" y="1044011"/>
                  <a:pt x="249253" y="579690"/>
                  <a:pt x="256374" y="367470"/>
                </a:cubicBezTo>
                <a:cubicBezTo>
                  <a:pt x="263495" y="155250"/>
                  <a:pt x="232161" y="129612"/>
                  <a:pt x="213645" y="68367"/>
                </a:cubicBezTo>
                <a:cubicBezTo>
                  <a:pt x="195129" y="7122"/>
                  <a:pt x="145279" y="0"/>
                  <a:pt x="145279" y="0"/>
                </a:cubicBezTo>
                <a:lnTo>
                  <a:pt x="145279" y="0"/>
                </a:lnTo>
              </a:path>
            </a:pathLst>
          </a:custGeom>
          <a:noFill/>
          <a:ln>
            <a:solidFill>
              <a:srgbClr val="FF0000"/>
            </a:solidFill>
            <a:prstDash val="sysDash"/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0" name="צורה חופשית 9"/>
          <p:cNvSpPr/>
          <p:nvPr/>
        </p:nvSpPr>
        <p:spPr>
          <a:xfrm>
            <a:off x="1743702" y="3078631"/>
            <a:ext cx="992453" cy="3453553"/>
          </a:xfrm>
          <a:custGeom>
            <a:avLst/>
            <a:gdLst>
              <a:gd name="connsiteX0" fmla="*/ 530175 w 1426950"/>
              <a:gd name="connsiteY0" fmla="*/ 2465529 h 3914576"/>
              <a:gd name="connsiteX1" fmla="*/ 222526 w 1426950"/>
              <a:gd name="connsiteY1" fmla="*/ 2841544 h 3914576"/>
              <a:gd name="connsiteX2" fmla="*/ 154160 w 1426950"/>
              <a:gd name="connsiteY2" fmla="*/ 3038097 h 3914576"/>
              <a:gd name="connsiteX3" fmla="*/ 8881 w 1426950"/>
              <a:gd name="connsiteY3" fmla="*/ 3567936 h 3914576"/>
              <a:gd name="connsiteX4" fmla="*/ 77248 w 1426950"/>
              <a:gd name="connsiteY4" fmla="*/ 3875585 h 3914576"/>
              <a:gd name="connsiteX5" fmla="*/ 572904 w 1426950"/>
              <a:gd name="connsiteY5" fmla="*/ 3867039 h 3914576"/>
              <a:gd name="connsiteX6" fmla="*/ 940373 w 1426950"/>
              <a:gd name="connsiteY6" fmla="*/ 3482479 h 3914576"/>
              <a:gd name="connsiteX7" fmla="*/ 1324934 w 1426950"/>
              <a:gd name="connsiteY7" fmla="*/ 2807361 h 3914576"/>
              <a:gd name="connsiteX8" fmla="*/ 1418937 w 1426950"/>
              <a:gd name="connsiteY8" fmla="*/ 2106606 h 3914576"/>
              <a:gd name="connsiteX9" fmla="*/ 1418937 w 1426950"/>
              <a:gd name="connsiteY9" fmla="*/ 1346030 h 3914576"/>
              <a:gd name="connsiteX10" fmla="*/ 1393300 w 1426950"/>
              <a:gd name="connsiteY10" fmla="*/ 807645 h 3914576"/>
              <a:gd name="connsiteX11" fmla="*/ 1359117 w 1426950"/>
              <a:gd name="connsiteY11" fmla="*/ 243622 h 3914576"/>
              <a:gd name="connsiteX12" fmla="*/ 1205293 w 1426950"/>
              <a:gd name="connsiteY12" fmla="*/ 12886 h 3914576"/>
              <a:gd name="connsiteX13" fmla="*/ 923281 w 1426950"/>
              <a:gd name="connsiteY13" fmla="*/ 38523 h 3914576"/>
              <a:gd name="connsiteX14" fmla="*/ 769457 w 1426950"/>
              <a:gd name="connsiteY14" fmla="*/ 115436 h 3914576"/>
              <a:gd name="connsiteX15" fmla="*/ 769457 w 1426950"/>
              <a:gd name="connsiteY15" fmla="*/ 123981 h 3914576"/>
              <a:gd name="connsiteX0" fmla="*/ 530175 w 1426950"/>
              <a:gd name="connsiteY0" fmla="*/ 2465529 h 3914576"/>
              <a:gd name="connsiteX1" fmla="*/ 222526 w 1426950"/>
              <a:gd name="connsiteY1" fmla="*/ 2841544 h 3914576"/>
              <a:gd name="connsiteX2" fmla="*/ 154160 w 1426950"/>
              <a:gd name="connsiteY2" fmla="*/ 3038097 h 3914576"/>
              <a:gd name="connsiteX3" fmla="*/ 8881 w 1426950"/>
              <a:gd name="connsiteY3" fmla="*/ 3567936 h 3914576"/>
              <a:gd name="connsiteX4" fmla="*/ 77248 w 1426950"/>
              <a:gd name="connsiteY4" fmla="*/ 3875585 h 3914576"/>
              <a:gd name="connsiteX5" fmla="*/ 572904 w 1426950"/>
              <a:gd name="connsiteY5" fmla="*/ 3867039 h 3914576"/>
              <a:gd name="connsiteX6" fmla="*/ 940373 w 1426950"/>
              <a:gd name="connsiteY6" fmla="*/ 3482479 h 3914576"/>
              <a:gd name="connsiteX7" fmla="*/ 1324934 w 1426950"/>
              <a:gd name="connsiteY7" fmla="*/ 2807361 h 3914576"/>
              <a:gd name="connsiteX8" fmla="*/ 1418937 w 1426950"/>
              <a:gd name="connsiteY8" fmla="*/ 2106606 h 3914576"/>
              <a:gd name="connsiteX9" fmla="*/ 1418937 w 1426950"/>
              <a:gd name="connsiteY9" fmla="*/ 1346030 h 3914576"/>
              <a:gd name="connsiteX10" fmla="*/ 1393300 w 1426950"/>
              <a:gd name="connsiteY10" fmla="*/ 807645 h 3914576"/>
              <a:gd name="connsiteX11" fmla="*/ 1359117 w 1426950"/>
              <a:gd name="connsiteY11" fmla="*/ 243622 h 3914576"/>
              <a:gd name="connsiteX12" fmla="*/ 1205293 w 1426950"/>
              <a:gd name="connsiteY12" fmla="*/ 12886 h 3914576"/>
              <a:gd name="connsiteX13" fmla="*/ 923281 w 1426950"/>
              <a:gd name="connsiteY13" fmla="*/ 38523 h 3914576"/>
              <a:gd name="connsiteX14" fmla="*/ 769457 w 1426950"/>
              <a:gd name="connsiteY14" fmla="*/ 115436 h 3914576"/>
              <a:gd name="connsiteX0" fmla="*/ 530175 w 1426950"/>
              <a:gd name="connsiteY0" fmla="*/ 2455554 h 3904601"/>
              <a:gd name="connsiteX1" fmla="*/ 222526 w 1426950"/>
              <a:gd name="connsiteY1" fmla="*/ 2831569 h 3904601"/>
              <a:gd name="connsiteX2" fmla="*/ 154160 w 1426950"/>
              <a:gd name="connsiteY2" fmla="*/ 3028122 h 3904601"/>
              <a:gd name="connsiteX3" fmla="*/ 8881 w 1426950"/>
              <a:gd name="connsiteY3" fmla="*/ 3557961 h 3904601"/>
              <a:gd name="connsiteX4" fmla="*/ 77248 w 1426950"/>
              <a:gd name="connsiteY4" fmla="*/ 3865610 h 3904601"/>
              <a:gd name="connsiteX5" fmla="*/ 572904 w 1426950"/>
              <a:gd name="connsiteY5" fmla="*/ 3857064 h 3904601"/>
              <a:gd name="connsiteX6" fmla="*/ 940373 w 1426950"/>
              <a:gd name="connsiteY6" fmla="*/ 3472504 h 3904601"/>
              <a:gd name="connsiteX7" fmla="*/ 1324934 w 1426950"/>
              <a:gd name="connsiteY7" fmla="*/ 2797386 h 3904601"/>
              <a:gd name="connsiteX8" fmla="*/ 1418937 w 1426950"/>
              <a:gd name="connsiteY8" fmla="*/ 2096631 h 3904601"/>
              <a:gd name="connsiteX9" fmla="*/ 1418937 w 1426950"/>
              <a:gd name="connsiteY9" fmla="*/ 1336055 h 3904601"/>
              <a:gd name="connsiteX10" fmla="*/ 1393300 w 1426950"/>
              <a:gd name="connsiteY10" fmla="*/ 797670 h 3904601"/>
              <a:gd name="connsiteX11" fmla="*/ 1359117 w 1426950"/>
              <a:gd name="connsiteY11" fmla="*/ 233647 h 3904601"/>
              <a:gd name="connsiteX12" fmla="*/ 1205293 w 1426950"/>
              <a:gd name="connsiteY12" fmla="*/ 2911 h 3904601"/>
              <a:gd name="connsiteX13" fmla="*/ 769457 w 1426950"/>
              <a:gd name="connsiteY13" fmla="*/ 105461 h 3904601"/>
              <a:gd name="connsiteX0" fmla="*/ 530175 w 1426950"/>
              <a:gd name="connsiteY0" fmla="*/ 2452643 h 3901690"/>
              <a:gd name="connsiteX1" fmla="*/ 222526 w 1426950"/>
              <a:gd name="connsiteY1" fmla="*/ 2828658 h 3901690"/>
              <a:gd name="connsiteX2" fmla="*/ 154160 w 1426950"/>
              <a:gd name="connsiteY2" fmla="*/ 3025211 h 3901690"/>
              <a:gd name="connsiteX3" fmla="*/ 8881 w 1426950"/>
              <a:gd name="connsiteY3" fmla="*/ 3555050 h 3901690"/>
              <a:gd name="connsiteX4" fmla="*/ 77248 w 1426950"/>
              <a:gd name="connsiteY4" fmla="*/ 3862699 h 3901690"/>
              <a:gd name="connsiteX5" fmla="*/ 572904 w 1426950"/>
              <a:gd name="connsiteY5" fmla="*/ 3854153 h 3901690"/>
              <a:gd name="connsiteX6" fmla="*/ 940373 w 1426950"/>
              <a:gd name="connsiteY6" fmla="*/ 3469593 h 3901690"/>
              <a:gd name="connsiteX7" fmla="*/ 1324934 w 1426950"/>
              <a:gd name="connsiteY7" fmla="*/ 2794475 h 3901690"/>
              <a:gd name="connsiteX8" fmla="*/ 1418937 w 1426950"/>
              <a:gd name="connsiteY8" fmla="*/ 2093720 h 3901690"/>
              <a:gd name="connsiteX9" fmla="*/ 1418937 w 1426950"/>
              <a:gd name="connsiteY9" fmla="*/ 1333144 h 3901690"/>
              <a:gd name="connsiteX10" fmla="*/ 1393300 w 1426950"/>
              <a:gd name="connsiteY10" fmla="*/ 794759 h 3901690"/>
              <a:gd name="connsiteX11" fmla="*/ 1359117 w 1426950"/>
              <a:gd name="connsiteY11" fmla="*/ 230736 h 3901690"/>
              <a:gd name="connsiteX12" fmla="*/ 1205293 w 1426950"/>
              <a:gd name="connsiteY12" fmla="*/ 0 h 3901690"/>
              <a:gd name="connsiteX0" fmla="*/ 530175 w 1426950"/>
              <a:gd name="connsiteY0" fmla="*/ 2221907 h 3670954"/>
              <a:gd name="connsiteX1" fmla="*/ 222526 w 1426950"/>
              <a:gd name="connsiteY1" fmla="*/ 2597922 h 3670954"/>
              <a:gd name="connsiteX2" fmla="*/ 154160 w 1426950"/>
              <a:gd name="connsiteY2" fmla="*/ 2794475 h 3670954"/>
              <a:gd name="connsiteX3" fmla="*/ 8881 w 1426950"/>
              <a:gd name="connsiteY3" fmla="*/ 3324314 h 3670954"/>
              <a:gd name="connsiteX4" fmla="*/ 77248 w 1426950"/>
              <a:gd name="connsiteY4" fmla="*/ 3631963 h 3670954"/>
              <a:gd name="connsiteX5" fmla="*/ 572904 w 1426950"/>
              <a:gd name="connsiteY5" fmla="*/ 3623417 h 3670954"/>
              <a:gd name="connsiteX6" fmla="*/ 940373 w 1426950"/>
              <a:gd name="connsiteY6" fmla="*/ 3238857 h 3670954"/>
              <a:gd name="connsiteX7" fmla="*/ 1324934 w 1426950"/>
              <a:gd name="connsiteY7" fmla="*/ 2563739 h 3670954"/>
              <a:gd name="connsiteX8" fmla="*/ 1418937 w 1426950"/>
              <a:gd name="connsiteY8" fmla="*/ 1862984 h 3670954"/>
              <a:gd name="connsiteX9" fmla="*/ 1418937 w 1426950"/>
              <a:gd name="connsiteY9" fmla="*/ 1102408 h 3670954"/>
              <a:gd name="connsiteX10" fmla="*/ 1393300 w 1426950"/>
              <a:gd name="connsiteY10" fmla="*/ 564023 h 3670954"/>
              <a:gd name="connsiteX11" fmla="*/ 1359117 w 1426950"/>
              <a:gd name="connsiteY11" fmla="*/ 0 h 3670954"/>
              <a:gd name="connsiteX0" fmla="*/ 530175 w 1426950"/>
              <a:gd name="connsiteY0" fmla="*/ 1962091 h 3411138"/>
              <a:gd name="connsiteX1" fmla="*/ 222526 w 1426950"/>
              <a:gd name="connsiteY1" fmla="*/ 2338106 h 3411138"/>
              <a:gd name="connsiteX2" fmla="*/ 154160 w 1426950"/>
              <a:gd name="connsiteY2" fmla="*/ 2534659 h 3411138"/>
              <a:gd name="connsiteX3" fmla="*/ 8881 w 1426950"/>
              <a:gd name="connsiteY3" fmla="*/ 3064498 h 3411138"/>
              <a:gd name="connsiteX4" fmla="*/ 77248 w 1426950"/>
              <a:gd name="connsiteY4" fmla="*/ 3372147 h 3411138"/>
              <a:gd name="connsiteX5" fmla="*/ 572904 w 1426950"/>
              <a:gd name="connsiteY5" fmla="*/ 3363601 h 3411138"/>
              <a:gd name="connsiteX6" fmla="*/ 940373 w 1426950"/>
              <a:gd name="connsiteY6" fmla="*/ 2979041 h 3411138"/>
              <a:gd name="connsiteX7" fmla="*/ 1324934 w 1426950"/>
              <a:gd name="connsiteY7" fmla="*/ 2303923 h 3411138"/>
              <a:gd name="connsiteX8" fmla="*/ 1418937 w 1426950"/>
              <a:gd name="connsiteY8" fmla="*/ 1603168 h 3411138"/>
              <a:gd name="connsiteX9" fmla="*/ 1418937 w 1426950"/>
              <a:gd name="connsiteY9" fmla="*/ 842592 h 3411138"/>
              <a:gd name="connsiteX10" fmla="*/ 1393300 w 1426950"/>
              <a:gd name="connsiteY10" fmla="*/ 304207 h 3411138"/>
              <a:gd name="connsiteX11" fmla="*/ 1371173 w 1426950"/>
              <a:gd name="connsiteY11" fmla="*/ 0 h 34111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26950" h="3411138">
                <a:moveTo>
                  <a:pt x="530175" y="1962091"/>
                </a:moveTo>
                <a:cubicBezTo>
                  <a:pt x="407685" y="2102384"/>
                  <a:pt x="285195" y="2242678"/>
                  <a:pt x="222526" y="2338106"/>
                </a:cubicBezTo>
                <a:cubicBezTo>
                  <a:pt x="159857" y="2433534"/>
                  <a:pt x="189768" y="2413594"/>
                  <a:pt x="154160" y="2534659"/>
                </a:cubicBezTo>
                <a:cubicBezTo>
                  <a:pt x="118552" y="2655724"/>
                  <a:pt x="21700" y="2924917"/>
                  <a:pt x="8881" y="3064498"/>
                </a:cubicBezTo>
                <a:cubicBezTo>
                  <a:pt x="-3938" y="3204079"/>
                  <a:pt x="-16756" y="3322297"/>
                  <a:pt x="77248" y="3372147"/>
                </a:cubicBezTo>
                <a:cubicBezTo>
                  <a:pt x="171252" y="3421997"/>
                  <a:pt x="429050" y="3429119"/>
                  <a:pt x="572904" y="3363601"/>
                </a:cubicBezTo>
                <a:cubicBezTo>
                  <a:pt x="716758" y="3298083"/>
                  <a:pt x="815035" y="3155654"/>
                  <a:pt x="940373" y="2979041"/>
                </a:cubicBezTo>
                <a:cubicBezTo>
                  <a:pt x="1065711" y="2802428"/>
                  <a:pt x="1245173" y="2533235"/>
                  <a:pt x="1324934" y="2303923"/>
                </a:cubicBezTo>
                <a:cubicBezTo>
                  <a:pt x="1404695" y="2074611"/>
                  <a:pt x="1403270" y="1846723"/>
                  <a:pt x="1418937" y="1603168"/>
                </a:cubicBezTo>
                <a:cubicBezTo>
                  <a:pt x="1434604" y="1359613"/>
                  <a:pt x="1423210" y="1059085"/>
                  <a:pt x="1418937" y="842592"/>
                </a:cubicBezTo>
                <a:cubicBezTo>
                  <a:pt x="1414664" y="626099"/>
                  <a:pt x="1401261" y="444639"/>
                  <a:pt x="1393300" y="304207"/>
                </a:cubicBezTo>
                <a:cubicBezTo>
                  <a:pt x="1385339" y="163775"/>
                  <a:pt x="1402507" y="132460"/>
                  <a:pt x="1371173" y="0"/>
                </a:cubicBezTo>
              </a:path>
            </a:pathLst>
          </a:custGeom>
          <a:noFill/>
          <a:ln>
            <a:solidFill>
              <a:srgbClr val="00B05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1" name="TextBox 10"/>
          <p:cNvSpPr txBox="1"/>
          <p:nvPr/>
        </p:nvSpPr>
        <p:spPr>
          <a:xfrm>
            <a:off x="2412628" y="2751990"/>
            <a:ext cx="773835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400" dirty="0" smtClean="0">
                <a:latin typeface="Guttman Hatzvi" pitchFamily="2" charset="-79"/>
                <a:cs typeface="Guttman Hatzvi" pitchFamily="2" charset="-79"/>
              </a:rPr>
              <a:t>עמון</a:t>
            </a:r>
            <a:endParaRPr lang="he-IL" sz="1400" dirty="0">
              <a:latin typeface="Guttman Hatzvi" pitchFamily="2" charset="-79"/>
              <a:cs typeface="Guttman Hatzvi" pitchFamily="2" charset="-79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13300" y="2012172"/>
            <a:ext cx="759368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400" dirty="0" err="1" smtClean="0">
                <a:latin typeface="Guttman Hatzvi" pitchFamily="2" charset="-79"/>
                <a:cs typeface="Guttman Hatzvi" pitchFamily="2" charset="-79"/>
              </a:rPr>
              <a:t>סיחון</a:t>
            </a:r>
            <a:endParaRPr lang="he-IL" sz="1400" dirty="0">
              <a:latin typeface="Guttman Hatzvi" pitchFamily="2" charset="-79"/>
              <a:cs typeface="Guttman Hatzvi" pitchFamily="2" charset="-79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59991" y="918621"/>
            <a:ext cx="602296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400" dirty="0" smtClean="0">
                <a:latin typeface="Guttman Hatzvi" pitchFamily="2" charset="-79"/>
                <a:cs typeface="Guttman Hatzvi" pitchFamily="2" charset="-79"/>
              </a:rPr>
              <a:t>עוג</a:t>
            </a:r>
            <a:endParaRPr lang="he-IL" sz="1400" dirty="0">
              <a:latin typeface="Guttman Hatzvi" pitchFamily="2" charset="-79"/>
              <a:cs typeface="Guttman Hatzvi" pitchFamily="2" charset="-79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279808" y="2303786"/>
            <a:ext cx="1204828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 smtClean="0"/>
              <a:t>. </a:t>
            </a:r>
            <a:r>
              <a:rPr lang="he-IL" sz="1400" i="1" dirty="0" smtClean="0">
                <a:latin typeface="David" pitchFamily="34" charset="-79"/>
                <a:cs typeface="David" pitchFamily="34" charset="-79"/>
              </a:rPr>
              <a:t>ערבות מואב</a:t>
            </a:r>
            <a:endParaRPr lang="he-IL" sz="1200" i="1" dirty="0">
              <a:latin typeface="David" pitchFamily="34" charset="-79"/>
              <a:cs typeface="David" pitchFamily="34" charset="-79"/>
            </a:endParaRPr>
          </a:p>
        </p:txBody>
      </p:sp>
      <p:sp>
        <p:nvSpPr>
          <p:cNvPr id="15" name="צורה חופשית 14"/>
          <p:cNvSpPr/>
          <p:nvPr/>
        </p:nvSpPr>
        <p:spPr>
          <a:xfrm>
            <a:off x="2557685" y="2251475"/>
            <a:ext cx="117372" cy="812119"/>
          </a:xfrm>
          <a:custGeom>
            <a:avLst/>
            <a:gdLst>
              <a:gd name="connsiteX0" fmla="*/ 163753 w 163753"/>
              <a:gd name="connsiteY0" fmla="*/ 309255 h 309255"/>
              <a:gd name="connsiteX1" fmla="*/ 35566 w 163753"/>
              <a:gd name="connsiteY1" fmla="*/ 163977 h 309255"/>
              <a:gd name="connsiteX2" fmla="*/ 1383 w 163753"/>
              <a:gd name="connsiteY2" fmla="*/ 10152 h 309255"/>
              <a:gd name="connsiteX3" fmla="*/ 9928 w 163753"/>
              <a:gd name="connsiteY3" fmla="*/ 27244 h 309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63753" h="309255">
                <a:moveTo>
                  <a:pt x="163753" y="309255"/>
                </a:moveTo>
                <a:cubicBezTo>
                  <a:pt x="113190" y="261541"/>
                  <a:pt x="62628" y="213828"/>
                  <a:pt x="35566" y="163977"/>
                </a:cubicBezTo>
                <a:cubicBezTo>
                  <a:pt x="8504" y="114126"/>
                  <a:pt x="5656" y="32941"/>
                  <a:pt x="1383" y="10152"/>
                </a:cubicBezTo>
                <a:cubicBezTo>
                  <a:pt x="-2890" y="-12637"/>
                  <a:pt x="3519" y="7303"/>
                  <a:pt x="9928" y="27244"/>
                </a:cubicBezTo>
              </a:path>
            </a:pathLst>
          </a:custGeom>
          <a:noFill/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6" name="צורה חופשית 15"/>
          <p:cNvSpPr/>
          <p:nvPr/>
        </p:nvSpPr>
        <p:spPr>
          <a:xfrm>
            <a:off x="2645963" y="1166095"/>
            <a:ext cx="141955" cy="1085380"/>
          </a:xfrm>
          <a:custGeom>
            <a:avLst/>
            <a:gdLst>
              <a:gd name="connsiteX0" fmla="*/ 37723 w 204103"/>
              <a:gd name="connsiteY0" fmla="*/ 1449673 h 1449673"/>
              <a:gd name="connsiteX1" fmla="*/ 123181 w 204103"/>
              <a:gd name="connsiteY1" fmla="*/ 1244574 h 1449673"/>
              <a:gd name="connsiteX2" fmla="*/ 191547 w 204103"/>
              <a:gd name="connsiteY2" fmla="*/ 885650 h 1449673"/>
              <a:gd name="connsiteX3" fmla="*/ 191547 w 204103"/>
              <a:gd name="connsiteY3" fmla="*/ 620731 h 1449673"/>
              <a:gd name="connsiteX4" fmla="*/ 63360 w 204103"/>
              <a:gd name="connsiteY4" fmla="*/ 159258 h 1449673"/>
              <a:gd name="connsiteX5" fmla="*/ 3540 w 204103"/>
              <a:gd name="connsiteY5" fmla="*/ 13979 h 1449673"/>
              <a:gd name="connsiteX6" fmla="*/ 12085 w 204103"/>
              <a:gd name="connsiteY6" fmla="*/ 13979 h 14496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4103" h="1449673">
                <a:moveTo>
                  <a:pt x="37723" y="1449673"/>
                </a:moveTo>
                <a:cubicBezTo>
                  <a:pt x="67633" y="1394125"/>
                  <a:pt x="97544" y="1338578"/>
                  <a:pt x="123181" y="1244574"/>
                </a:cubicBezTo>
                <a:cubicBezTo>
                  <a:pt x="148818" y="1150570"/>
                  <a:pt x="180153" y="989624"/>
                  <a:pt x="191547" y="885650"/>
                </a:cubicBezTo>
                <a:cubicBezTo>
                  <a:pt x="202941" y="781676"/>
                  <a:pt x="212911" y="741796"/>
                  <a:pt x="191547" y="620731"/>
                </a:cubicBezTo>
                <a:cubicBezTo>
                  <a:pt x="170183" y="499666"/>
                  <a:pt x="94694" y="260383"/>
                  <a:pt x="63360" y="159258"/>
                </a:cubicBezTo>
                <a:cubicBezTo>
                  <a:pt x="32026" y="58133"/>
                  <a:pt x="12086" y="38192"/>
                  <a:pt x="3540" y="13979"/>
                </a:cubicBezTo>
                <a:cubicBezTo>
                  <a:pt x="-5006" y="-10234"/>
                  <a:pt x="3539" y="1872"/>
                  <a:pt x="12085" y="13979"/>
                </a:cubicBezTo>
              </a:path>
            </a:pathLst>
          </a:custGeom>
          <a:noFill/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4" name="צורה חופשית 23"/>
          <p:cNvSpPr/>
          <p:nvPr/>
        </p:nvSpPr>
        <p:spPr>
          <a:xfrm>
            <a:off x="1169063" y="3652972"/>
            <a:ext cx="520605" cy="786213"/>
          </a:xfrm>
          <a:custGeom>
            <a:avLst/>
            <a:gdLst>
              <a:gd name="connsiteX0" fmla="*/ 0 w 777667"/>
              <a:gd name="connsiteY0" fmla="*/ 786213 h 786213"/>
              <a:gd name="connsiteX1" fmla="*/ 341832 w 777667"/>
              <a:gd name="connsiteY1" fmla="*/ 623843 h 786213"/>
              <a:gd name="connsiteX2" fmla="*/ 487110 w 777667"/>
              <a:gd name="connsiteY2" fmla="*/ 461473 h 786213"/>
              <a:gd name="connsiteX3" fmla="*/ 658026 w 777667"/>
              <a:gd name="connsiteY3" fmla="*/ 256374 h 786213"/>
              <a:gd name="connsiteX4" fmla="*/ 777667 w 777667"/>
              <a:gd name="connsiteY4" fmla="*/ 0 h 786213"/>
              <a:gd name="connsiteX5" fmla="*/ 777667 w 777667"/>
              <a:gd name="connsiteY5" fmla="*/ 0 h 78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77667" h="786213">
                <a:moveTo>
                  <a:pt x="0" y="786213"/>
                </a:moveTo>
                <a:cubicBezTo>
                  <a:pt x="130323" y="732089"/>
                  <a:pt x="260647" y="677966"/>
                  <a:pt x="341832" y="623843"/>
                </a:cubicBezTo>
                <a:cubicBezTo>
                  <a:pt x="423017" y="569720"/>
                  <a:pt x="434411" y="522718"/>
                  <a:pt x="487110" y="461473"/>
                </a:cubicBezTo>
                <a:cubicBezTo>
                  <a:pt x="539809" y="400228"/>
                  <a:pt x="609600" y="333286"/>
                  <a:pt x="658026" y="256374"/>
                </a:cubicBezTo>
                <a:cubicBezTo>
                  <a:pt x="706452" y="179462"/>
                  <a:pt x="777667" y="0"/>
                  <a:pt x="777667" y="0"/>
                </a:cubicBezTo>
                <a:lnTo>
                  <a:pt x="777667" y="0"/>
                </a:lnTo>
              </a:path>
            </a:pathLst>
          </a:custGeom>
          <a:noFill/>
          <a:ln>
            <a:solidFill>
              <a:schemeClr val="accent4">
                <a:lumMod val="75000"/>
              </a:schemeClr>
            </a:solidFill>
            <a:prstDash val="sysDash"/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1" name="TextBox 30"/>
          <p:cNvSpPr txBox="1"/>
          <p:nvPr/>
        </p:nvSpPr>
        <p:spPr>
          <a:xfrm>
            <a:off x="2196604" y="3553271"/>
            <a:ext cx="621574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ctr"/>
            <a:r>
              <a:rPr lang="he-IL" sz="1400" dirty="0" smtClean="0">
                <a:latin typeface="Guttman Hatzvi" pitchFamily="2" charset="-79"/>
                <a:cs typeface="Guttman Hatzvi" pitchFamily="2" charset="-79"/>
              </a:rPr>
              <a:t>מואב</a:t>
            </a:r>
            <a:endParaRPr lang="he-IL" sz="1400" dirty="0">
              <a:latin typeface="Guttman Hatzvi" pitchFamily="2" charset="-79"/>
              <a:cs typeface="Guttman Hatzvi" pitchFamily="2" charset="-79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1980580" y="4365104"/>
            <a:ext cx="802543" cy="30777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400" dirty="0" smtClean="0">
                <a:latin typeface="Guttman Hatzvi" pitchFamily="2" charset="-79"/>
                <a:cs typeface="Guttman Hatzvi" pitchFamily="2" charset="-79"/>
              </a:rPr>
              <a:t>אדום</a:t>
            </a:r>
            <a:endParaRPr lang="he-IL" sz="1400" dirty="0">
              <a:latin typeface="Guttman Hatzvi" pitchFamily="2" charset="-79"/>
              <a:cs typeface="Guttman Hatzvi" pitchFamily="2" charset="-79"/>
            </a:endParaRPr>
          </a:p>
        </p:txBody>
      </p:sp>
      <p:sp>
        <p:nvSpPr>
          <p:cNvPr id="28" name="צורה חופשית 27"/>
          <p:cNvSpPr/>
          <p:nvPr/>
        </p:nvSpPr>
        <p:spPr>
          <a:xfrm>
            <a:off x="2311549" y="2780929"/>
            <a:ext cx="310198" cy="296693"/>
          </a:xfrm>
          <a:custGeom>
            <a:avLst/>
            <a:gdLst>
              <a:gd name="connsiteX0" fmla="*/ 163753 w 163753"/>
              <a:gd name="connsiteY0" fmla="*/ 309255 h 309255"/>
              <a:gd name="connsiteX1" fmla="*/ 35566 w 163753"/>
              <a:gd name="connsiteY1" fmla="*/ 163977 h 309255"/>
              <a:gd name="connsiteX2" fmla="*/ 1383 w 163753"/>
              <a:gd name="connsiteY2" fmla="*/ 10152 h 309255"/>
              <a:gd name="connsiteX3" fmla="*/ 9928 w 163753"/>
              <a:gd name="connsiteY3" fmla="*/ 27244 h 309255"/>
              <a:gd name="connsiteX0" fmla="*/ 162370 w 162370"/>
              <a:gd name="connsiteY0" fmla="*/ 299103 h 299103"/>
              <a:gd name="connsiteX1" fmla="*/ 34183 w 162370"/>
              <a:gd name="connsiteY1" fmla="*/ 153825 h 299103"/>
              <a:gd name="connsiteX2" fmla="*/ 0 w 162370"/>
              <a:gd name="connsiteY2" fmla="*/ 0 h 299103"/>
              <a:gd name="connsiteX0" fmla="*/ 128187 w 128187"/>
              <a:gd name="connsiteY0" fmla="*/ 145278 h 145278"/>
              <a:gd name="connsiteX1" fmla="*/ 0 w 128187"/>
              <a:gd name="connsiteY1" fmla="*/ 0 h 145278"/>
              <a:gd name="connsiteX0" fmla="*/ 190760 w 190760"/>
              <a:gd name="connsiteY0" fmla="*/ 294457 h 294457"/>
              <a:gd name="connsiteX1" fmla="*/ 0 w 190760"/>
              <a:gd name="connsiteY1" fmla="*/ 0 h 2944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760" h="294457">
                <a:moveTo>
                  <a:pt x="190760" y="294457"/>
                </a:moveTo>
                <a:cubicBezTo>
                  <a:pt x="140197" y="246743"/>
                  <a:pt x="27062" y="49851"/>
                  <a:pt x="0" y="0"/>
                </a:cubicBezTo>
              </a:path>
            </a:pathLst>
          </a:custGeom>
          <a:noFill/>
          <a:ln>
            <a:solidFill>
              <a:srgbClr val="00B05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" name="צורה חופשית 2"/>
          <p:cNvSpPr/>
          <p:nvPr/>
        </p:nvSpPr>
        <p:spPr>
          <a:xfrm>
            <a:off x="2230538" y="3294169"/>
            <a:ext cx="436045" cy="50280"/>
          </a:xfrm>
          <a:custGeom>
            <a:avLst/>
            <a:gdLst>
              <a:gd name="connsiteX0" fmla="*/ 0 w 651354"/>
              <a:gd name="connsiteY0" fmla="*/ 50280 h 50280"/>
              <a:gd name="connsiteX1" fmla="*/ 513567 w 651354"/>
              <a:gd name="connsiteY1" fmla="*/ 25228 h 50280"/>
              <a:gd name="connsiteX2" fmla="*/ 588724 w 651354"/>
              <a:gd name="connsiteY2" fmla="*/ 12702 h 50280"/>
              <a:gd name="connsiteX3" fmla="*/ 651354 w 651354"/>
              <a:gd name="connsiteY3" fmla="*/ 176 h 502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51354" h="50280">
                <a:moveTo>
                  <a:pt x="0" y="50280"/>
                </a:moveTo>
                <a:cubicBezTo>
                  <a:pt x="160417" y="44551"/>
                  <a:pt x="347971" y="42659"/>
                  <a:pt x="513567" y="25228"/>
                </a:cubicBezTo>
                <a:cubicBezTo>
                  <a:pt x="538825" y="22569"/>
                  <a:pt x="563672" y="16877"/>
                  <a:pt x="588724" y="12702"/>
                </a:cubicBezTo>
                <a:cubicBezTo>
                  <a:pt x="634224" y="-2465"/>
                  <a:pt x="613098" y="176"/>
                  <a:pt x="651354" y="176"/>
                </a:cubicBezTo>
              </a:path>
            </a:pathLst>
          </a:custGeom>
          <a:noFill/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4" name="צורה חופשית 3"/>
          <p:cNvSpPr/>
          <p:nvPr/>
        </p:nvSpPr>
        <p:spPr>
          <a:xfrm>
            <a:off x="2498873" y="3344399"/>
            <a:ext cx="184481" cy="300625"/>
          </a:xfrm>
          <a:custGeom>
            <a:avLst/>
            <a:gdLst>
              <a:gd name="connsiteX0" fmla="*/ 0 w 275573"/>
              <a:gd name="connsiteY0" fmla="*/ 0 h 300625"/>
              <a:gd name="connsiteX1" fmla="*/ 75156 w 275573"/>
              <a:gd name="connsiteY1" fmla="*/ 100209 h 300625"/>
              <a:gd name="connsiteX2" fmla="*/ 112734 w 275573"/>
              <a:gd name="connsiteY2" fmla="*/ 112735 h 300625"/>
              <a:gd name="connsiteX3" fmla="*/ 150312 w 275573"/>
              <a:gd name="connsiteY3" fmla="*/ 150313 h 300625"/>
              <a:gd name="connsiteX4" fmla="*/ 212943 w 275573"/>
              <a:gd name="connsiteY4" fmla="*/ 200417 h 300625"/>
              <a:gd name="connsiteX5" fmla="*/ 237995 w 275573"/>
              <a:gd name="connsiteY5" fmla="*/ 275573 h 300625"/>
              <a:gd name="connsiteX6" fmla="*/ 275573 w 275573"/>
              <a:gd name="connsiteY6" fmla="*/ 300625 h 300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75573" h="300625">
                <a:moveTo>
                  <a:pt x="0" y="0"/>
                </a:moveTo>
                <a:cubicBezTo>
                  <a:pt x="21590" y="35984"/>
                  <a:pt x="38626" y="75856"/>
                  <a:pt x="75156" y="100209"/>
                </a:cubicBezTo>
                <a:cubicBezTo>
                  <a:pt x="86142" y="107533"/>
                  <a:pt x="100208" y="108560"/>
                  <a:pt x="112734" y="112735"/>
                </a:cubicBezTo>
                <a:cubicBezTo>
                  <a:pt x="125260" y="125261"/>
                  <a:pt x="135573" y="140487"/>
                  <a:pt x="150312" y="150313"/>
                </a:cubicBezTo>
                <a:cubicBezTo>
                  <a:pt x="199640" y="183198"/>
                  <a:pt x="183455" y="134068"/>
                  <a:pt x="212943" y="200417"/>
                </a:cubicBezTo>
                <a:cubicBezTo>
                  <a:pt x="223668" y="224548"/>
                  <a:pt x="216023" y="260925"/>
                  <a:pt x="237995" y="275573"/>
                </a:cubicBezTo>
                <a:lnTo>
                  <a:pt x="275573" y="300625"/>
                </a:lnTo>
              </a:path>
            </a:pathLst>
          </a:custGeom>
          <a:noFill/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17" name="צורה חופשית 16"/>
          <p:cNvSpPr/>
          <p:nvPr/>
        </p:nvSpPr>
        <p:spPr>
          <a:xfrm>
            <a:off x="2238923" y="1691015"/>
            <a:ext cx="469587" cy="388307"/>
          </a:xfrm>
          <a:custGeom>
            <a:avLst/>
            <a:gdLst>
              <a:gd name="connsiteX0" fmla="*/ 0 w 701458"/>
              <a:gd name="connsiteY0" fmla="*/ 388307 h 388307"/>
              <a:gd name="connsiteX1" fmla="*/ 137787 w 701458"/>
              <a:gd name="connsiteY1" fmla="*/ 363254 h 388307"/>
              <a:gd name="connsiteX2" fmla="*/ 212943 w 701458"/>
              <a:gd name="connsiteY2" fmla="*/ 313150 h 388307"/>
              <a:gd name="connsiteX3" fmla="*/ 250521 w 701458"/>
              <a:gd name="connsiteY3" fmla="*/ 288098 h 388307"/>
              <a:gd name="connsiteX4" fmla="*/ 288099 w 701458"/>
              <a:gd name="connsiteY4" fmla="*/ 263046 h 388307"/>
              <a:gd name="connsiteX5" fmla="*/ 338203 w 701458"/>
              <a:gd name="connsiteY5" fmla="*/ 225468 h 388307"/>
              <a:gd name="connsiteX6" fmla="*/ 375781 w 701458"/>
              <a:gd name="connsiteY6" fmla="*/ 200416 h 388307"/>
              <a:gd name="connsiteX7" fmla="*/ 463463 w 701458"/>
              <a:gd name="connsiteY7" fmla="*/ 150312 h 388307"/>
              <a:gd name="connsiteX8" fmla="*/ 538619 w 701458"/>
              <a:gd name="connsiteY8" fmla="*/ 100208 h 388307"/>
              <a:gd name="connsiteX9" fmla="*/ 563672 w 701458"/>
              <a:gd name="connsiteY9" fmla="*/ 75156 h 388307"/>
              <a:gd name="connsiteX10" fmla="*/ 638828 w 701458"/>
              <a:gd name="connsiteY10" fmla="*/ 50104 h 388307"/>
              <a:gd name="connsiteX11" fmla="*/ 701458 w 701458"/>
              <a:gd name="connsiteY11" fmla="*/ 0 h 3883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701458" h="388307">
                <a:moveTo>
                  <a:pt x="0" y="388307"/>
                </a:moveTo>
                <a:cubicBezTo>
                  <a:pt x="21849" y="385576"/>
                  <a:pt x="104148" y="381943"/>
                  <a:pt x="137787" y="363254"/>
                </a:cubicBezTo>
                <a:cubicBezTo>
                  <a:pt x="164107" y="348632"/>
                  <a:pt x="187891" y="329851"/>
                  <a:pt x="212943" y="313150"/>
                </a:cubicBezTo>
                <a:lnTo>
                  <a:pt x="250521" y="288098"/>
                </a:lnTo>
                <a:cubicBezTo>
                  <a:pt x="263047" y="279747"/>
                  <a:pt x="276055" y="272079"/>
                  <a:pt x="288099" y="263046"/>
                </a:cubicBezTo>
                <a:cubicBezTo>
                  <a:pt x="304800" y="250520"/>
                  <a:pt x="321215" y="237602"/>
                  <a:pt x="338203" y="225468"/>
                </a:cubicBezTo>
                <a:cubicBezTo>
                  <a:pt x="350453" y="216718"/>
                  <a:pt x="363531" y="209166"/>
                  <a:pt x="375781" y="200416"/>
                </a:cubicBezTo>
                <a:cubicBezTo>
                  <a:pt x="442135" y="153020"/>
                  <a:pt x="402483" y="170639"/>
                  <a:pt x="463463" y="150312"/>
                </a:cubicBezTo>
                <a:cubicBezTo>
                  <a:pt x="559016" y="54759"/>
                  <a:pt x="447982" y="154589"/>
                  <a:pt x="538619" y="100208"/>
                </a:cubicBezTo>
                <a:cubicBezTo>
                  <a:pt x="548746" y="94132"/>
                  <a:pt x="553109" y="80437"/>
                  <a:pt x="563672" y="75156"/>
                </a:cubicBezTo>
                <a:cubicBezTo>
                  <a:pt x="587291" y="63346"/>
                  <a:pt x="638828" y="50104"/>
                  <a:pt x="638828" y="50104"/>
                </a:cubicBezTo>
                <a:cubicBezTo>
                  <a:pt x="683008" y="5924"/>
                  <a:pt x="660562" y="20448"/>
                  <a:pt x="701458" y="0"/>
                </a:cubicBezTo>
              </a:path>
            </a:pathLst>
          </a:custGeom>
          <a:noFill/>
          <a:ln w="6350"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22" name="TextBox 21"/>
          <p:cNvSpPr txBox="1"/>
          <p:nvPr/>
        </p:nvSpPr>
        <p:spPr>
          <a:xfrm>
            <a:off x="2196604" y="3068960"/>
            <a:ext cx="499697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050" dirty="0" smtClean="0">
                <a:solidFill>
                  <a:srgbClr val="0000FF"/>
                </a:solidFill>
              </a:rPr>
              <a:t>ארנון</a:t>
            </a:r>
            <a:endParaRPr lang="he-IL" sz="1100" dirty="0">
              <a:solidFill>
                <a:srgbClr val="0000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 rot="20295305">
            <a:off x="2157519" y="1732178"/>
            <a:ext cx="468564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050" dirty="0" err="1" smtClean="0">
                <a:solidFill>
                  <a:srgbClr val="0000FF"/>
                </a:solidFill>
              </a:rPr>
              <a:t>יבוק</a:t>
            </a:r>
            <a:endParaRPr lang="he-IL" sz="1050" dirty="0">
              <a:solidFill>
                <a:srgbClr val="0000FF"/>
              </a:solidFill>
            </a:endParaRPr>
          </a:p>
        </p:txBody>
      </p:sp>
      <p:sp>
        <p:nvSpPr>
          <p:cNvPr id="34" name="TextBox 33"/>
          <p:cNvSpPr txBox="1"/>
          <p:nvPr/>
        </p:nvSpPr>
        <p:spPr>
          <a:xfrm rot="2424423">
            <a:off x="2331332" y="3251863"/>
            <a:ext cx="529312" cy="25391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1050" dirty="0" smtClean="0">
                <a:solidFill>
                  <a:srgbClr val="0000FF"/>
                </a:solidFill>
              </a:rPr>
              <a:t>זרד</a:t>
            </a:r>
            <a:endParaRPr lang="he-IL" sz="1050" dirty="0">
              <a:solidFill>
                <a:srgbClr val="0000FF"/>
              </a:solidFill>
            </a:endParaRPr>
          </a:p>
        </p:txBody>
      </p:sp>
      <p:pic>
        <p:nvPicPr>
          <p:cNvPr id="35" name="Picture 18" descr="MC900437789[1]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684" r="23437"/>
          <a:stretch/>
        </p:blipFill>
        <p:spPr bwMode="auto">
          <a:xfrm>
            <a:off x="3083197" y="1412776"/>
            <a:ext cx="976297" cy="995115"/>
          </a:xfrm>
          <a:prstGeom prst="ellipse">
            <a:avLst/>
          </a:prstGeom>
          <a:ln>
            <a:noFill/>
          </a:ln>
          <a:effectLst>
            <a:softEdge rad="112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16" descr="dglxasset[1]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99221" y="3307481"/>
            <a:ext cx="913607" cy="9136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121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10" dur="2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7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7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5" grpId="0" animBg="1"/>
      <p:bldP spid="16" grpId="0" animBg="1"/>
      <p:bldP spid="24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06070" y="1124745"/>
            <a:ext cx="5509260" cy="500142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2400" dirty="0" smtClean="0"/>
              <a:t>ד', ה-כד</a:t>
            </a:r>
          </a:p>
          <a:p>
            <a:pPr marL="0" indent="0">
              <a:buNone/>
            </a:pPr>
            <a:r>
              <a:rPr lang="he-IL" sz="2400" dirty="0">
                <a:latin typeface="Guttman Keren" pitchFamily="2" charset="-79"/>
                <a:cs typeface="Guttman Keren" pitchFamily="2" charset="-79"/>
              </a:rPr>
              <a:t>(ט) </a:t>
            </a:r>
            <a:r>
              <a:rPr lang="he-IL" sz="2400" dirty="0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רַק </a:t>
            </a:r>
            <a:r>
              <a:rPr lang="he-IL" sz="2400" dirty="0" err="1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הִשָּׁמֶר</a:t>
            </a:r>
            <a:r>
              <a:rPr lang="he-IL" sz="2400" dirty="0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 לְךָ וּשְׁמֹר נַפְשְׁךָ מְאֹד פֶּן תִּשְׁכַּח </a:t>
            </a:r>
            <a:r>
              <a:rPr lang="he-IL" sz="2400" dirty="0">
                <a:latin typeface="Guttman Keren" pitchFamily="2" charset="-79"/>
                <a:cs typeface="Guttman Keren" pitchFamily="2" charset="-79"/>
              </a:rPr>
              <a:t>אֶת הַדְּבָרִים אֲשֶׁר רָאוּ עֵינֶיךָ וּפֶן יָסוּרוּ מִלְּבָבְךָ כֹּל יְמֵי חַיֶּיךָ וְהוֹדַעְתָּם לְבָנֶיךָ וְלִבְנֵי בָנֶיךָ:</a:t>
            </a:r>
            <a:endParaRPr lang="en-US" sz="2400" dirty="0">
              <a:latin typeface="Guttman Keren" pitchFamily="2" charset="-79"/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400" dirty="0">
                <a:latin typeface="Guttman Keren" pitchFamily="2" charset="-79"/>
                <a:cs typeface="Guttman Keren" pitchFamily="2" charset="-79"/>
              </a:rPr>
              <a:t>(י) </a:t>
            </a:r>
            <a:r>
              <a:rPr lang="he-IL" sz="2400" dirty="0">
                <a:solidFill>
                  <a:srgbClr val="FF00FF"/>
                </a:solidFill>
                <a:latin typeface="Guttman Keren" pitchFamily="2" charset="-79"/>
                <a:cs typeface="Guttman Keren" pitchFamily="2" charset="-79"/>
              </a:rPr>
              <a:t>יוֹם אֲשֶׁר עָמַדְתָּ לִפְנֵי ה’ </a:t>
            </a:r>
            <a:r>
              <a:rPr lang="he-IL" sz="2400" dirty="0" err="1">
                <a:solidFill>
                  <a:srgbClr val="FF00FF"/>
                </a:solidFill>
                <a:latin typeface="Guttman Keren" pitchFamily="2" charset="-79"/>
                <a:cs typeface="Guttman Keren" pitchFamily="2" charset="-79"/>
              </a:rPr>
              <a:t>אֱלֹהֶיך</a:t>
            </a:r>
            <a:r>
              <a:rPr lang="he-IL" sz="2400" dirty="0">
                <a:solidFill>
                  <a:srgbClr val="FF00FF"/>
                </a:solidFill>
                <a:latin typeface="Guttman Keren" pitchFamily="2" charset="-79"/>
                <a:cs typeface="Guttman Keren" pitchFamily="2" charset="-79"/>
              </a:rPr>
              <a:t>ָ בְּחֹרֵב </a:t>
            </a:r>
            <a:r>
              <a:rPr lang="he-IL" sz="2400" dirty="0" smtClean="0">
                <a:latin typeface="Guttman Keren" pitchFamily="2" charset="-79"/>
                <a:cs typeface="Guttman Keren" pitchFamily="2" charset="-79"/>
              </a:rPr>
              <a:t>... </a:t>
            </a:r>
            <a:endParaRPr lang="en-US" sz="2400" dirty="0">
              <a:latin typeface="Guttman Keren" pitchFamily="2" charset="-79"/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400" dirty="0">
                <a:latin typeface="Guttman Keren" pitchFamily="2" charset="-79"/>
                <a:cs typeface="Guttman Keren" pitchFamily="2" charset="-79"/>
              </a:rPr>
              <a:t>(טו) וְנִשְׁמַרְתֶּם מְאֹד </a:t>
            </a:r>
            <a:r>
              <a:rPr lang="he-IL" sz="2400" dirty="0" err="1">
                <a:latin typeface="Guttman Keren" pitchFamily="2" charset="-79"/>
                <a:cs typeface="Guttman Keren" pitchFamily="2" charset="-79"/>
              </a:rPr>
              <a:t>לְנַפְשֹׁתֵיכֶם</a:t>
            </a:r>
            <a:r>
              <a:rPr lang="he-IL" sz="2400" dirty="0">
                <a:latin typeface="Guttman Keren" pitchFamily="2" charset="-79"/>
                <a:cs typeface="Guttman Keren" pitchFamily="2" charset="-79"/>
              </a:rPr>
              <a:t> כִּי </a:t>
            </a:r>
            <a:r>
              <a:rPr lang="he-IL" sz="2400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לֹא רְאִיתֶם כָּל תְּמוּנָה </a:t>
            </a:r>
            <a:r>
              <a:rPr lang="he-IL" sz="2400" dirty="0">
                <a:latin typeface="Guttman Keren" pitchFamily="2" charset="-79"/>
                <a:cs typeface="Guttman Keren" pitchFamily="2" charset="-79"/>
              </a:rPr>
              <a:t>בְּיוֹם דִּבֶּר ה’ אֲלֵיכֶם בְּחֹרֵב מִתּוֹךְ הָאֵשׁ:</a:t>
            </a:r>
            <a:endParaRPr lang="en-US" sz="2400" dirty="0">
              <a:latin typeface="Guttman Keren" pitchFamily="2" charset="-79"/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400" dirty="0">
                <a:latin typeface="Guttman Keren" pitchFamily="2" charset="-79"/>
                <a:cs typeface="Guttman Keren" pitchFamily="2" charset="-79"/>
              </a:rPr>
              <a:t>(</a:t>
            </a:r>
            <a:r>
              <a:rPr lang="he-IL" sz="2400" dirty="0" err="1">
                <a:latin typeface="Guttman Keren" pitchFamily="2" charset="-79"/>
                <a:cs typeface="Guttman Keren" pitchFamily="2" charset="-79"/>
              </a:rPr>
              <a:t>כג</a:t>
            </a:r>
            <a:r>
              <a:rPr lang="he-IL" sz="2400" dirty="0">
                <a:latin typeface="Guttman Keren" pitchFamily="2" charset="-79"/>
                <a:cs typeface="Guttman Keren" pitchFamily="2" charset="-79"/>
              </a:rPr>
              <a:t>) </a:t>
            </a:r>
            <a:r>
              <a:rPr lang="he-IL" sz="2400" dirty="0" err="1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הִשָּׁמְרו</a:t>
            </a:r>
            <a:r>
              <a:rPr lang="he-IL" sz="2400" dirty="0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ּ לָכֶם פֶּן תִּשְׁכְּחוּ </a:t>
            </a:r>
            <a:r>
              <a:rPr lang="he-IL" sz="2400" dirty="0">
                <a:solidFill>
                  <a:srgbClr val="FF00FF"/>
                </a:solidFill>
                <a:latin typeface="Guttman Keren" pitchFamily="2" charset="-79"/>
                <a:cs typeface="Guttman Keren" pitchFamily="2" charset="-79"/>
              </a:rPr>
              <a:t>אֶת בְּרִית ה’ </a:t>
            </a:r>
            <a:r>
              <a:rPr lang="he-IL" sz="2400" dirty="0" err="1">
                <a:solidFill>
                  <a:srgbClr val="FF00FF"/>
                </a:solidFill>
                <a:latin typeface="Guttman Keren" pitchFamily="2" charset="-79"/>
                <a:cs typeface="Guttman Keren" pitchFamily="2" charset="-79"/>
              </a:rPr>
              <a:t>אֱלֹהֵיכֶם</a:t>
            </a:r>
            <a:r>
              <a:rPr lang="he-IL" sz="2400" dirty="0">
                <a:solidFill>
                  <a:srgbClr val="FF00FF"/>
                </a:solidFill>
                <a:latin typeface="Guttman Keren" pitchFamily="2" charset="-79"/>
                <a:cs typeface="Guttman Keren" pitchFamily="2" charset="-79"/>
              </a:rPr>
              <a:t> אֲשֶׁר כָּרַת עִמָּכֶם</a:t>
            </a:r>
            <a:r>
              <a:rPr lang="he-IL" sz="2400" dirty="0"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400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וַעֲשִׂיתֶם לָכֶם פֶּסֶל תְּמוּנַת כֹּל</a:t>
            </a:r>
            <a:r>
              <a:rPr lang="he-IL" sz="2400" dirty="0">
                <a:latin typeface="Guttman Keren" pitchFamily="2" charset="-79"/>
                <a:cs typeface="Guttman Keren" pitchFamily="2" charset="-79"/>
              </a:rPr>
              <a:t> אֲשֶׁר </a:t>
            </a:r>
            <a:r>
              <a:rPr lang="he-IL" sz="2400" dirty="0" err="1">
                <a:latin typeface="Guttman Keren" pitchFamily="2" charset="-79"/>
                <a:cs typeface="Guttman Keren" pitchFamily="2" charset="-79"/>
              </a:rPr>
              <a:t>צִוְּך</a:t>
            </a:r>
            <a:r>
              <a:rPr lang="he-IL" sz="2400" dirty="0">
                <a:latin typeface="Guttman Keren" pitchFamily="2" charset="-79"/>
                <a:cs typeface="Guttman Keren" pitchFamily="2" charset="-79"/>
              </a:rPr>
              <a:t>ָ ה’ </a:t>
            </a:r>
            <a:r>
              <a:rPr lang="he-IL" sz="2400" dirty="0" err="1">
                <a:latin typeface="Guttman Keren" pitchFamily="2" charset="-79"/>
                <a:cs typeface="Guttman Keren" pitchFamily="2" charset="-79"/>
              </a:rPr>
              <a:t>אֱלֹהֶיך</a:t>
            </a:r>
            <a:r>
              <a:rPr lang="he-IL" sz="2400" dirty="0">
                <a:latin typeface="Guttman Keren" pitchFamily="2" charset="-79"/>
                <a:cs typeface="Guttman Keren" pitchFamily="2" charset="-79"/>
              </a:rPr>
              <a:t>ָ:</a:t>
            </a:r>
            <a:endParaRPr lang="en-US" sz="2400" dirty="0">
              <a:latin typeface="Guttman Keren" pitchFamily="2" charset="-79"/>
              <a:cs typeface="Guttman Keren" pitchFamily="2" charset="-79"/>
            </a:endParaRPr>
          </a:p>
          <a:p>
            <a:pPr marL="0" indent="0">
              <a:buNone/>
            </a:pPr>
            <a:endParaRPr lang="he-IL" sz="2400" dirty="0"/>
          </a:p>
        </p:txBody>
      </p:sp>
      <p:sp>
        <p:nvSpPr>
          <p:cNvPr id="4" name="כותרת 1"/>
          <p:cNvSpPr>
            <a:spLocks noGrp="1"/>
          </p:cNvSpPr>
          <p:nvPr>
            <p:ph type="title"/>
          </p:nvPr>
        </p:nvSpPr>
        <p:spPr>
          <a:xfrm>
            <a:off x="306070" y="274638"/>
            <a:ext cx="5509260" cy="706090"/>
          </a:xfrm>
        </p:spPr>
        <p:txBody>
          <a:bodyPr>
            <a:normAutofit/>
          </a:bodyPr>
          <a:lstStyle/>
          <a:p>
            <a:r>
              <a:rPr lang="he-IL" sz="3600" dirty="0" smtClean="0">
                <a:solidFill>
                  <a:srgbClr val="3333FF"/>
                </a:solidFill>
                <a:latin typeface="Guttman Calligraphic" pitchFamily="2" charset="-79"/>
                <a:cs typeface="Guttman Calligraphic" pitchFamily="2" charset="-79"/>
              </a:rPr>
              <a:t>נאום פתיחה – לקח היסטורי 2</a:t>
            </a:r>
            <a:endParaRPr lang="he-IL" sz="3600" dirty="0"/>
          </a:p>
        </p:txBody>
      </p:sp>
    </p:spTree>
    <p:extLst>
      <p:ext uri="{BB962C8B-B14F-4D97-AF65-F5344CB8AC3E}">
        <p14:creationId xmlns:p14="http://schemas.microsoft.com/office/powerpoint/2010/main" val="15883150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313510" y="1124793"/>
            <a:ext cx="5509260" cy="1008063"/>
          </a:xfrm>
        </p:spPr>
        <p:txBody>
          <a:bodyPr>
            <a:normAutofit/>
          </a:bodyPr>
          <a:lstStyle/>
          <a:p>
            <a:pPr eaLnBrk="1" hangingPunct="1"/>
            <a:r>
              <a:rPr lang="he-IL" sz="2000" dirty="0" smtClean="0">
                <a:cs typeface="David" pitchFamily="34" charset="-79"/>
              </a:rPr>
              <a:t>(לב) כִּי שְׁאַל נָא לְיָמִים רִאשֹׁנִים אֲשֶׁר הָיוּ לְפָנֶיךָ לְמִן הַיּוֹם אֲשֶׁר בָּרָא אֱלֹהִים אָדָם עַל הָאָרֶץ וּלְמִקְצֵה הַשָּׁמַיִם וְעַד קְצֵה הַשָּׁמָיִם הֲנִהְיָה כַּדָּבָר הַגָּדוֹל הַזֶּה אוֹ הֲנִשְׁמַע כָּמֹהוּ:</a:t>
            </a:r>
            <a:endParaRPr lang="en-US" sz="2000" dirty="0" smtClean="0">
              <a:cs typeface="David" pitchFamily="34" charset="-79"/>
            </a:endParaRPr>
          </a:p>
        </p:txBody>
      </p:sp>
      <p:sp>
        <p:nvSpPr>
          <p:cNvPr id="3277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6070" y="1945463"/>
            <a:ext cx="2703618" cy="3209701"/>
          </a:xfrm>
        </p:spPr>
        <p:txBody>
          <a:bodyPr>
            <a:normAutofit/>
          </a:bodyPr>
          <a:lstStyle/>
          <a:p>
            <a:pPr marL="0" indent="0" algn="ctr" eaLnBrk="1" hangingPunct="1">
              <a:lnSpc>
                <a:spcPct val="125000"/>
              </a:lnSpc>
              <a:spcBef>
                <a:spcPct val="0"/>
              </a:spcBef>
              <a:buNone/>
            </a:pPr>
            <a:endParaRPr lang="he-IL" sz="2000" b="1" dirty="0" smtClean="0">
              <a:solidFill>
                <a:srgbClr val="FF0000"/>
              </a:solidFill>
            </a:endParaRPr>
          </a:p>
          <a:p>
            <a:pPr marL="0" indent="0" algn="ctr">
              <a:lnSpc>
                <a:spcPct val="125000"/>
              </a:lnSpc>
              <a:spcBef>
                <a:spcPct val="0"/>
              </a:spcBef>
              <a:buNone/>
            </a:pPr>
            <a:r>
              <a:rPr lang="he-IL" sz="2000" dirty="0">
                <a:cs typeface="David" pitchFamily="34" charset="-79"/>
              </a:rPr>
              <a:t>(</a:t>
            </a:r>
            <a:r>
              <a:rPr lang="he-IL" sz="2000" dirty="0" smtClean="0">
                <a:cs typeface="David" pitchFamily="34" charset="-79"/>
              </a:rPr>
              <a:t>לו) </a:t>
            </a:r>
            <a:r>
              <a:rPr lang="he-IL" sz="2000" b="1" dirty="0" smtClean="0">
                <a:solidFill>
                  <a:srgbClr val="FF0000"/>
                </a:solidFill>
              </a:rPr>
              <a:t>מעמד הר סיני</a:t>
            </a:r>
            <a:endParaRPr lang="he-IL" sz="2000" dirty="0" smtClean="0">
              <a:cs typeface="David" pitchFamily="34" charset="-79"/>
            </a:endParaRPr>
          </a:p>
          <a:p>
            <a:pPr marL="0" indent="0" algn="ctr">
              <a:lnSpc>
                <a:spcPct val="125000"/>
              </a:lnSpc>
              <a:spcBef>
                <a:spcPct val="0"/>
              </a:spcBef>
              <a:buNone/>
            </a:pPr>
            <a:r>
              <a:rPr lang="he-IL" sz="2000" dirty="0">
                <a:cs typeface="David" pitchFamily="34" charset="-79"/>
              </a:rPr>
              <a:t>(</a:t>
            </a:r>
            <a:r>
              <a:rPr lang="he-IL" sz="2000" dirty="0" err="1" smtClean="0">
                <a:cs typeface="David" pitchFamily="34" charset="-79"/>
              </a:rPr>
              <a:t>לז</a:t>
            </a:r>
            <a:r>
              <a:rPr lang="he-IL" sz="2000" dirty="0" smtClean="0">
                <a:cs typeface="David" pitchFamily="34" charset="-79"/>
              </a:rPr>
              <a:t>-לח) </a:t>
            </a:r>
            <a:r>
              <a:rPr lang="he-IL" sz="2000" b="1" dirty="0" smtClean="0">
                <a:solidFill>
                  <a:srgbClr val="FF0000"/>
                </a:solidFill>
              </a:rPr>
              <a:t>יציאת מצרים</a:t>
            </a:r>
            <a:r>
              <a:rPr lang="he-IL" sz="2000" dirty="0" smtClean="0">
                <a:cs typeface="David" pitchFamily="34" charset="-79"/>
              </a:rPr>
              <a:t> 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endParaRPr lang="he-IL" sz="2000" dirty="0" smtClean="0">
              <a:cs typeface="David" pitchFamily="34" charset="-79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he-IL" sz="2000" dirty="0" smtClean="0">
                <a:cs typeface="David" pitchFamily="34" charset="-79"/>
              </a:rPr>
              <a:t>(לט) </a:t>
            </a:r>
            <a:r>
              <a:rPr lang="he-IL" sz="2000" dirty="0" smtClean="0">
                <a:solidFill>
                  <a:srgbClr val="FF0000"/>
                </a:solidFill>
                <a:cs typeface="David" pitchFamily="34" charset="-79"/>
              </a:rPr>
              <a:t>וְיָדַעְתָּ הַיּוֹם וַהֲשֵׁבֹתָ אֶל 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he-IL" sz="2000" dirty="0">
                <a:solidFill>
                  <a:srgbClr val="FF0000"/>
                </a:solidFill>
                <a:cs typeface="David" pitchFamily="34" charset="-79"/>
              </a:rPr>
              <a:t>ל</a:t>
            </a:r>
            <a:r>
              <a:rPr lang="he-IL" sz="2000" dirty="0" smtClean="0">
                <a:solidFill>
                  <a:srgbClr val="FF0000"/>
                </a:solidFill>
                <a:cs typeface="David" pitchFamily="34" charset="-79"/>
              </a:rPr>
              <a:t>ְבָבֶךָ כִּי ה’ הוּא </a:t>
            </a:r>
            <a:r>
              <a:rPr lang="he-IL" sz="2000" dirty="0" err="1" smtClean="0">
                <a:solidFill>
                  <a:srgbClr val="FF0000"/>
                </a:solidFill>
                <a:cs typeface="David" pitchFamily="34" charset="-79"/>
              </a:rPr>
              <a:t>הָאֱלֹהִים</a:t>
            </a:r>
            <a:endParaRPr lang="he-IL" sz="2000" dirty="0">
              <a:solidFill>
                <a:srgbClr val="FF0000"/>
              </a:solidFill>
              <a:cs typeface="David" pitchFamily="34" charset="-79"/>
            </a:endParaRP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he-IL" sz="2000" dirty="0" smtClean="0">
                <a:solidFill>
                  <a:srgbClr val="FF0000"/>
                </a:solidFill>
                <a:cs typeface="David" pitchFamily="34" charset="-79"/>
              </a:rPr>
              <a:t>בַּשָּׁמַיִם מִמַּעַל וְעַל הָאָרֶץ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he-IL" sz="2000" dirty="0" smtClean="0">
                <a:solidFill>
                  <a:srgbClr val="FF0000"/>
                </a:solidFill>
                <a:cs typeface="David" pitchFamily="34" charset="-79"/>
              </a:rPr>
              <a:t>מִתָּחַת אֵין עוֹד:</a:t>
            </a:r>
          </a:p>
          <a:p>
            <a:pPr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endParaRPr lang="en-US" sz="2000" dirty="0" smtClean="0"/>
          </a:p>
        </p:txBody>
      </p:sp>
      <p:sp>
        <p:nvSpPr>
          <p:cNvPr id="32772" name="Rectangle 4"/>
          <p:cNvSpPr>
            <a:spLocks noGrp="1" noChangeArrowheads="1"/>
          </p:cNvSpPr>
          <p:nvPr>
            <p:ph type="body" sz="half" idx="2"/>
          </p:nvPr>
        </p:nvSpPr>
        <p:spPr>
          <a:xfrm>
            <a:off x="3111712" y="1945463"/>
            <a:ext cx="2703618" cy="3209701"/>
          </a:xfrm>
        </p:spPr>
        <p:txBody>
          <a:bodyPr>
            <a:normAutofit/>
          </a:bodyPr>
          <a:lstStyle/>
          <a:p>
            <a:pPr marL="0" indent="0" algn="ctr" eaLnBrk="1" hangingPunct="1">
              <a:lnSpc>
                <a:spcPct val="125000"/>
              </a:lnSpc>
              <a:spcBef>
                <a:spcPct val="0"/>
              </a:spcBef>
              <a:buNone/>
            </a:pPr>
            <a:endParaRPr lang="he-IL" sz="2000" b="1" dirty="0" smtClean="0">
              <a:solidFill>
                <a:srgbClr val="FF0000"/>
              </a:solidFill>
            </a:endParaRPr>
          </a:p>
          <a:p>
            <a:pPr marL="0" indent="0" algn="ctr">
              <a:lnSpc>
                <a:spcPct val="125000"/>
              </a:lnSpc>
              <a:spcBef>
                <a:spcPct val="0"/>
              </a:spcBef>
              <a:buNone/>
            </a:pPr>
            <a:r>
              <a:rPr lang="he-IL" sz="2000" dirty="0">
                <a:cs typeface="David" pitchFamily="34" charset="-79"/>
              </a:rPr>
              <a:t>(</a:t>
            </a:r>
            <a:r>
              <a:rPr lang="he-IL" sz="2000" dirty="0" smtClean="0">
                <a:cs typeface="David" pitchFamily="34" charset="-79"/>
              </a:rPr>
              <a:t>לג) </a:t>
            </a:r>
            <a:r>
              <a:rPr lang="he-IL" sz="2000" b="1" dirty="0" smtClean="0">
                <a:solidFill>
                  <a:srgbClr val="FF0000"/>
                </a:solidFill>
              </a:rPr>
              <a:t>מעמד הר סיני</a:t>
            </a:r>
            <a:endParaRPr lang="he-IL" sz="2000" dirty="0">
              <a:cs typeface="David" pitchFamily="34" charset="-79"/>
            </a:endParaRPr>
          </a:p>
          <a:p>
            <a:pPr marL="0" indent="0" algn="ctr">
              <a:lnSpc>
                <a:spcPct val="125000"/>
              </a:lnSpc>
              <a:spcBef>
                <a:spcPct val="0"/>
              </a:spcBef>
              <a:buNone/>
            </a:pPr>
            <a:r>
              <a:rPr lang="he-IL" sz="2000" dirty="0">
                <a:cs typeface="David" pitchFamily="34" charset="-79"/>
              </a:rPr>
              <a:t>(</a:t>
            </a:r>
            <a:r>
              <a:rPr lang="he-IL" sz="2000" dirty="0" smtClean="0">
                <a:cs typeface="David" pitchFamily="34" charset="-79"/>
              </a:rPr>
              <a:t>לד) </a:t>
            </a:r>
            <a:r>
              <a:rPr lang="he-IL" sz="2000" b="1" dirty="0" smtClean="0">
                <a:solidFill>
                  <a:srgbClr val="FF0000"/>
                </a:solidFill>
              </a:rPr>
              <a:t>יציאת מצרים</a:t>
            </a:r>
            <a:endParaRPr lang="he-IL" sz="2000" dirty="0" smtClean="0">
              <a:cs typeface="David" pitchFamily="34" charset="-79"/>
            </a:endParaRPr>
          </a:p>
          <a:p>
            <a:pPr marL="533400" indent="-533400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endParaRPr lang="he-IL" sz="2000" dirty="0" smtClean="0">
              <a:cs typeface="David" pitchFamily="34" charset="-79"/>
            </a:endParaRPr>
          </a:p>
          <a:p>
            <a:pPr marL="533400" indent="-533400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he-IL" sz="2000" dirty="0" smtClean="0">
                <a:cs typeface="David" pitchFamily="34" charset="-79"/>
              </a:rPr>
              <a:t>(לה) </a:t>
            </a:r>
            <a:r>
              <a:rPr lang="he-IL" sz="2000" dirty="0" smtClean="0">
                <a:solidFill>
                  <a:srgbClr val="FF0000"/>
                </a:solidFill>
                <a:cs typeface="David" pitchFamily="34" charset="-79"/>
              </a:rPr>
              <a:t>אַתָּה </a:t>
            </a:r>
            <a:r>
              <a:rPr lang="he-IL" sz="2000" dirty="0" err="1" smtClean="0">
                <a:solidFill>
                  <a:srgbClr val="FF0000"/>
                </a:solidFill>
                <a:cs typeface="David" pitchFamily="34" charset="-79"/>
              </a:rPr>
              <a:t>הָרְאֵת</a:t>
            </a:r>
            <a:r>
              <a:rPr lang="he-IL" sz="2000" dirty="0" smtClean="0">
                <a:solidFill>
                  <a:srgbClr val="FF0000"/>
                </a:solidFill>
                <a:cs typeface="David" pitchFamily="34" charset="-79"/>
              </a:rPr>
              <a:t>ָ לָדַעַת כִּי</a:t>
            </a:r>
          </a:p>
          <a:p>
            <a:pPr marL="533400" indent="-533400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he-IL" sz="2000" dirty="0" smtClean="0">
                <a:solidFill>
                  <a:srgbClr val="FF0000"/>
                </a:solidFill>
                <a:cs typeface="David" pitchFamily="34" charset="-79"/>
              </a:rPr>
              <a:t>ה’ הוּא </a:t>
            </a:r>
            <a:r>
              <a:rPr lang="he-IL" sz="2000" dirty="0" err="1" smtClean="0">
                <a:solidFill>
                  <a:srgbClr val="FF0000"/>
                </a:solidFill>
                <a:cs typeface="David" pitchFamily="34" charset="-79"/>
              </a:rPr>
              <a:t>הָאֱלֹהִים</a:t>
            </a:r>
            <a:r>
              <a:rPr lang="he-IL" sz="2000" dirty="0" smtClean="0">
                <a:solidFill>
                  <a:srgbClr val="FF0000"/>
                </a:solidFill>
                <a:cs typeface="David" pitchFamily="34" charset="-79"/>
              </a:rPr>
              <a:t> אֵין עוֹד</a:t>
            </a:r>
          </a:p>
          <a:p>
            <a:pPr marL="533400" indent="-533400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r>
              <a:rPr lang="he-IL" sz="2000" dirty="0" smtClean="0">
                <a:solidFill>
                  <a:srgbClr val="FF0000"/>
                </a:solidFill>
                <a:cs typeface="David" pitchFamily="34" charset="-79"/>
              </a:rPr>
              <a:t>מִלְבַדּוֹ:</a:t>
            </a:r>
          </a:p>
          <a:p>
            <a:pPr marL="533400" indent="-533400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endParaRPr lang="he-IL" sz="2000" dirty="0" smtClean="0">
              <a:cs typeface="David" pitchFamily="34" charset="-79"/>
            </a:endParaRPr>
          </a:p>
          <a:p>
            <a:pPr marL="533400" indent="-533400" eaLnBrk="1" hangingPunct="1">
              <a:lnSpc>
                <a:spcPct val="125000"/>
              </a:lnSpc>
              <a:spcBef>
                <a:spcPct val="0"/>
              </a:spcBef>
              <a:buFontTx/>
              <a:buNone/>
            </a:pPr>
            <a:endParaRPr lang="en-US" sz="2000" dirty="0" smtClean="0"/>
          </a:p>
        </p:txBody>
      </p:sp>
      <p:sp>
        <p:nvSpPr>
          <p:cNvPr id="32773" name="Text Box 5"/>
          <p:cNvSpPr txBox="1">
            <a:spLocks noChangeArrowheads="1"/>
          </p:cNvSpPr>
          <p:nvPr/>
        </p:nvSpPr>
        <p:spPr bwMode="auto">
          <a:xfrm>
            <a:off x="1116484" y="5489937"/>
            <a:ext cx="3808871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20000"/>
              </a:spcBef>
            </a:pPr>
            <a:r>
              <a:rPr lang="he-IL" sz="2000" dirty="0">
                <a:cs typeface="David" pitchFamily="34" charset="-79"/>
              </a:rPr>
              <a:t>(מ) </a:t>
            </a:r>
            <a:r>
              <a:rPr lang="he-IL" sz="2000" dirty="0">
                <a:solidFill>
                  <a:srgbClr val="0000FF"/>
                </a:solidFill>
                <a:cs typeface="David" pitchFamily="34" charset="-79"/>
              </a:rPr>
              <a:t>וְשָׁמַרְתָּ אֶת </a:t>
            </a:r>
            <a:r>
              <a:rPr lang="he-IL" sz="2000" dirty="0" err="1">
                <a:solidFill>
                  <a:srgbClr val="0000FF"/>
                </a:solidFill>
                <a:cs typeface="David" pitchFamily="34" charset="-79"/>
              </a:rPr>
              <a:t>חֻקָּיו</a:t>
            </a:r>
            <a:r>
              <a:rPr lang="he-IL" sz="2000" dirty="0">
                <a:solidFill>
                  <a:srgbClr val="0000FF"/>
                </a:solidFill>
                <a:cs typeface="David" pitchFamily="34" charset="-79"/>
              </a:rPr>
              <a:t> וְאֶת מִצְוֹתָיו אֲשֶׁר אָנֹכִי </a:t>
            </a:r>
            <a:r>
              <a:rPr lang="he-IL" sz="2000" dirty="0" err="1">
                <a:solidFill>
                  <a:srgbClr val="0000FF"/>
                </a:solidFill>
                <a:cs typeface="David" pitchFamily="34" charset="-79"/>
              </a:rPr>
              <a:t>מְצַוְּך</a:t>
            </a:r>
            <a:r>
              <a:rPr lang="he-IL" sz="2000" dirty="0">
                <a:solidFill>
                  <a:srgbClr val="0000FF"/>
                </a:solidFill>
                <a:cs typeface="David" pitchFamily="34" charset="-79"/>
              </a:rPr>
              <a:t>ָ הַיּוֹם אֲשֶׁר יִיטַב לְךָ וּלְבָנֶיךָ אַחֲרֶיךָ וּלְמַעַן תַּאֲרִיךְ יָמִים עַל הָאֲדָמָה אֲשֶׁר ה’ </a:t>
            </a:r>
            <a:r>
              <a:rPr lang="he-IL" sz="2000" dirty="0" err="1">
                <a:solidFill>
                  <a:srgbClr val="0000FF"/>
                </a:solidFill>
                <a:cs typeface="David" pitchFamily="34" charset="-79"/>
              </a:rPr>
              <a:t>אֱלֹהֶיך</a:t>
            </a:r>
            <a:r>
              <a:rPr lang="he-IL" sz="2000" dirty="0">
                <a:solidFill>
                  <a:srgbClr val="0000FF"/>
                </a:solidFill>
                <a:cs typeface="David" pitchFamily="34" charset="-79"/>
              </a:rPr>
              <a:t>ָ נֹתֵן לְךָ כָּל הַיָּמִים</a:t>
            </a:r>
            <a:r>
              <a:rPr lang="he-IL" sz="2000" dirty="0">
                <a:cs typeface="David" pitchFamily="34" charset="-79"/>
              </a:rPr>
              <a:t>: </a:t>
            </a:r>
            <a:endParaRPr lang="en-US" sz="2000" dirty="0">
              <a:cs typeface="David" pitchFamily="34" charset="-79"/>
            </a:endParaRPr>
          </a:p>
        </p:txBody>
      </p:sp>
      <p:sp>
        <p:nvSpPr>
          <p:cNvPr id="7174" name="Text Box 6"/>
          <p:cNvSpPr txBox="1">
            <a:spLocks noChangeArrowheads="1"/>
          </p:cNvSpPr>
          <p:nvPr/>
        </p:nvSpPr>
        <p:spPr bwMode="auto">
          <a:xfrm>
            <a:off x="-35644" y="6402814"/>
            <a:ext cx="1404516" cy="3385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  <a:cs typeface="Arial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he-IL" sz="1600" dirty="0"/>
              <a:t>(דברים פרק ד')</a:t>
            </a:r>
            <a:endParaRPr lang="en-US" sz="1600" dirty="0"/>
          </a:p>
        </p:txBody>
      </p:sp>
      <p:sp>
        <p:nvSpPr>
          <p:cNvPr id="32775" name="Line 7"/>
          <p:cNvSpPr>
            <a:spLocks noChangeShapeType="1"/>
          </p:cNvSpPr>
          <p:nvPr/>
        </p:nvSpPr>
        <p:spPr bwMode="auto">
          <a:xfrm>
            <a:off x="4422939" y="3209986"/>
            <a:ext cx="0" cy="360363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32776" name="Line 8"/>
          <p:cNvSpPr>
            <a:spLocks noChangeShapeType="1"/>
          </p:cNvSpPr>
          <p:nvPr/>
        </p:nvSpPr>
        <p:spPr bwMode="auto">
          <a:xfrm>
            <a:off x="1614307" y="3183339"/>
            <a:ext cx="0" cy="360363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32777" name="Line 9"/>
          <p:cNvSpPr>
            <a:spLocks noChangeShapeType="1"/>
          </p:cNvSpPr>
          <p:nvPr/>
        </p:nvSpPr>
        <p:spPr bwMode="auto">
          <a:xfrm flipH="1">
            <a:off x="4073495" y="5155164"/>
            <a:ext cx="336889" cy="288925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32778" name="Line 10"/>
          <p:cNvSpPr>
            <a:spLocks noChangeShapeType="1"/>
          </p:cNvSpPr>
          <p:nvPr/>
        </p:nvSpPr>
        <p:spPr bwMode="auto">
          <a:xfrm>
            <a:off x="1607747" y="5157887"/>
            <a:ext cx="289066" cy="287337"/>
          </a:xfrm>
          <a:prstGeom prst="line">
            <a:avLst/>
          </a:prstGeom>
          <a:noFill/>
          <a:ln w="38100" cmpd="dbl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7179" name="Line 11"/>
          <p:cNvSpPr>
            <a:spLocks noChangeShapeType="1"/>
          </p:cNvSpPr>
          <p:nvPr/>
        </p:nvSpPr>
        <p:spPr bwMode="auto">
          <a:xfrm>
            <a:off x="3060700" y="2420888"/>
            <a:ext cx="0" cy="2522136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he-IL"/>
          </a:p>
        </p:txBody>
      </p:sp>
      <p:sp>
        <p:nvSpPr>
          <p:cNvPr id="13" name="כותרת 1"/>
          <p:cNvSpPr txBox="1">
            <a:spLocks/>
          </p:cNvSpPr>
          <p:nvPr/>
        </p:nvSpPr>
        <p:spPr>
          <a:xfrm>
            <a:off x="306070" y="274638"/>
            <a:ext cx="5509260" cy="70609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sz="3600" dirty="0" smtClean="0">
                <a:solidFill>
                  <a:srgbClr val="3333FF"/>
                </a:solidFill>
                <a:latin typeface="Guttman Calligraphic" pitchFamily="2" charset="-79"/>
                <a:cs typeface="Guttman Calligraphic" pitchFamily="2" charset="-79"/>
              </a:rPr>
              <a:t>נאום פתיחה – לקח היסטורי 3</a:t>
            </a:r>
            <a:endParaRPr lang="he-IL" sz="3600" dirty="0"/>
          </a:p>
        </p:txBody>
      </p:sp>
    </p:spTree>
    <p:extLst>
      <p:ext uri="{BB962C8B-B14F-4D97-AF65-F5344CB8AC3E}">
        <p14:creationId xmlns:p14="http://schemas.microsoft.com/office/powerpoint/2010/main" val="20037081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1000"/>
                                        <p:tgtEl>
                                          <p:spTgt spid="327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0"/>
                                        <p:tgtEl>
                                          <p:spTgt spid="3277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withGroup">
                            <p:stCondLst>
                              <p:cond delay="1750"/>
                            </p:stCondLst>
                            <p:childTnLst>
                              <p:par>
                                <p:cTn id="1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1000"/>
                                        <p:tgtEl>
                                          <p:spTgt spid="32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750"/>
                            </p:stCondLst>
                            <p:childTnLst>
                              <p:par>
                                <p:cTn id="1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3277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75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277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250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277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1000"/>
                                        <p:tgtEl>
                                          <p:spTgt spid="32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750"/>
                                        <p:tgtEl>
                                          <p:spTgt spid="32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withGroup">
                            <p:stCondLst>
                              <p:cond delay="1750"/>
                            </p:stCondLst>
                            <p:childTnLst>
                              <p:par>
                                <p:cTn id="3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1000"/>
                                        <p:tgtEl>
                                          <p:spTgt spid="32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750"/>
                            </p:stCondLst>
                            <p:childTnLst>
                              <p:par>
                                <p:cTn id="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1000"/>
                                        <p:tgtEl>
                                          <p:spTgt spid="32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75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327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4250"/>
                            </p:stCondLst>
                            <p:childTnLst>
                              <p:par>
                                <p:cTn id="5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32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750"/>
                            </p:stCondLst>
                            <p:childTnLst>
                              <p:par>
                                <p:cTn id="5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327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1000"/>
                                        <p:tgtEl>
                                          <p:spTgt spid="32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1000"/>
                                        <p:tgtEl>
                                          <p:spTgt spid="32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6" presetID="5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8" dur="1000"/>
                                        <p:tgtEl>
                                          <p:spTgt spid="32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771" grpId="0" uiExpand="1" build="p"/>
      <p:bldP spid="32772" grpId="0" uiExpand="1" build="p"/>
      <p:bldP spid="32773" grpId="0"/>
      <p:bldP spid="32775" grpId="0" animBg="1"/>
      <p:bldP spid="32776" grpId="0" animBg="1"/>
      <p:bldP spid="32777" grpId="0" animBg="1"/>
      <p:bldP spid="3277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06070" y="1124745"/>
            <a:ext cx="5509260" cy="5001420"/>
          </a:xfrm>
        </p:spPr>
        <p:txBody>
          <a:bodyPr>
            <a:noAutofit/>
          </a:bodyPr>
          <a:lstStyle/>
          <a:p>
            <a:pPr marL="0" lvl="1" indent="0" algn="just">
              <a:spcBef>
                <a:spcPts val="600"/>
              </a:spcBef>
              <a:buNone/>
            </a:pPr>
            <a:r>
              <a:rPr lang="he-IL" sz="2200" dirty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1: </a:t>
            </a:r>
            <a:r>
              <a:rPr lang="he-IL" sz="2200" dirty="0" smtClean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לֹא </a:t>
            </a:r>
            <a:r>
              <a:rPr lang="he-IL" sz="2200" dirty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תֹסִפוּ </a:t>
            </a:r>
            <a:r>
              <a:rPr lang="he-IL" sz="2200" dirty="0" smtClean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... וְלֹא </a:t>
            </a:r>
            <a:r>
              <a:rPr lang="he-IL" sz="2200" dirty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תִגְרְעוּ </a:t>
            </a:r>
            <a:r>
              <a:rPr lang="he-IL" sz="2200" dirty="0" smtClean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... </a:t>
            </a:r>
            <a:r>
              <a:rPr lang="he-IL" sz="2200" dirty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וְאַתֶּם הַדְּבֵקִים בַּה’ </a:t>
            </a:r>
            <a:r>
              <a:rPr lang="he-IL" sz="2200" dirty="0" err="1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אֱלֹהֵיכֶם</a:t>
            </a:r>
            <a:r>
              <a:rPr lang="he-IL" sz="2200" dirty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חַיִּים </a:t>
            </a:r>
            <a:r>
              <a:rPr lang="he-IL" sz="2200" dirty="0" err="1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כֻּלְּכֶם</a:t>
            </a:r>
            <a:r>
              <a:rPr lang="he-IL" sz="2200" dirty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200" dirty="0" smtClean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הַיּוֹם. </a:t>
            </a:r>
          </a:p>
          <a:p>
            <a:pPr marL="0" lvl="1" indent="0" algn="just">
              <a:spcBef>
                <a:spcPts val="600"/>
              </a:spcBef>
              <a:buNone/>
            </a:pPr>
            <a:endParaRPr lang="he-IL" sz="22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lvl="1" indent="0" algn="just">
              <a:spcBef>
                <a:spcPts val="600"/>
              </a:spcBef>
              <a:buNone/>
            </a:pPr>
            <a:r>
              <a:rPr lang="he-IL" sz="22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2</a:t>
            </a:r>
            <a:r>
              <a:rPr lang="he-IL" sz="22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r>
              <a:rPr lang="he-IL" sz="2200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הִשָּׁמְרו</a:t>
            </a:r>
            <a:r>
              <a:rPr lang="he-IL" sz="22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 לָכֶם פֶּן תִּשְׁכְּחוּ אֶת בְּרִית ה’ </a:t>
            </a:r>
            <a:r>
              <a:rPr lang="he-IL" sz="2200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אֱלֹהֵיכֶם</a:t>
            </a:r>
            <a:r>
              <a:rPr lang="he-IL" sz="22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אֲשֶׁר כָּרַת עִמָּכֶם וַעֲשִׂיתֶם לָכֶם פֶּסֶל תְּמוּנַת כֹּל אֲשֶׁר </a:t>
            </a:r>
            <a:r>
              <a:rPr lang="he-IL" sz="2200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צִוְּך</a:t>
            </a:r>
            <a:r>
              <a:rPr lang="he-IL" sz="22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 ה’ </a:t>
            </a:r>
            <a:r>
              <a:rPr lang="he-IL" sz="2200" dirty="0" err="1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2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ָ. </a:t>
            </a:r>
          </a:p>
          <a:p>
            <a:pPr marL="0" lvl="1" indent="0" algn="just">
              <a:spcBef>
                <a:spcPts val="600"/>
              </a:spcBef>
              <a:buNone/>
            </a:pPr>
            <a:endParaRPr lang="he-IL" sz="2200" dirty="0">
              <a:solidFill>
                <a:srgbClr val="FF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-533400" algn="just">
              <a:lnSpc>
                <a:spcPct val="125000"/>
              </a:lnSpc>
              <a:spcBef>
                <a:spcPts val="600"/>
              </a:spcBef>
              <a:buNone/>
            </a:pPr>
            <a:r>
              <a:rPr lang="he-IL" sz="2200" dirty="0" smtClean="0">
                <a:solidFill>
                  <a:srgbClr val="0000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3: וְיָדַעְתָּ </a:t>
            </a:r>
            <a:r>
              <a:rPr lang="he-IL" sz="2200" dirty="0">
                <a:solidFill>
                  <a:srgbClr val="0000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הַיּוֹם וַהֲשֵׁבֹתָ אֶל לְבָבֶךָ כִּי ה’ הוּא </a:t>
            </a:r>
            <a:r>
              <a:rPr lang="he-IL" sz="2200" dirty="0" err="1">
                <a:solidFill>
                  <a:srgbClr val="0000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הָאֱלֹהִים</a:t>
            </a:r>
            <a:r>
              <a:rPr lang="he-IL" sz="2200" dirty="0">
                <a:solidFill>
                  <a:srgbClr val="0000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בַּשָּׁמַיִם מִמַּעַל וְעַל הָאָרֶץ מִתָּחַת אֵין עוֹד:</a:t>
            </a:r>
          </a:p>
          <a:p>
            <a:pPr marL="0" indent="-533400" algn="just">
              <a:lnSpc>
                <a:spcPct val="125000"/>
              </a:lnSpc>
              <a:spcBef>
                <a:spcPts val="600"/>
              </a:spcBef>
              <a:buNone/>
            </a:pPr>
            <a:r>
              <a:rPr lang="he-IL" sz="2200" dirty="0">
                <a:solidFill>
                  <a:srgbClr val="0000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וְשָׁמַרְתָּ אֶת </a:t>
            </a:r>
            <a:r>
              <a:rPr lang="he-IL" sz="2200" dirty="0" err="1">
                <a:solidFill>
                  <a:srgbClr val="0000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חֻקָּיו</a:t>
            </a:r>
            <a:r>
              <a:rPr lang="he-IL" sz="2200" dirty="0">
                <a:solidFill>
                  <a:srgbClr val="0000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וְאֶת מִצְוֹתָיו </a:t>
            </a:r>
            <a:r>
              <a:rPr lang="he-IL" sz="2200" dirty="0" smtClean="0">
                <a:solidFill>
                  <a:srgbClr val="0000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... </a:t>
            </a:r>
            <a:endParaRPr lang="en-US" sz="2200" dirty="0">
              <a:solidFill>
                <a:srgbClr val="0000FF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>
              <a:lnSpc>
                <a:spcPct val="125000"/>
              </a:lnSpc>
              <a:spcBef>
                <a:spcPts val="600"/>
              </a:spcBef>
              <a:buNone/>
            </a:pPr>
            <a:endParaRPr lang="he-IL" sz="2200" dirty="0">
              <a:solidFill>
                <a:srgbClr val="FF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533400" indent="-533400">
              <a:lnSpc>
                <a:spcPct val="125000"/>
              </a:lnSpc>
              <a:spcBef>
                <a:spcPts val="600"/>
              </a:spcBef>
              <a:buNone/>
            </a:pPr>
            <a:endParaRPr lang="he-IL" sz="2200" dirty="0">
              <a:solidFill>
                <a:srgbClr val="FF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spcBef>
                <a:spcPts val="600"/>
              </a:spcBef>
              <a:buNone/>
            </a:pPr>
            <a:endParaRPr lang="he-IL" sz="22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4" name="כותרת 1"/>
          <p:cNvSpPr txBox="1">
            <a:spLocks/>
          </p:cNvSpPr>
          <p:nvPr/>
        </p:nvSpPr>
        <p:spPr>
          <a:xfrm>
            <a:off x="306070" y="274638"/>
            <a:ext cx="5509260" cy="706090"/>
          </a:xfrm>
          <a:prstGeom prst="rect">
            <a:avLst/>
          </a:prstGeom>
        </p:spPr>
        <p:txBody>
          <a:bodyPr vert="horz" lIns="91440" tIns="45720" rIns="91440" bIns="45720" rtlCol="1" anchor="ctr">
            <a:normAutofit fontScale="85000" lnSpcReduction="10000"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sz="3600" dirty="0" smtClean="0">
                <a:solidFill>
                  <a:srgbClr val="3333FF"/>
                </a:solidFill>
                <a:latin typeface="Guttman Calligraphic" pitchFamily="2" charset="-79"/>
                <a:cs typeface="Guttman Calligraphic" pitchFamily="2" charset="-79"/>
              </a:rPr>
              <a:t>נאום פתיחה – סיכום הלקח ההיסטורי</a:t>
            </a:r>
            <a:endParaRPr lang="he-IL" sz="3600" dirty="0"/>
          </a:p>
        </p:txBody>
      </p:sp>
    </p:spTree>
    <p:extLst>
      <p:ext uri="{BB962C8B-B14F-4D97-AF65-F5344CB8AC3E}">
        <p14:creationId xmlns:p14="http://schemas.microsoft.com/office/powerpoint/2010/main" val="4926421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-99392"/>
            <a:ext cx="5509260" cy="1143000"/>
          </a:xfrm>
        </p:spPr>
        <p:txBody>
          <a:bodyPr>
            <a:normAutofit/>
          </a:bodyPr>
          <a:lstStyle/>
          <a:p>
            <a:r>
              <a:rPr lang="he-IL" sz="3600" dirty="0" smtClean="0">
                <a:solidFill>
                  <a:srgbClr val="3333FF"/>
                </a:solidFill>
                <a:latin typeface="Guttman Calligraphic" pitchFamily="2" charset="-79"/>
                <a:cs typeface="Guttman Calligraphic" pitchFamily="2" charset="-79"/>
              </a:rPr>
              <a:t>מצוות וארץ ישראל</a:t>
            </a:r>
            <a:endParaRPr lang="he-IL" sz="3600" dirty="0">
              <a:solidFill>
                <a:srgbClr val="3333FF"/>
              </a:solidFill>
              <a:latin typeface="Guttman Calligraphic" pitchFamily="2" charset="-79"/>
              <a:cs typeface="Guttman Calligraphic" pitchFamily="2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421719" y="836712"/>
            <a:ext cx="4735326" cy="4925144"/>
          </a:xfrm>
        </p:spPr>
        <p:txBody>
          <a:bodyPr>
            <a:noAutofit/>
          </a:bodyPr>
          <a:lstStyle/>
          <a:p>
            <a:pPr algn="just"/>
            <a:r>
              <a:rPr lang="he-IL" sz="2300" dirty="0" smtClean="0"/>
              <a:t>ד', א: וְעַתָּה </a:t>
            </a:r>
            <a:r>
              <a:rPr lang="he-IL" sz="2300" dirty="0"/>
              <a:t>יִשְׂרָאֵל שְׁמַע אֶל </a:t>
            </a:r>
            <a:r>
              <a:rPr lang="he-IL" sz="2300" dirty="0" err="1"/>
              <a:t>הַחֻקִּים</a:t>
            </a:r>
            <a:r>
              <a:rPr lang="he-IL" sz="2300" dirty="0"/>
              <a:t> וְאֶל הַמִּשְׁפָּטִים אֲשֶׁר אָנֹכִי מְלַמֵּד אֶתְכֶם לַעֲשׂוֹת לְמַעַן תִּחְיוּ וּבָאתֶם וִירִשְׁתֶּם אֶת הָאָרֶץ אֲשֶׁר ה’ </a:t>
            </a:r>
            <a:r>
              <a:rPr lang="he-IL" sz="2300" dirty="0" err="1"/>
              <a:t>אֱלֹהֵי</a:t>
            </a:r>
            <a:r>
              <a:rPr lang="he-IL" sz="2300" dirty="0"/>
              <a:t> </a:t>
            </a:r>
            <a:r>
              <a:rPr lang="he-IL" sz="2300" dirty="0" err="1"/>
              <a:t>אֲבֹתֵיכֶם</a:t>
            </a:r>
            <a:r>
              <a:rPr lang="he-IL" sz="2300" dirty="0"/>
              <a:t> נֹתֵן לָכֶם</a:t>
            </a:r>
            <a:r>
              <a:rPr lang="he-IL" sz="2300" dirty="0" smtClean="0"/>
              <a:t>:</a:t>
            </a:r>
          </a:p>
          <a:p>
            <a:pPr algn="just"/>
            <a:endParaRPr lang="en-US" sz="2300" dirty="0"/>
          </a:p>
          <a:p>
            <a:pPr algn="just"/>
            <a:r>
              <a:rPr lang="he-IL" sz="2300" dirty="0"/>
              <a:t>ד', ה: רְאֵה לִמַּדְתִּי אֶתְכֶם </a:t>
            </a:r>
            <a:r>
              <a:rPr lang="he-IL" sz="2300" dirty="0" err="1"/>
              <a:t>חֻקִּים</a:t>
            </a:r>
            <a:r>
              <a:rPr lang="he-IL" sz="2300" dirty="0"/>
              <a:t> וּמִשְׁפָּטִים כַּאֲשֶׁר </a:t>
            </a:r>
            <a:r>
              <a:rPr lang="he-IL" sz="2300" dirty="0" err="1"/>
              <a:t>צִוַּנִי</a:t>
            </a:r>
            <a:r>
              <a:rPr lang="he-IL" sz="2300" dirty="0"/>
              <a:t> ה’ </a:t>
            </a:r>
            <a:r>
              <a:rPr lang="he-IL" sz="2300" dirty="0" err="1"/>
              <a:t>אֱלֹהָי</a:t>
            </a:r>
            <a:r>
              <a:rPr lang="he-IL" sz="2300" dirty="0"/>
              <a:t> לַעֲשׂוֹת כֵּן בְּקֶרֶב הָאָרֶץ אֲשֶׁר אַתֶּם בָּאִים שָׁמָּה לְרִשְׁתָּהּ:</a:t>
            </a:r>
          </a:p>
          <a:p>
            <a:pPr algn="just"/>
            <a:endParaRPr lang="en-US" sz="2300" dirty="0"/>
          </a:p>
          <a:p>
            <a:pPr algn="just"/>
            <a:r>
              <a:rPr lang="he-IL" sz="2300" dirty="0"/>
              <a:t>ד', מ: וְשָׁמַרְתָּ אֶת </a:t>
            </a:r>
            <a:r>
              <a:rPr lang="he-IL" sz="2300" dirty="0" err="1"/>
              <a:t>חֻקָּיו</a:t>
            </a:r>
            <a:r>
              <a:rPr lang="he-IL" sz="2300" dirty="0"/>
              <a:t> וְאֶת מִצְוֹתָיו אֲשֶׁר אָנֹכִי </a:t>
            </a:r>
            <a:r>
              <a:rPr lang="he-IL" sz="2300" dirty="0" err="1"/>
              <a:t>מְצַוְּך</a:t>
            </a:r>
            <a:r>
              <a:rPr lang="he-IL" sz="2300" dirty="0"/>
              <a:t>ָ הַיּוֹם אֲשֶׁר יִיטַב לְךָ וּלְבָנֶיךָ אַחֲרֶיךָ וּלְמַעַן תַּאֲרִיךְ יָמִים עַל הָאֲדָמָה אֲשֶׁר ה’ </a:t>
            </a:r>
            <a:r>
              <a:rPr lang="he-IL" sz="2300" dirty="0" err="1"/>
              <a:t>אֱלֹהֶיך</a:t>
            </a:r>
            <a:r>
              <a:rPr lang="he-IL" sz="2300" dirty="0"/>
              <a:t>ָ נֹתֵן לְךָ כָּל הַיָּמִים: </a:t>
            </a:r>
            <a:endParaRPr lang="en-US" sz="2300" dirty="0"/>
          </a:p>
        </p:txBody>
      </p:sp>
    </p:spTree>
    <p:extLst>
      <p:ext uri="{BB962C8B-B14F-4D97-AF65-F5344CB8AC3E}">
        <p14:creationId xmlns:p14="http://schemas.microsoft.com/office/powerpoint/2010/main" val="3384184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-99392"/>
            <a:ext cx="5509260" cy="1143000"/>
          </a:xfrm>
        </p:spPr>
        <p:txBody>
          <a:bodyPr>
            <a:normAutofit/>
          </a:bodyPr>
          <a:lstStyle/>
          <a:p>
            <a:r>
              <a:rPr lang="he-IL" sz="3600" dirty="0" smtClean="0">
                <a:solidFill>
                  <a:srgbClr val="3333FF"/>
                </a:solidFill>
                <a:latin typeface="Guttman Calligraphic" pitchFamily="2" charset="-79"/>
                <a:cs typeface="Guttman Calligraphic" pitchFamily="2" charset="-79"/>
              </a:rPr>
              <a:t>מצוות וארץ ישראל</a:t>
            </a:r>
            <a:endParaRPr lang="he-IL" sz="3600" dirty="0">
              <a:solidFill>
                <a:srgbClr val="3333FF"/>
              </a:solidFill>
              <a:latin typeface="Guttman Calligraphic" pitchFamily="2" charset="-79"/>
              <a:cs typeface="Guttman Calligraphic" pitchFamily="2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421719" y="836712"/>
            <a:ext cx="4735326" cy="4925144"/>
          </a:xfrm>
        </p:spPr>
        <p:txBody>
          <a:bodyPr>
            <a:noAutofit/>
          </a:bodyPr>
          <a:lstStyle/>
          <a:p>
            <a:pPr algn="just"/>
            <a:r>
              <a:rPr lang="he-IL" sz="2300" dirty="0" smtClean="0"/>
              <a:t>ד', א: וְעַתָּה </a:t>
            </a:r>
            <a:r>
              <a:rPr lang="he-IL" sz="2300" dirty="0"/>
              <a:t>יִשְׂרָאֵל שְׁמַע אֶל </a:t>
            </a:r>
            <a:r>
              <a:rPr lang="he-IL" sz="2300" dirty="0" err="1"/>
              <a:t>הַחֻקִּים</a:t>
            </a:r>
            <a:r>
              <a:rPr lang="he-IL" sz="2300" dirty="0"/>
              <a:t> וְאֶל הַמִּשְׁפָּטִים אֲשֶׁר אָנֹכִי מְלַמֵּד אֶתְכֶם לַעֲשׂוֹת </a:t>
            </a:r>
            <a:r>
              <a:rPr lang="he-IL" sz="2300" b="1" dirty="0">
                <a:solidFill>
                  <a:srgbClr val="FF33CC"/>
                </a:solidFill>
              </a:rPr>
              <a:t>לְמַעַן תִּחְיוּ וּבָאתֶם וִירִשְׁתֶּם אֶת הָאָרֶץ</a:t>
            </a:r>
            <a:r>
              <a:rPr lang="he-IL" sz="2300" dirty="0"/>
              <a:t> אֲשֶׁר ה’ </a:t>
            </a:r>
            <a:r>
              <a:rPr lang="he-IL" sz="2300" dirty="0" err="1"/>
              <a:t>אֱלֹהֵי</a:t>
            </a:r>
            <a:r>
              <a:rPr lang="he-IL" sz="2300" dirty="0"/>
              <a:t> </a:t>
            </a:r>
            <a:r>
              <a:rPr lang="he-IL" sz="2300" dirty="0" err="1"/>
              <a:t>אֲבֹתֵיכֶם</a:t>
            </a:r>
            <a:r>
              <a:rPr lang="he-IL" sz="2300" dirty="0"/>
              <a:t> נֹתֵן לָכֶם</a:t>
            </a:r>
            <a:r>
              <a:rPr lang="he-IL" sz="2300" dirty="0" smtClean="0"/>
              <a:t>:</a:t>
            </a:r>
          </a:p>
          <a:p>
            <a:pPr algn="just"/>
            <a:endParaRPr lang="en-US" sz="2300" dirty="0"/>
          </a:p>
          <a:p>
            <a:pPr algn="just"/>
            <a:r>
              <a:rPr lang="he-IL" sz="2300" dirty="0"/>
              <a:t>ד', ה: רְאֵה לִמַּדְתִּי אֶתְכֶם </a:t>
            </a:r>
            <a:r>
              <a:rPr lang="he-IL" sz="2300" dirty="0" err="1"/>
              <a:t>חֻקִּים</a:t>
            </a:r>
            <a:r>
              <a:rPr lang="he-IL" sz="2300" dirty="0"/>
              <a:t> וּמִשְׁפָּטִים כַּאֲשֶׁר </a:t>
            </a:r>
            <a:r>
              <a:rPr lang="he-IL" sz="2300" dirty="0" err="1"/>
              <a:t>צִוַּנִי</a:t>
            </a:r>
            <a:r>
              <a:rPr lang="he-IL" sz="2300" dirty="0"/>
              <a:t> ה’ </a:t>
            </a:r>
            <a:r>
              <a:rPr lang="he-IL" sz="2300" dirty="0" err="1"/>
              <a:t>אֱלֹהָי</a:t>
            </a:r>
            <a:r>
              <a:rPr lang="he-IL" sz="2300" dirty="0"/>
              <a:t> לַעֲשׂוֹת כֵּן בְּקֶרֶב הָאָרֶץ אֲשֶׁר אַתֶּם בָּאִים שָׁמָּה לְרִשְׁתָּהּ:</a:t>
            </a:r>
          </a:p>
          <a:p>
            <a:pPr algn="just"/>
            <a:endParaRPr lang="en-US" sz="2300" dirty="0"/>
          </a:p>
          <a:p>
            <a:pPr algn="just"/>
            <a:r>
              <a:rPr lang="he-IL" sz="2300" dirty="0"/>
              <a:t>ד', מ: וְשָׁמַרְתָּ אֶת </a:t>
            </a:r>
            <a:r>
              <a:rPr lang="he-IL" sz="2300" dirty="0" err="1"/>
              <a:t>חֻקָּיו</a:t>
            </a:r>
            <a:r>
              <a:rPr lang="he-IL" sz="2300" dirty="0"/>
              <a:t> וְאֶת מִצְוֹתָיו אֲשֶׁר אָנֹכִי </a:t>
            </a:r>
            <a:r>
              <a:rPr lang="he-IL" sz="2300" dirty="0" err="1"/>
              <a:t>מְצַוְּך</a:t>
            </a:r>
            <a:r>
              <a:rPr lang="he-IL" sz="2300" dirty="0"/>
              <a:t>ָ הַיּוֹם אֲשֶׁר יִיטַב לְךָ וּלְבָנֶיךָ אַחֲרֶיךָ וּלְמַעַן תַּאֲרִיךְ יָמִים עַל הָאֲדָמָה אֲשֶׁר ה’ </a:t>
            </a:r>
            <a:r>
              <a:rPr lang="he-IL" sz="2300" dirty="0" err="1"/>
              <a:t>אֱלֹהֶיך</a:t>
            </a:r>
            <a:r>
              <a:rPr lang="he-IL" sz="2300" dirty="0"/>
              <a:t>ָ נֹתֵן לְךָ כָּל הַיָּמִים: </a:t>
            </a:r>
            <a:endParaRPr lang="en-US" sz="2300" dirty="0"/>
          </a:p>
        </p:txBody>
      </p:sp>
      <p:sp>
        <p:nvSpPr>
          <p:cNvPr id="4" name="TextBox 3"/>
          <p:cNvSpPr txBox="1"/>
          <p:nvPr/>
        </p:nvSpPr>
        <p:spPr>
          <a:xfrm>
            <a:off x="6561" y="933683"/>
            <a:ext cx="1397955" cy="230832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 smtClean="0">
                <a:solidFill>
                  <a:srgbClr val="FF33CC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המצוות הן תנאי לירושת הארץ</a:t>
            </a:r>
          </a:p>
          <a:p>
            <a:endParaRPr lang="he-IL" b="1" dirty="0">
              <a:solidFill>
                <a:srgbClr val="FF33CC"/>
              </a:solidFill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  <a:p>
            <a:endParaRPr lang="he-IL" b="1" dirty="0" smtClean="0">
              <a:solidFill>
                <a:srgbClr val="FF33CC"/>
              </a:solidFill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  <a:p>
            <a:endParaRPr lang="he-IL" b="1" dirty="0">
              <a:solidFill>
                <a:srgbClr val="FF33CC"/>
              </a:solidFill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  <a:p>
            <a:endParaRPr lang="he-IL" b="1" dirty="0" smtClean="0">
              <a:solidFill>
                <a:srgbClr val="FF33CC"/>
              </a:solidFill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052195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-99392"/>
            <a:ext cx="5509260" cy="1143000"/>
          </a:xfrm>
        </p:spPr>
        <p:txBody>
          <a:bodyPr>
            <a:normAutofit/>
          </a:bodyPr>
          <a:lstStyle/>
          <a:p>
            <a:r>
              <a:rPr lang="he-IL" sz="3600" dirty="0" smtClean="0">
                <a:solidFill>
                  <a:srgbClr val="3333FF"/>
                </a:solidFill>
                <a:latin typeface="Guttman Calligraphic" pitchFamily="2" charset="-79"/>
                <a:cs typeface="Guttman Calligraphic" pitchFamily="2" charset="-79"/>
              </a:rPr>
              <a:t>מצוות וארץ ישראל</a:t>
            </a:r>
            <a:endParaRPr lang="he-IL" sz="3600" dirty="0">
              <a:solidFill>
                <a:srgbClr val="3333FF"/>
              </a:solidFill>
              <a:latin typeface="Guttman Calligraphic" pitchFamily="2" charset="-79"/>
              <a:cs typeface="Guttman Calligraphic" pitchFamily="2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421719" y="836712"/>
            <a:ext cx="4735326" cy="4925144"/>
          </a:xfrm>
        </p:spPr>
        <p:txBody>
          <a:bodyPr>
            <a:noAutofit/>
          </a:bodyPr>
          <a:lstStyle/>
          <a:p>
            <a:pPr algn="just"/>
            <a:r>
              <a:rPr lang="he-IL" sz="2300" dirty="0" smtClean="0"/>
              <a:t>ד', א: וְעַתָּה </a:t>
            </a:r>
            <a:r>
              <a:rPr lang="he-IL" sz="2300" dirty="0"/>
              <a:t>יִשְׂרָאֵל שְׁמַע אֶל </a:t>
            </a:r>
            <a:r>
              <a:rPr lang="he-IL" sz="2300" dirty="0" err="1"/>
              <a:t>הַחֻקִּים</a:t>
            </a:r>
            <a:r>
              <a:rPr lang="he-IL" sz="2300" dirty="0"/>
              <a:t> וְאֶל הַמִּשְׁפָּטִים אֲשֶׁר אָנֹכִי מְלַמֵּד אֶתְכֶם לַעֲשׂוֹת </a:t>
            </a:r>
            <a:r>
              <a:rPr lang="he-IL" sz="2300" b="1" dirty="0">
                <a:solidFill>
                  <a:srgbClr val="FF33CC"/>
                </a:solidFill>
              </a:rPr>
              <a:t>לְמַעַן תִּחְיוּ וּבָאתֶם וִירִשְׁתֶּם אֶת הָאָרֶץ</a:t>
            </a:r>
            <a:r>
              <a:rPr lang="he-IL" sz="2300" dirty="0"/>
              <a:t> אֲשֶׁר ה’ </a:t>
            </a:r>
            <a:r>
              <a:rPr lang="he-IL" sz="2300" dirty="0" err="1"/>
              <a:t>אֱלֹהֵי</a:t>
            </a:r>
            <a:r>
              <a:rPr lang="he-IL" sz="2300" dirty="0"/>
              <a:t> </a:t>
            </a:r>
            <a:r>
              <a:rPr lang="he-IL" sz="2300" dirty="0" err="1"/>
              <a:t>אֲבֹתֵיכֶם</a:t>
            </a:r>
            <a:r>
              <a:rPr lang="he-IL" sz="2300" dirty="0"/>
              <a:t> נֹתֵן לָכֶם</a:t>
            </a:r>
            <a:r>
              <a:rPr lang="he-IL" sz="2300" dirty="0" smtClean="0"/>
              <a:t>:</a:t>
            </a:r>
          </a:p>
          <a:p>
            <a:pPr algn="just"/>
            <a:endParaRPr lang="en-US" sz="2300" dirty="0"/>
          </a:p>
          <a:p>
            <a:pPr algn="just"/>
            <a:r>
              <a:rPr lang="he-IL" sz="2300" dirty="0" smtClean="0"/>
              <a:t>ד', ה: </a:t>
            </a:r>
            <a:r>
              <a:rPr lang="he-IL" sz="2300" dirty="0"/>
              <a:t>רְאֵה לִמַּדְתִּי אֶתְכֶם </a:t>
            </a:r>
            <a:r>
              <a:rPr lang="he-IL" sz="2300" dirty="0" err="1"/>
              <a:t>חֻקִּים</a:t>
            </a:r>
            <a:r>
              <a:rPr lang="he-IL" sz="2300" dirty="0"/>
              <a:t> וּמִשְׁפָּטִים כַּאֲשֶׁר </a:t>
            </a:r>
            <a:r>
              <a:rPr lang="he-IL" sz="2300" dirty="0" err="1"/>
              <a:t>צִוַּנִי</a:t>
            </a:r>
            <a:r>
              <a:rPr lang="he-IL" sz="2300" dirty="0"/>
              <a:t> ה’ </a:t>
            </a:r>
            <a:r>
              <a:rPr lang="he-IL" sz="2300" dirty="0" err="1"/>
              <a:t>אֱלֹהָי</a:t>
            </a:r>
            <a:r>
              <a:rPr lang="he-IL" sz="2300" dirty="0"/>
              <a:t> </a:t>
            </a:r>
            <a:r>
              <a:rPr lang="he-IL" sz="2300" b="1" dirty="0">
                <a:solidFill>
                  <a:srgbClr val="FF33CC"/>
                </a:solidFill>
              </a:rPr>
              <a:t>לַעֲשׂוֹת כֵּן בְּקֶרֶב הָאָרֶץ </a:t>
            </a:r>
            <a:r>
              <a:rPr lang="he-IL" sz="2300" dirty="0"/>
              <a:t>אֲשֶׁר אַתֶּם בָּאִים שָׁמָּה לְרִשְׁתָּהּ</a:t>
            </a:r>
            <a:r>
              <a:rPr lang="he-IL" sz="2300" dirty="0" smtClean="0"/>
              <a:t>:</a:t>
            </a:r>
          </a:p>
          <a:p>
            <a:pPr algn="just"/>
            <a:endParaRPr lang="en-US" sz="2300" dirty="0"/>
          </a:p>
          <a:p>
            <a:pPr algn="just"/>
            <a:r>
              <a:rPr lang="he-IL" sz="2300" dirty="0"/>
              <a:t>ד', מ: וְשָׁמַרְתָּ אֶת </a:t>
            </a:r>
            <a:r>
              <a:rPr lang="he-IL" sz="2300" dirty="0" err="1"/>
              <a:t>חֻקָּיו</a:t>
            </a:r>
            <a:r>
              <a:rPr lang="he-IL" sz="2300" dirty="0"/>
              <a:t> וְאֶת מִצְוֹתָיו אֲשֶׁר אָנֹכִי </a:t>
            </a:r>
            <a:r>
              <a:rPr lang="he-IL" sz="2300" dirty="0" err="1"/>
              <a:t>מְצַוְּך</a:t>
            </a:r>
            <a:r>
              <a:rPr lang="he-IL" sz="2300" dirty="0"/>
              <a:t>ָ הַיּוֹם אֲשֶׁר יִיטַב לְךָ וּלְבָנֶיךָ אַחֲרֶיךָ וּלְמַעַן תַּאֲרִיךְ יָמִים עַל הָאֲדָמָה אֲשֶׁר ה’ </a:t>
            </a:r>
            <a:r>
              <a:rPr lang="he-IL" sz="2300" dirty="0" err="1"/>
              <a:t>אֱלֹהֶיך</a:t>
            </a:r>
            <a:r>
              <a:rPr lang="he-IL" sz="2300" dirty="0"/>
              <a:t>ָ נֹתֵן לְךָ כָּל הַיָּמִים: </a:t>
            </a:r>
            <a:endParaRPr lang="en-US" sz="2300" dirty="0"/>
          </a:p>
        </p:txBody>
      </p:sp>
      <p:sp>
        <p:nvSpPr>
          <p:cNvPr id="4" name="TextBox 3"/>
          <p:cNvSpPr txBox="1"/>
          <p:nvPr/>
        </p:nvSpPr>
        <p:spPr>
          <a:xfrm>
            <a:off x="6561" y="933683"/>
            <a:ext cx="1397955" cy="429348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 smtClean="0">
                <a:solidFill>
                  <a:srgbClr val="FF33CC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המצוות הן תנאי לירושת הארץ</a:t>
            </a:r>
          </a:p>
          <a:p>
            <a:endParaRPr lang="he-IL" b="1" dirty="0">
              <a:solidFill>
                <a:srgbClr val="FF33CC"/>
              </a:solidFill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  <a:p>
            <a:endParaRPr lang="he-IL" b="1" dirty="0" smtClean="0">
              <a:solidFill>
                <a:srgbClr val="FF33CC"/>
              </a:solidFill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  <a:p>
            <a:endParaRPr lang="he-IL" b="1" dirty="0">
              <a:solidFill>
                <a:srgbClr val="FF33CC"/>
              </a:solidFill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  <a:p>
            <a:endParaRPr lang="he-IL" b="1" dirty="0" smtClean="0">
              <a:solidFill>
                <a:srgbClr val="FF33CC"/>
              </a:solidFill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  <a:p>
            <a:r>
              <a:rPr lang="he-IL" b="1" dirty="0" smtClean="0">
                <a:solidFill>
                  <a:srgbClr val="FF33CC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המצוות ניתנו על מנת לקיימן בארץ</a:t>
            </a:r>
          </a:p>
          <a:p>
            <a:endParaRPr lang="he-IL" sz="1100" b="1" dirty="0" smtClean="0">
              <a:solidFill>
                <a:srgbClr val="FF33CC"/>
              </a:solidFill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  <a:p>
            <a:endParaRPr lang="he-IL" sz="2800" b="1" dirty="0" smtClean="0">
              <a:solidFill>
                <a:srgbClr val="FF33CC"/>
              </a:solidFill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851344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-99392"/>
            <a:ext cx="5509260" cy="1143000"/>
          </a:xfrm>
        </p:spPr>
        <p:txBody>
          <a:bodyPr>
            <a:normAutofit/>
          </a:bodyPr>
          <a:lstStyle/>
          <a:p>
            <a:r>
              <a:rPr lang="he-IL" sz="3600" dirty="0" smtClean="0">
                <a:solidFill>
                  <a:srgbClr val="3333FF"/>
                </a:solidFill>
                <a:latin typeface="Guttman Calligraphic" pitchFamily="2" charset="-79"/>
                <a:cs typeface="Guttman Calligraphic" pitchFamily="2" charset="-79"/>
              </a:rPr>
              <a:t>מצוות וארץ ישראל</a:t>
            </a:r>
            <a:endParaRPr lang="he-IL" sz="3600" dirty="0">
              <a:solidFill>
                <a:srgbClr val="3333FF"/>
              </a:solidFill>
              <a:latin typeface="Guttman Calligraphic" pitchFamily="2" charset="-79"/>
              <a:cs typeface="Guttman Calligraphic" pitchFamily="2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421719" y="836712"/>
            <a:ext cx="4735326" cy="4925144"/>
          </a:xfrm>
        </p:spPr>
        <p:txBody>
          <a:bodyPr>
            <a:noAutofit/>
          </a:bodyPr>
          <a:lstStyle/>
          <a:p>
            <a:pPr algn="just"/>
            <a:r>
              <a:rPr lang="he-IL" sz="2300" dirty="0" smtClean="0"/>
              <a:t>ד', א: וְעַתָּה </a:t>
            </a:r>
            <a:r>
              <a:rPr lang="he-IL" sz="2300" dirty="0"/>
              <a:t>יִשְׂרָאֵל שְׁמַע אֶל </a:t>
            </a:r>
            <a:r>
              <a:rPr lang="he-IL" sz="2300" dirty="0" err="1"/>
              <a:t>הַחֻקִּים</a:t>
            </a:r>
            <a:r>
              <a:rPr lang="he-IL" sz="2300" dirty="0"/>
              <a:t> וְאֶל הַמִּשְׁפָּטִים אֲשֶׁר אָנֹכִי מְלַמֵּד אֶתְכֶם לַעֲשׂוֹת </a:t>
            </a:r>
            <a:r>
              <a:rPr lang="he-IL" sz="2300" b="1" dirty="0">
                <a:solidFill>
                  <a:srgbClr val="FF33CC"/>
                </a:solidFill>
              </a:rPr>
              <a:t>לְמַעַן תִּחְיוּ וּבָאתֶם וִירִשְׁתֶּם אֶת הָאָרֶץ</a:t>
            </a:r>
            <a:r>
              <a:rPr lang="he-IL" sz="2300" dirty="0"/>
              <a:t> אֲשֶׁר ה’ </a:t>
            </a:r>
            <a:r>
              <a:rPr lang="he-IL" sz="2300" dirty="0" err="1"/>
              <a:t>אֱלֹהֵי</a:t>
            </a:r>
            <a:r>
              <a:rPr lang="he-IL" sz="2300" dirty="0"/>
              <a:t> </a:t>
            </a:r>
            <a:r>
              <a:rPr lang="he-IL" sz="2300" dirty="0" err="1"/>
              <a:t>אֲבֹתֵיכֶם</a:t>
            </a:r>
            <a:r>
              <a:rPr lang="he-IL" sz="2300" dirty="0"/>
              <a:t> נֹתֵן לָכֶם</a:t>
            </a:r>
            <a:r>
              <a:rPr lang="he-IL" sz="2300" dirty="0" smtClean="0"/>
              <a:t>:</a:t>
            </a:r>
          </a:p>
          <a:p>
            <a:pPr algn="just"/>
            <a:endParaRPr lang="en-US" sz="2300" dirty="0"/>
          </a:p>
          <a:p>
            <a:pPr algn="just"/>
            <a:r>
              <a:rPr lang="he-IL" sz="2300" dirty="0" smtClean="0"/>
              <a:t>ד', ה: </a:t>
            </a:r>
            <a:r>
              <a:rPr lang="he-IL" sz="2300" dirty="0"/>
              <a:t>רְאֵה לִמַּדְתִּי אֶתְכֶם </a:t>
            </a:r>
            <a:r>
              <a:rPr lang="he-IL" sz="2300" dirty="0" err="1"/>
              <a:t>חֻקִּים</a:t>
            </a:r>
            <a:r>
              <a:rPr lang="he-IL" sz="2300" dirty="0"/>
              <a:t> וּמִשְׁפָּטִים כַּאֲשֶׁר </a:t>
            </a:r>
            <a:r>
              <a:rPr lang="he-IL" sz="2300" dirty="0" err="1"/>
              <a:t>צִוַּנִי</a:t>
            </a:r>
            <a:r>
              <a:rPr lang="he-IL" sz="2300" dirty="0"/>
              <a:t> ה’ </a:t>
            </a:r>
            <a:r>
              <a:rPr lang="he-IL" sz="2300" dirty="0" err="1"/>
              <a:t>אֱלֹהָי</a:t>
            </a:r>
            <a:r>
              <a:rPr lang="he-IL" sz="2300" dirty="0"/>
              <a:t> </a:t>
            </a:r>
            <a:r>
              <a:rPr lang="he-IL" sz="2300" b="1" dirty="0">
                <a:solidFill>
                  <a:srgbClr val="FF33CC"/>
                </a:solidFill>
              </a:rPr>
              <a:t>לַעֲשׂוֹת כֵּן בְּקֶרֶב הָאָרֶץ </a:t>
            </a:r>
            <a:r>
              <a:rPr lang="he-IL" sz="2300" dirty="0"/>
              <a:t>אֲשֶׁר אַתֶּם בָּאִים שָׁמָּה לְרִשְׁתָּהּ</a:t>
            </a:r>
            <a:r>
              <a:rPr lang="he-IL" sz="2300" dirty="0" smtClean="0"/>
              <a:t>:</a:t>
            </a:r>
          </a:p>
          <a:p>
            <a:pPr algn="just"/>
            <a:endParaRPr lang="en-US" sz="2300" dirty="0"/>
          </a:p>
          <a:p>
            <a:pPr algn="just"/>
            <a:r>
              <a:rPr lang="he-IL" sz="2300" dirty="0" smtClean="0"/>
              <a:t>ד', מ: </a:t>
            </a:r>
            <a:r>
              <a:rPr lang="he-IL" sz="2300" dirty="0"/>
              <a:t>וְשָׁמַרְתָּ אֶת </a:t>
            </a:r>
            <a:r>
              <a:rPr lang="he-IL" sz="2300" dirty="0" err="1"/>
              <a:t>חֻקָּיו</a:t>
            </a:r>
            <a:r>
              <a:rPr lang="he-IL" sz="2300" dirty="0"/>
              <a:t> וְאֶת מִצְוֹתָיו אֲשֶׁר אָנֹכִי </a:t>
            </a:r>
            <a:r>
              <a:rPr lang="he-IL" sz="2300" dirty="0" err="1"/>
              <a:t>מְצַוְּך</a:t>
            </a:r>
            <a:r>
              <a:rPr lang="he-IL" sz="2300" dirty="0"/>
              <a:t>ָ הַיּוֹם אֲשֶׁר יִיטַב לְךָ וּלְבָנֶיךָ אַחֲרֶיךָ </a:t>
            </a:r>
            <a:r>
              <a:rPr lang="he-IL" sz="2300" b="1" dirty="0">
                <a:solidFill>
                  <a:srgbClr val="FF33CC"/>
                </a:solidFill>
              </a:rPr>
              <a:t>וּלְמַעַן תַּאֲרִיךְ יָמִים עַל הָאֲדָמָה</a:t>
            </a:r>
            <a:r>
              <a:rPr lang="he-IL" sz="2300" dirty="0"/>
              <a:t> אֲשֶׁר ה’ </a:t>
            </a:r>
            <a:r>
              <a:rPr lang="he-IL" sz="2300" dirty="0" err="1"/>
              <a:t>אֱלֹהֶיך</a:t>
            </a:r>
            <a:r>
              <a:rPr lang="he-IL" sz="2300" dirty="0"/>
              <a:t>ָ נֹתֵן לְךָ כָּל הַיָּמִים: </a:t>
            </a:r>
            <a:endParaRPr lang="en-US" sz="2300" dirty="0"/>
          </a:p>
        </p:txBody>
      </p:sp>
      <p:sp>
        <p:nvSpPr>
          <p:cNvPr id="4" name="TextBox 3"/>
          <p:cNvSpPr txBox="1"/>
          <p:nvPr/>
        </p:nvSpPr>
        <p:spPr>
          <a:xfrm>
            <a:off x="6561" y="933683"/>
            <a:ext cx="1397955" cy="544764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b="1" dirty="0" smtClean="0">
                <a:solidFill>
                  <a:srgbClr val="FF33CC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המצוות הן תנאי לירושת הארץ</a:t>
            </a:r>
          </a:p>
          <a:p>
            <a:endParaRPr lang="he-IL" b="1" dirty="0">
              <a:solidFill>
                <a:srgbClr val="FF33CC"/>
              </a:solidFill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  <a:p>
            <a:endParaRPr lang="he-IL" b="1" dirty="0" smtClean="0">
              <a:solidFill>
                <a:srgbClr val="FF33CC"/>
              </a:solidFill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  <a:p>
            <a:endParaRPr lang="he-IL" b="1" dirty="0">
              <a:solidFill>
                <a:srgbClr val="FF33CC"/>
              </a:solidFill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  <a:p>
            <a:endParaRPr lang="he-IL" b="1" dirty="0" smtClean="0">
              <a:solidFill>
                <a:srgbClr val="FF33CC"/>
              </a:solidFill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  <a:p>
            <a:r>
              <a:rPr lang="he-IL" b="1" dirty="0" smtClean="0">
                <a:solidFill>
                  <a:srgbClr val="FF33CC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המצוות ניתנו על מנת לקיימן בארץ</a:t>
            </a:r>
          </a:p>
          <a:p>
            <a:endParaRPr lang="he-IL" sz="1100" b="1" dirty="0" smtClean="0">
              <a:solidFill>
                <a:srgbClr val="FF33CC"/>
              </a:solidFill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  <a:p>
            <a:endParaRPr lang="he-IL" sz="2800" b="1" dirty="0" smtClean="0">
              <a:solidFill>
                <a:srgbClr val="FF33CC"/>
              </a:solidFill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  <a:p>
            <a:r>
              <a:rPr lang="he-IL" b="1" dirty="0" smtClean="0">
                <a:solidFill>
                  <a:srgbClr val="FF33CC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המצוות הן תנאי להישארות בארץ</a:t>
            </a:r>
            <a:endParaRPr lang="he-IL" b="1" dirty="0">
              <a:solidFill>
                <a:srgbClr val="FF33CC"/>
              </a:solidFill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041528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3600" dirty="0">
                <a:solidFill>
                  <a:srgbClr val="3333FF"/>
                </a:solidFill>
                <a:latin typeface="Guttman Calligraphic" pitchFamily="2" charset="-79"/>
                <a:cs typeface="Guttman Calligraphic" pitchFamily="2" charset="-79"/>
              </a:rPr>
              <a:t>נאום </a:t>
            </a:r>
            <a:r>
              <a:rPr lang="he-IL" sz="3600" dirty="0" smtClean="0">
                <a:solidFill>
                  <a:srgbClr val="3333FF"/>
                </a:solidFill>
                <a:latin typeface="Guttman Calligraphic" pitchFamily="2" charset="-79"/>
                <a:cs typeface="Guttman Calligraphic" pitchFamily="2" charset="-79"/>
              </a:rPr>
              <a:t>המצוות (ה'-כ"ו) </a:t>
            </a:r>
            <a:endParaRPr lang="he-IL" sz="3600" dirty="0">
              <a:solidFill>
                <a:srgbClr val="FF33CC"/>
              </a:solidFill>
              <a:latin typeface="Guttman Calligraphic" pitchFamily="2" charset="-79"/>
              <a:cs typeface="Guttman Calligraphic" pitchFamily="2" charset="-79"/>
            </a:endParaRPr>
          </a:p>
        </p:txBody>
      </p:sp>
      <p:sp>
        <p:nvSpPr>
          <p:cNvPr id="6" name="מציין מיקום תוכן 5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he-IL" sz="2800" dirty="0" smtClean="0">
                <a:solidFill>
                  <a:srgbClr val="FF0000"/>
                </a:solidFill>
              </a:rPr>
              <a:t>	ה' – ברית סיני</a:t>
            </a:r>
          </a:p>
          <a:p>
            <a:pPr marL="0" indent="0">
              <a:buNone/>
            </a:pPr>
            <a:endParaRPr lang="he-IL" sz="2800" dirty="0" smtClean="0">
              <a:solidFill>
                <a:srgbClr val="FF0000"/>
              </a:solidFill>
            </a:endParaRPr>
          </a:p>
          <a:p>
            <a:pPr marL="457200" lvl="1" indent="0">
              <a:buNone/>
            </a:pPr>
            <a:r>
              <a:rPr lang="he-IL" dirty="0" smtClean="0">
                <a:solidFill>
                  <a:srgbClr val="FF0000"/>
                </a:solidFill>
              </a:rPr>
              <a:t>	ו'-י"א – מצוות האמונה</a:t>
            </a:r>
          </a:p>
          <a:p>
            <a:pPr marL="457200" lvl="1" indent="0">
              <a:buNone/>
            </a:pPr>
            <a:r>
              <a:rPr lang="he-IL" dirty="0" smtClean="0">
                <a:solidFill>
                  <a:srgbClr val="FF0000"/>
                </a:solidFill>
              </a:rPr>
              <a:t>	י"ב-כ"ו – מצוות מעשיות</a:t>
            </a:r>
          </a:p>
          <a:p>
            <a:pPr marL="0" indent="0">
              <a:buNone/>
            </a:pPr>
            <a:endParaRPr lang="he-IL" sz="2400" dirty="0" smtClean="0"/>
          </a:p>
        </p:txBody>
      </p:sp>
      <p:sp>
        <p:nvSpPr>
          <p:cNvPr id="3" name="חץ מעוקל למטה 2"/>
          <p:cNvSpPr/>
          <p:nvPr/>
        </p:nvSpPr>
        <p:spPr>
          <a:xfrm rot="5400000">
            <a:off x="4436143" y="2276872"/>
            <a:ext cx="1512168" cy="648072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2179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44624"/>
            <a:ext cx="5509260" cy="1143000"/>
          </a:xfrm>
        </p:spPr>
        <p:txBody>
          <a:bodyPr>
            <a:noAutofit/>
          </a:bodyPr>
          <a:lstStyle/>
          <a:p>
            <a:r>
              <a:rPr lang="he-IL" sz="2800" dirty="0">
                <a:solidFill>
                  <a:srgbClr val="3333FF"/>
                </a:solidFill>
                <a:latin typeface="Guttman Calligraphic" pitchFamily="2" charset="-79"/>
                <a:cs typeface="Guttman Calligraphic" pitchFamily="2" charset="-79"/>
              </a:rPr>
              <a:t>נאום </a:t>
            </a:r>
            <a:r>
              <a:rPr lang="he-IL" sz="2800" dirty="0" smtClean="0">
                <a:solidFill>
                  <a:srgbClr val="3333FF"/>
                </a:solidFill>
                <a:latin typeface="Guttman Calligraphic" pitchFamily="2" charset="-79"/>
                <a:cs typeface="Guttman Calligraphic" pitchFamily="2" charset="-79"/>
              </a:rPr>
              <a:t>המצוות (ה'-כ"ו) </a:t>
            </a:r>
            <a:br>
              <a:rPr lang="he-IL" sz="2800" dirty="0" smtClean="0">
                <a:solidFill>
                  <a:srgbClr val="3333FF"/>
                </a:solidFill>
                <a:latin typeface="Guttman Calligraphic" pitchFamily="2" charset="-79"/>
                <a:cs typeface="Guttman Calligraphic" pitchFamily="2" charset="-79"/>
              </a:rPr>
            </a:br>
            <a:r>
              <a:rPr lang="he-IL" sz="2800" dirty="0" smtClean="0">
                <a:solidFill>
                  <a:srgbClr val="FF33CC"/>
                </a:solidFill>
                <a:latin typeface="Guttman Calligraphic" pitchFamily="2" charset="-79"/>
                <a:cs typeface="Guttman Calligraphic" pitchFamily="2" charset="-79"/>
              </a:rPr>
              <a:t>עשרת הדברות – אבות לכל המצוות כולן</a:t>
            </a:r>
            <a:endParaRPr lang="he-IL" sz="2800" dirty="0">
              <a:solidFill>
                <a:srgbClr val="FF33CC"/>
              </a:solidFill>
              <a:latin typeface="Guttman Calligraphic" pitchFamily="2" charset="-79"/>
              <a:cs typeface="Guttman Calligraphic" pitchFamily="2" charset="-79"/>
            </a:endParaRPr>
          </a:p>
        </p:txBody>
      </p:sp>
      <p:graphicFrame>
        <p:nvGraphicFramePr>
          <p:cNvPr id="4" name="מציין מיקום תוכן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599386"/>
              </p:ext>
            </p:extLst>
          </p:nvPr>
        </p:nvGraphicFramePr>
        <p:xfrm>
          <a:off x="108372" y="1196752"/>
          <a:ext cx="5904656" cy="5382117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085032"/>
                <a:gridCol w="2740552"/>
                <a:gridCol w="1079072"/>
              </a:tblGrid>
              <a:tr h="405863"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 dirty="0" smtClean="0">
                          <a:effectLst/>
                        </a:rPr>
                        <a:t>דיבר</a:t>
                      </a:r>
                      <a:endParaRPr lang="en-US" sz="22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 dirty="0">
                          <a:effectLst/>
                        </a:rPr>
                        <a:t>מצוות בספר דברים</a:t>
                      </a:r>
                      <a:endParaRPr lang="en-US" sz="22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 dirty="0">
                          <a:effectLst/>
                        </a:rPr>
                        <a:t>פרקים</a:t>
                      </a:r>
                      <a:endParaRPr lang="en-US" sz="22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</a:tr>
              <a:tr h="811727"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000" dirty="0">
                          <a:effectLst/>
                        </a:rPr>
                        <a:t>אנכי ה', לא יהיה</a:t>
                      </a:r>
                      <a:endParaRPr lang="en-US" sz="20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 dirty="0">
                          <a:effectLst/>
                        </a:rPr>
                        <a:t>מצוות האמונה (שמע ישראל – והיה אם שמע)</a:t>
                      </a:r>
                      <a:endParaRPr lang="en-US" sz="22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 dirty="0">
                          <a:effectLst/>
                        </a:rPr>
                        <a:t>ו'-י"א</a:t>
                      </a:r>
                      <a:endParaRPr lang="en-US" sz="22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</a:tr>
              <a:tr h="405863"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000">
                          <a:effectLst/>
                        </a:rPr>
                        <a:t>לא תשא את שם ה'</a:t>
                      </a:r>
                      <a:endParaRPr lang="en-US" sz="200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>
                          <a:effectLst/>
                        </a:rPr>
                        <a:t>"המקום אשר יבחר ה' לשכן שמו שם"</a:t>
                      </a:r>
                      <a:endParaRPr lang="en-US" sz="220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 dirty="0" smtClean="0">
                          <a:effectLst/>
                        </a:rPr>
                        <a:t>י"ב-ט"ז</a:t>
                      </a:r>
                      <a:endParaRPr lang="en-US" sz="22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</a:tr>
              <a:tr h="811727"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000" dirty="0">
                          <a:effectLst/>
                        </a:rPr>
                        <a:t>זכור את יום השבת</a:t>
                      </a:r>
                      <a:endParaRPr lang="en-US" sz="20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>
                          <a:effectLst/>
                        </a:rPr>
                        <a:t>שמיטת כספים, עבד עברי, שלושת הרגלים</a:t>
                      </a:r>
                      <a:endParaRPr lang="en-US" sz="220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 dirty="0">
                          <a:effectLst/>
                        </a:rPr>
                        <a:t>ט"ו-ט"ז</a:t>
                      </a:r>
                      <a:endParaRPr lang="en-US" sz="22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</a:tr>
              <a:tr h="811727"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000">
                          <a:effectLst/>
                        </a:rPr>
                        <a:t>כבד את אביך ואת אמך</a:t>
                      </a:r>
                      <a:endParaRPr lang="en-US" sz="200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 dirty="0">
                          <a:effectLst/>
                        </a:rPr>
                        <a:t>מנהיגות (שופטים, שוטרים, מלך, </a:t>
                      </a:r>
                      <a:r>
                        <a:rPr lang="he-IL" sz="2200" dirty="0" smtClean="0">
                          <a:effectLst/>
                        </a:rPr>
                        <a:t>נביאים, </a:t>
                      </a:r>
                      <a:r>
                        <a:rPr lang="he-IL" sz="2200" dirty="0">
                          <a:effectLst/>
                        </a:rPr>
                        <a:t>זקנים, </a:t>
                      </a:r>
                      <a:r>
                        <a:rPr lang="he-IL" sz="2200" dirty="0" err="1" smtClean="0">
                          <a:effectLst/>
                        </a:rPr>
                        <a:t>כהנים</a:t>
                      </a:r>
                      <a:r>
                        <a:rPr lang="he-IL" sz="2200" dirty="0" smtClean="0">
                          <a:effectLst/>
                        </a:rPr>
                        <a:t>-לווים)</a:t>
                      </a:r>
                      <a:endParaRPr lang="en-US" sz="22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 dirty="0" smtClean="0">
                          <a:effectLst/>
                        </a:rPr>
                        <a:t>י"ז-כ"א</a:t>
                      </a:r>
                      <a:endParaRPr lang="en-US" sz="22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</a:tr>
              <a:tr h="405863"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000" dirty="0">
                          <a:effectLst/>
                        </a:rPr>
                        <a:t>לא תרצח</a:t>
                      </a:r>
                      <a:endParaRPr lang="en-US" sz="20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 dirty="0" smtClean="0">
                          <a:effectLst/>
                        </a:rPr>
                        <a:t>רצח, דיני </a:t>
                      </a:r>
                      <a:r>
                        <a:rPr lang="he-IL" sz="2200" dirty="0">
                          <a:effectLst/>
                        </a:rPr>
                        <a:t>מלחמה, </a:t>
                      </a:r>
                      <a:r>
                        <a:rPr lang="he-IL" sz="2200" dirty="0" smtClean="0">
                          <a:effectLst/>
                        </a:rPr>
                        <a:t>עונש </a:t>
                      </a:r>
                      <a:r>
                        <a:rPr lang="he-IL" sz="2200" dirty="0">
                          <a:effectLst/>
                        </a:rPr>
                        <a:t>מוות</a:t>
                      </a:r>
                      <a:endParaRPr lang="en-US" sz="22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 dirty="0">
                          <a:effectLst/>
                        </a:rPr>
                        <a:t>י"ט-כ"א</a:t>
                      </a:r>
                      <a:endParaRPr lang="en-US" sz="22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</a:tr>
              <a:tr h="811727"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000" dirty="0">
                          <a:effectLst/>
                        </a:rPr>
                        <a:t>לא תנאף, לא </a:t>
                      </a:r>
                      <a:r>
                        <a:rPr lang="he-IL" sz="2000" dirty="0" err="1">
                          <a:effectLst/>
                        </a:rPr>
                        <a:t>תגנב</a:t>
                      </a:r>
                      <a:r>
                        <a:rPr lang="he-IL" sz="2000" dirty="0">
                          <a:effectLst/>
                        </a:rPr>
                        <a:t>, לא תענה, לא </a:t>
                      </a:r>
                      <a:r>
                        <a:rPr lang="he-IL" sz="2000" dirty="0" err="1">
                          <a:effectLst/>
                        </a:rPr>
                        <a:t>תחמד</a:t>
                      </a:r>
                      <a:endParaRPr lang="en-US" sz="20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 dirty="0" smtClean="0">
                          <a:effectLst/>
                        </a:rPr>
                        <a:t>שלל מצוות </a:t>
                      </a:r>
                      <a:r>
                        <a:rPr lang="he-IL" sz="2200" dirty="0">
                          <a:effectLst/>
                        </a:rPr>
                        <a:t>שבין אדם </a:t>
                      </a:r>
                      <a:r>
                        <a:rPr lang="he-IL" sz="2200" dirty="0" smtClean="0">
                          <a:effectLst/>
                        </a:rPr>
                        <a:t>לחברו - יחיד, משפחה, חברה.</a:t>
                      </a:r>
                      <a:endParaRPr lang="en-US" sz="22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 dirty="0">
                          <a:effectLst/>
                        </a:rPr>
                        <a:t>כ"א-כ"ה</a:t>
                      </a:r>
                      <a:endParaRPr lang="en-US" sz="22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20310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274638"/>
            <a:ext cx="5509260" cy="778098"/>
          </a:xfrm>
        </p:spPr>
        <p:txBody>
          <a:bodyPr>
            <a:normAutofit/>
          </a:bodyPr>
          <a:lstStyle/>
          <a:p>
            <a:r>
              <a:rPr lang="he-IL" sz="3600" b="1" dirty="0" smtClean="0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"הַדְּבָרִים הָאֵלֶּה"</a:t>
            </a:r>
            <a:endParaRPr lang="he-IL" sz="3600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06070" y="1124744"/>
            <a:ext cx="5509260" cy="54726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(ד) שְׁמַע יִשְׂרָאֵל ה’ </a:t>
            </a:r>
            <a:r>
              <a:rPr lang="he-IL" sz="2000" dirty="0" err="1">
                <a:latin typeface="Guttman Keren" pitchFamily="2" charset="-79"/>
                <a:cs typeface="Guttman Keren" pitchFamily="2" charset="-79"/>
              </a:rPr>
              <a:t>אֱלֹהֵינו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ּ ה’ אֶחָד: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(ה) וְאָהַבְתָּ אֵת ה’ </a:t>
            </a:r>
            <a:r>
              <a:rPr lang="he-IL" sz="2000" dirty="0" err="1">
                <a:latin typeface="Guttman Keren" pitchFamily="2" charset="-79"/>
                <a:cs typeface="Guttman Keren" pitchFamily="2" charset="-79"/>
              </a:rPr>
              <a:t>אֱלֹהֶיך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ָ בְּכָל לְבָבְךָ וּבְכָל נַפְשְׁךָ וּבְכָל </a:t>
            </a:r>
            <a:r>
              <a:rPr lang="he-IL" sz="2000" dirty="0" err="1">
                <a:latin typeface="Guttman Keren" pitchFamily="2" charset="-79"/>
                <a:cs typeface="Guttman Keren" pitchFamily="2" charset="-79"/>
              </a:rPr>
              <a:t>מְאֹדֶך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ָ: </a:t>
            </a:r>
            <a:endParaRPr lang="he-IL" sz="2000" dirty="0" smtClean="0">
              <a:latin typeface="Guttman Keren" pitchFamily="2" charset="-79"/>
              <a:cs typeface="Guttman Keren" pitchFamily="2" charset="-79"/>
            </a:endParaRPr>
          </a:p>
          <a:p>
            <a:pPr marL="0" indent="0">
              <a:buNone/>
            </a:pP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(ו) וְהָיוּ הַדְּבָרִים הָאֵלֶּה אֲשֶׁר אָנֹכִי </a:t>
            </a:r>
            <a:r>
              <a:rPr lang="he-IL" sz="2000" dirty="0" err="1">
                <a:latin typeface="Guttman Keren" pitchFamily="2" charset="-79"/>
                <a:cs typeface="Guttman Keren" pitchFamily="2" charset="-79"/>
              </a:rPr>
              <a:t>מְצַוְּך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ָ הַיּוֹם עַל לְבָבֶךָ: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(ז) 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</a:t>
            </a:r>
            <a:r>
              <a:rPr lang="he-IL" sz="2000" dirty="0" err="1" smtClean="0">
                <a:latin typeface="Guttman Keren" pitchFamily="2" charset="-79"/>
                <a:cs typeface="Guttman Keren" pitchFamily="2" charset="-79"/>
              </a:rPr>
              <a:t>וְשִׁנַּנְתָּם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לְבָנֶיךָ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וְדִבַּרְתָּ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בָּם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	בְּשִׁבְתְּךָ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בְּבֵיתֶךָ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	וּבְלֶכְתְּךָ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בַדֶּרֶךְ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	וּבְשָׁכְבְּךָ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	וּבְקוּמֶךָ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: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(ח) 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וּקְשַׁרְתָּם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לְאוֹת עַל יָדֶךָ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וְהָיוּ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000" dirty="0" err="1">
                <a:latin typeface="Guttman Keren" pitchFamily="2" charset="-79"/>
                <a:cs typeface="Guttman Keren" pitchFamily="2" charset="-79"/>
              </a:rPr>
              <a:t>לְטֹטָפֹת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 בֵּין עֵינֶיךָ: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(ט) 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וּכְתַבְתָּם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עַל מְזוּזֹת בֵּיתֶךָ וּבִשְׁעָרֶיךָ: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endParaRPr lang="he-IL" sz="2000" dirty="0">
              <a:latin typeface="Guttman Keren" pitchFamily="2" charset="-79"/>
              <a:cs typeface="Guttman Keren" pitchFamily="2" charset="-79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-35644" y="6372036"/>
            <a:ext cx="116412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 smtClean="0"/>
              <a:t>(דברים ו')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7796855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274638"/>
            <a:ext cx="5509260" cy="778098"/>
          </a:xfrm>
        </p:spPr>
        <p:txBody>
          <a:bodyPr>
            <a:normAutofit/>
          </a:bodyPr>
          <a:lstStyle/>
          <a:p>
            <a:r>
              <a:rPr lang="he-IL" sz="3600" b="1" dirty="0" smtClean="0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"הַדְּבָרִים הָאֵלֶּה"</a:t>
            </a:r>
            <a:endParaRPr lang="he-IL" sz="3600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06070" y="1124744"/>
            <a:ext cx="5509260" cy="54726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(ד) שְׁמַע יִשְׂרָאֵל ה’ </a:t>
            </a:r>
            <a:r>
              <a:rPr lang="he-IL" sz="2000" dirty="0" err="1">
                <a:latin typeface="Guttman Keren" pitchFamily="2" charset="-79"/>
                <a:cs typeface="Guttman Keren" pitchFamily="2" charset="-79"/>
              </a:rPr>
              <a:t>אֱלֹהֵינו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ּ ה’ אֶחָד: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(ה) וְאָהַבְתָּ אֵת ה’ </a:t>
            </a:r>
            <a:r>
              <a:rPr lang="he-IL" sz="2000" dirty="0" err="1">
                <a:latin typeface="Guttman Keren" pitchFamily="2" charset="-79"/>
                <a:cs typeface="Guttman Keren" pitchFamily="2" charset="-79"/>
              </a:rPr>
              <a:t>אֱלֹהֶיך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ָ בְּכָל לְבָבְךָ וּבְכָל נַפְשְׁךָ וּבְכָל </a:t>
            </a:r>
            <a:r>
              <a:rPr lang="he-IL" sz="2000" dirty="0" err="1">
                <a:latin typeface="Guttman Keren" pitchFamily="2" charset="-79"/>
                <a:cs typeface="Guttman Keren" pitchFamily="2" charset="-79"/>
              </a:rPr>
              <a:t>מְאֹדֶך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ָ: </a:t>
            </a:r>
            <a:endParaRPr lang="he-IL" sz="2000" dirty="0" smtClean="0">
              <a:latin typeface="Guttman Keren" pitchFamily="2" charset="-79"/>
              <a:cs typeface="Guttman Keren" pitchFamily="2" charset="-79"/>
            </a:endParaRPr>
          </a:p>
          <a:p>
            <a:pPr marL="0" indent="0">
              <a:buNone/>
            </a:pP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(ו) וְהָיוּ </a:t>
            </a:r>
            <a:r>
              <a:rPr lang="he-IL" sz="2000" b="1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הַדְּבָרִים הָאֵלֶּה</a:t>
            </a:r>
            <a:r>
              <a:rPr lang="he-IL" sz="2000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000" b="1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אֲשֶׁר אָנֹכִי </a:t>
            </a:r>
            <a:r>
              <a:rPr lang="he-IL" sz="2000" b="1" dirty="0" err="1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מְצַוְּך</a:t>
            </a:r>
            <a:r>
              <a:rPr lang="he-IL" sz="2000" b="1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ָ הַיּוֹם 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עַל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לְבָבֶךָ: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(ז) 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</a:t>
            </a:r>
            <a:r>
              <a:rPr lang="he-IL" sz="2000" dirty="0" err="1" smtClean="0">
                <a:latin typeface="Guttman Keren" pitchFamily="2" charset="-79"/>
                <a:cs typeface="Guttman Keren" pitchFamily="2" charset="-79"/>
              </a:rPr>
              <a:t>וְשִׁנַּנְתָּם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לְבָנֶיךָ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וְדִבַּרְתָּ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בָּם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	בְּשִׁבְתְּךָ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בְּבֵיתֶךָ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	וּבְלֶכְתְּךָ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בַדֶּרֶךְ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	וּבְשָׁכְבְּךָ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	וּבְקוּמֶךָ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: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(ח) 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וּקְשַׁרְתָּם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לְאוֹת עַל יָדֶךָ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וְהָיוּ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000" dirty="0" err="1">
                <a:latin typeface="Guttman Keren" pitchFamily="2" charset="-79"/>
                <a:cs typeface="Guttman Keren" pitchFamily="2" charset="-79"/>
              </a:rPr>
              <a:t>לְטֹטָפֹת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 בֵּין עֵינֶיךָ: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(ט) 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וּכְתַבְתָּם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עַל מְזוּזֹת בֵּיתֶךָ וּבִשְׁעָרֶיךָ: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endParaRPr lang="he-IL" sz="2000" dirty="0">
              <a:latin typeface="Guttman Keren" pitchFamily="2" charset="-79"/>
              <a:cs typeface="Guttman Keren" pitchFamily="2" charset="-79"/>
            </a:endParaRPr>
          </a:p>
        </p:txBody>
      </p:sp>
      <p:sp>
        <p:nvSpPr>
          <p:cNvPr id="4" name="מלבן 3"/>
          <p:cNvSpPr/>
          <p:nvPr/>
        </p:nvSpPr>
        <p:spPr>
          <a:xfrm rot="19979794">
            <a:off x="-327589" y="202113"/>
            <a:ext cx="3172663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32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מהם </a:t>
            </a:r>
          </a:p>
          <a:p>
            <a:pPr algn="ctr"/>
            <a:r>
              <a:rPr lang="he-IL" sz="32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"הדברים האלה"?</a:t>
            </a:r>
            <a:endParaRPr lang="he-IL" sz="32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-35644" y="6372036"/>
            <a:ext cx="116412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 smtClean="0"/>
              <a:t>(דברים ו')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74402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274638"/>
            <a:ext cx="5509260" cy="778098"/>
          </a:xfrm>
        </p:spPr>
        <p:txBody>
          <a:bodyPr>
            <a:normAutofit/>
          </a:bodyPr>
          <a:lstStyle/>
          <a:p>
            <a:r>
              <a:rPr lang="he-IL" sz="3600" b="1" dirty="0" smtClean="0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"הַדְּבָרִים הָאֵלֶּה"</a:t>
            </a:r>
            <a:endParaRPr lang="he-IL" sz="3600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06070" y="1124744"/>
            <a:ext cx="5509260" cy="54726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(ד) שְׁמַע יִשְׂרָאֵל ה’ </a:t>
            </a:r>
            <a:r>
              <a:rPr lang="he-IL" sz="2000" dirty="0" err="1">
                <a:latin typeface="Guttman Keren" pitchFamily="2" charset="-79"/>
                <a:cs typeface="Guttman Keren" pitchFamily="2" charset="-79"/>
              </a:rPr>
              <a:t>אֱלֹהֵינו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ּ ה’ אֶחָד: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(ה) וְאָהַבְתָּ אֵת ה’ </a:t>
            </a:r>
            <a:r>
              <a:rPr lang="he-IL" sz="2000" dirty="0" err="1">
                <a:latin typeface="Guttman Keren" pitchFamily="2" charset="-79"/>
                <a:cs typeface="Guttman Keren" pitchFamily="2" charset="-79"/>
              </a:rPr>
              <a:t>אֱלֹהֶיך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ָ בְּכָל לְבָבְךָ וּבְכָל נַפְשְׁךָ וּבְכָל </a:t>
            </a:r>
            <a:r>
              <a:rPr lang="he-IL" sz="2000" dirty="0" err="1">
                <a:latin typeface="Guttman Keren" pitchFamily="2" charset="-79"/>
                <a:cs typeface="Guttman Keren" pitchFamily="2" charset="-79"/>
              </a:rPr>
              <a:t>מְאֹדֶך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ָ: </a:t>
            </a:r>
            <a:endParaRPr lang="he-IL" sz="2000" dirty="0" smtClean="0">
              <a:latin typeface="Guttman Keren" pitchFamily="2" charset="-79"/>
              <a:cs typeface="Guttman Keren" pitchFamily="2" charset="-79"/>
            </a:endParaRPr>
          </a:p>
          <a:p>
            <a:pPr marL="0" indent="0">
              <a:buNone/>
            </a:pP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(ו) </a:t>
            </a:r>
            <a:r>
              <a:rPr lang="he-IL" sz="2000" b="1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וְהָיוּ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000" b="1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הַדְּבָרִים הָאֵלֶּה</a:t>
            </a:r>
            <a:r>
              <a:rPr lang="he-IL" sz="2000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000" b="1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אֲשֶׁר אָנֹכִי </a:t>
            </a:r>
            <a:r>
              <a:rPr lang="he-IL" sz="2000" b="1" dirty="0" err="1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מְצַוְּך</a:t>
            </a:r>
            <a:r>
              <a:rPr lang="he-IL" sz="2000" b="1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ָ הַיּוֹם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עַל לְבָבֶךָ: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(ז) 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</a:t>
            </a:r>
            <a:r>
              <a:rPr lang="he-IL" sz="2000" dirty="0" err="1" smtClean="0">
                <a:latin typeface="Guttman Keren" pitchFamily="2" charset="-79"/>
                <a:cs typeface="Guttman Keren" pitchFamily="2" charset="-79"/>
              </a:rPr>
              <a:t>וְשִׁנַּנְ</a:t>
            </a:r>
            <a:r>
              <a:rPr lang="he-IL" sz="2000" b="1" dirty="0" err="1" smtClean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תָּם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לְבָנֶיךָ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וְדִבַּרְתָּ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000" b="1" dirty="0" smtClean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בָּם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	בְּשִׁבְתְּךָ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בְּבֵיתֶךָ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	וּבְלֶכְתְּךָ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בַדֶּרֶךְ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	וּבְשָׁכְבְּךָ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	וּבְקוּמֶךָ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: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(ח) 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וּקְשַׁרְ</a:t>
            </a:r>
            <a:r>
              <a:rPr lang="he-IL" sz="2000" b="1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תָּם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לְאוֹת עַל יָדֶךָ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</a:t>
            </a:r>
            <a:r>
              <a:rPr lang="he-IL" sz="2000" b="1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וְהָיוּ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000" dirty="0" err="1">
                <a:latin typeface="Guttman Keren" pitchFamily="2" charset="-79"/>
                <a:cs typeface="Guttman Keren" pitchFamily="2" charset="-79"/>
              </a:rPr>
              <a:t>לְטֹטָפֹת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 בֵּין עֵינֶיךָ: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(ט) 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וּכְתַבְ</a:t>
            </a:r>
            <a:r>
              <a:rPr lang="he-IL" sz="2000" b="1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תָּם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עַל מְזוּזֹת בֵּיתֶךָ וּבִשְׁעָרֶיךָ: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endParaRPr lang="he-IL" sz="2000" dirty="0">
              <a:latin typeface="Guttman Keren" pitchFamily="2" charset="-79"/>
              <a:cs typeface="Guttman Keren" pitchFamily="2" charset="-79"/>
            </a:endParaRPr>
          </a:p>
        </p:txBody>
      </p:sp>
      <p:sp>
        <p:nvSpPr>
          <p:cNvPr id="6" name="מלבן 5"/>
          <p:cNvSpPr/>
          <p:nvPr/>
        </p:nvSpPr>
        <p:spPr>
          <a:xfrm rot="19979794">
            <a:off x="-327589" y="202113"/>
            <a:ext cx="3172663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32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מהם </a:t>
            </a:r>
          </a:p>
          <a:p>
            <a:pPr algn="ctr"/>
            <a:r>
              <a:rPr lang="he-IL" sz="32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"הדברים האלה"?</a:t>
            </a:r>
            <a:endParaRPr lang="he-IL" sz="32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-35644" y="6372036"/>
            <a:ext cx="116412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 smtClean="0"/>
              <a:t>(דברים ו')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9069331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274638"/>
            <a:ext cx="5509260" cy="778098"/>
          </a:xfrm>
        </p:spPr>
        <p:txBody>
          <a:bodyPr>
            <a:normAutofit/>
          </a:bodyPr>
          <a:lstStyle/>
          <a:p>
            <a:r>
              <a:rPr lang="he-IL" sz="3600" b="1" dirty="0" smtClean="0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"הַדְּבָרִים הָאֵלֶּה"</a:t>
            </a:r>
            <a:endParaRPr lang="he-IL" sz="3600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06070" y="1124744"/>
            <a:ext cx="5509260" cy="547260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(ד) שְׁמַע יִשְׂרָאֵל ה’ </a:t>
            </a:r>
            <a:r>
              <a:rPr lang="he-IL" sz="2000" dirty="0" err="1">
                <a:latin typeface="Guttman Keren" pitchFamily="2" charset="-79"/>
                <a:cs typeface="Guttman Keren" pitchFamily="2" charset="-79"/>
              </a:rPr>
              <a:t>אֱלֹהֵינו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ּ ה’ אֶחָד: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(ה) וְאָהַבְתָּ אֵת ה’ </a:t>
            </a:r>
            <a:r>
              <a:rPr lang="he-IL" sz="2000" dirty="0" err="1">
                <a:latin typeface="Guttman Keren" pitchFamily="2" charset="-79"/>
                <a:cs typeface="Guttman Keren" pitchFamily="2" charset="-79"/>
              </a:rPr>
              <a:t>אֱלֹהֶיך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ָ בְּכָל לְבָבְךָ וּבְכָל נַפְשְׁךָ וּבְכָל </a:t>
            </a:r>
            <a:r>
              <a:rPr lang="he-IL" sz="2000" dirty="0" err="1">
                <a:latin typeface="Guttman Keren" pitchFamily="2" charset="-79"/>
                <a:cs typeface="Guttman Keren" pitchFamily="2" charset="-79"/>
              </a:rPr>
              <a:t>מְאֹדֶך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ָ: </a:t>
            </a:r>
            <a:endParaRPr lang="he-IL" sz="2000" dirty="0" smtClean="0">
              <a:latin typeface="Guttman Keren" pitchFamily="2" charset="-79"/>
              <a:cs typeface="Guttman Keren" pitchFamily="2" charset="-79"/>
            </a:endParaRPr>
          </a:p>
          <a:p>
            <a:pPr marL="0" indent="0">
              <a:buNone/>
            </a:pP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(ו) </a:t>
            </a:r>
            <a:r>
              <a:rPr lang="he-IL" sz="2000" b="1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וְהָיוּ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000" b="1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הַדְּבָרִים הָאֵלֶּה</a:t>
            </a:r>
            <a:r>
              <a:rPr lang="he-IL" sz="2000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000" b="1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אֲשֶׁר אָנֹכִי </a:t>
            </a:r>
            <a:r>
              <a:rPr lang="he-IL" sz="2000" b="1" dirty="0" err="1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מְצַוְּך</a:t>
            </a:r>
            <a:r>
              <a:rPr lang="he-IL" sz="2000" b="1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ָ הַיּוֹם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עַל לְבָבֶךָ: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(ז) 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</a:t>
            </a:r>
            <a:r>
              <a:rPr lang="he-IL" sz="2000" dirty="0" err="1" smtClean="0">
                <a:latin typeface="Guttman Keren" pitchFamily="2" charset="-79"/>
                <a:cs typeface="Guttman Keren" pitchFamily="2" charset="-79"/>
              </a:rPr>
              <a:t>וְשִׁנַּנְ</a:t>
            </a:r>
            <a:r>
              <a:rPr lang="he-IL" sz="2000" b="1" dirty="0" err="1" smtClean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תָּם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לְבָנֶיךָ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וְדִבַּרְתָּ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000" b="1" dirty="0" smtClean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בָּם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	בְּשִׁבְתְּךָ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בְּבֵיתֶךָ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	וּבְלֶכְתְּךָ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בַדֶּרֶךְ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	וּבְשָׁכְבְּךָ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	וּבְקוּמֶךָ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: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(ח) 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וּקְשַׁרְ</a:t>
            </a:r>
            <a:r>
              <a:rPr lang="he-IL" sz="2000" b="1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תָּם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לְאוֹת עַל יָדֶךָ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</a:t>
            </a:r>
            <a:r>
              <a:rPr lang="he-IL" sz="2000" b="1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וְהָיוּ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000" dirty="0" err="1">
                <a:latin typeface="Guttman Keren" pitchFamily="2" charset="-79"/>
                <a:cs typeface="Guttman Keren" pitchFamily="2" charset="-79"/>
              </a:rPr>
              <a:t>לְטֹטָפֹת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 בֵּין עֵינֶיךָ: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(ט) 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וּכְתַבְ</a:t>
            </a:r>
            <a:r>
              <a:rPr lang="he-IL" sz="2000" b="1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תָּם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עַל מְזוּזֹת בֵּיתֶךָ וּבִשְׁעָרֶיךָ: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endParaRPr lang="he-IL" sz="2000" dirty="0">
              <a:latin typeface="Guttman Keren" pitchFamily="2" charset="-79"/>
              <a:cs typeface="Guttman Keren" pitchFamily="2" charset="-79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-35644" y="6372036"/>
            <a:ext cx="116412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 smtClean="0"/>
              <a:t>(דברים ו')</a:t>
            </a:r>
            <a:endParaRPr lang="he-IL" dirty="0"/>
          </a:p>
        </p:txBody>
      </p:sp>
      <p:sp>
        <p:nvSpPr>
          <p:cNvPr id="9" name="מלבן 8"/>
          <p:cNvSpPr/>
          <p:nvPr/>
        </p:nvSpPr>
        <p:spPr>
          <a:xfrm rot="19979794">
            <a:off x="-327589" y="202113"/>
            <a:ext cx="3172663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32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מהם </a:t>
            </a:r>
          </a:p>
          <a:p>
            <a:pPr algn="ctr"/>
            <a:r>
              <a:rPr lang="he-IL" sz="32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"הדברים האלה"?</a:t>
            </a:r>
            <a:endParaRPr lang="he-IL" sz="32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  <p:sp>
        <p:nvSpPr>
          <p:cNvPr id="10" name="הסבר אליפטי 9"/>
          <p:cNvSpPr/>
          <p:nvPr/>
        </p:nvSpPr>
        <p:spPr>
          <a:xfrm>
            <a:off x="621329" y="3140968"/>
            <a:ext cx="1169930" cy="864096"/>
          </a:xfrm>
          <a:prstGeom prst="wedgeEllipseCallout">
            <a:avLst>
              <a:gd name="adj1" fmla="val 98339"/>
              <a:gd name="adj2" fmla="val 51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 smtClean="0"/>
              <a:t>בכל מקום</a:t>
            </a:r>
            <a:endParaRPr lang="he-IL" sz="2000" b="1" dirty="0"/>
          </a:p>
        </p:txBody>
      </p:sp>
      <p:sp>
        <p:nvSpPr>
          <p:cNvPr id="11" name="הסבר אליפטי 10"/>
          <p:cNvSpPr/>
          <p:nvPr/>
        </p:nvSpPr>
        <p:spPr>
          <a:xfrm>
            <a:off x="4869801" y="4077072"/>
            <a:ext cx="964107" cy="864096"/>
          </a:xfrm>
          <a:prstGeom prst="wedgeEllipseCallout">
            <a:avLst>
              <a:gd name="adj1" fmla="val -149227"/>
              <a:gd name="adj2" fmla="val 2655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 smtClean="0"/>
              <a:t>בכל</a:t>
            </a:r>
            <a:r>
              <a:rPr lang="he-IL" sz="2400" b="1" dirty="0" smtClean="0"/>
              <a:t> </a:t>
            </a:r>
            <a:r>
              <a:rPr lang="he-IL" sz="2000" b="1" dirty="0" smtClean="0"/>
              <a:t>זמן</a:t>
            </a:r>
            <a:endParaRPr lang="he-IL" sz="2400" b="1" dirty="0"/>
          </a:p>
        </p:txBody>
      </p:sp>
    </p:spTree>
    <p:extLst>
      <p:ext uri="{BB962C8B-B14F-4D97-AF65-F5344CB8AC3E}">
        <p14:creationId xmlns:p14="http://schemas.microsoft.com/office/powerpoint/2010/main" val="4112786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188640"/>
            <a:ext cx="5509260" cy="994122"/>
          </a:xfrm>
        </p:spPr>
        <p:txBody>
          <a:bodyPr>
            <a:normAutofit/>
          </a:bodyPr>
          <a:lstStyle/>
          <a:p>
            <a:r>
              <a:rPr lang="he-IL" sz="3600" b="1" dirty="0" smtClean="0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"דְּבָרַי אֵלֶּה"</a:t>
            </a:r>
            <a:endParaRPr lang="he-IL" sz="3600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06070" y="1268761"/>
            <a:ext cx="5509260" cy="4525963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(</a:t>
            </a:r>
            <a:r>
              <a:rPr lang="he-IL" sz="2000" dirty="0" err="1" smtClean="0">
                <a:latin typeface="Guttman Keren" pitchFamily="2" charset="-79"/>
                <a:cs typeface="Guttman Keren" pitchFamily="2" charset="-79"/>
              </a:rPr>
              <a:t>יג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) וְהָיָה אִם שָׁמֹעַ תִּשְׁמְעוּ אֶל </a:t>
            </a:r>
            <a:r>
              <a:rPr lang="he-IL" sz="2000" dirty="0" err="1" smtClean="0">
                <a:latin typeface="Guttman Keren" pitchFamily="2" charset="-79"/>
                <a:cs typeface="Guttman Keren" pitchFamily="2" charset="-79"/>
              </a:rPr>
              <a:t>מִצְוֹתַי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 אֲשֶׁר אָנֹכִי מְצַוֶּה אֶתְכֶם הַיּוֹם לְאַהֲבָה אֶת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ה’ </a:t>
            </a:r>
            <a:r>
              <a:rPr lang="he-IL" sz="2000" dirty="0" err="1">
                <a:latin typeface="Guttman Keren" pitchFamily="2" charset="-79"/>
                <a:cs typeface="Guttman Keren" pitchFamily="2" charset="-79"/>
              </a:rPr>
              <a:t>אֱלֹהֵיכֶם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 וּלְעָבְדוֹ בְּכָל לְבַבְכֶם וּבְכָל נַפְשְׁכֶם: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...</a:t>
            </a: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(</a:t>
            </a:r>
            <a:r>
              <a:rPr lang="he-IL" sz="2000" dirty="0" err="1" smtClean="0">
                <a:latin typeface="Guttman Keren" pitchFamily="2" charset="-79"/>
                <a:cs typeface="Guttman Keren" pitchFamily="2" charset="-79"/>
              </a:rPr>
              <a:t>יח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) וְשַׂמְתֶּם אֶת </a:t>
            </a:r>
            <a:r>
              <a:rPr lang="he-IL" sz="2000" b="1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דְּבָרַי אֵלֶּה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עַל לְבַבְכֶם וְעַל נַפְשְׁכֶם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וּקְשַׁרְתֶּם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אֹתָם לְאוֹת עַל יֶדְכֶם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וְהָיוּ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לְטוֹטָפֹת בֵּין עֵינֵיכֶם: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</a:t>
            </a:r>
            <a:r>
              <a:rPr lang="he-IL" sz="2000" dirty="0" err="1">
                <a:latin typeface="Guttman Keren" pitchFamily="2" charset="-79"/>
                <a:cs typeface="Guttman Keren" pitchFamily="2" charset="-79"/>
              </a:rPr>
              <a:t>יט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) 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וְלִמַּדְתֶּם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אֹתָם אֶת בְּנֵיכֶם לְדַבֵּר בָּם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		בְּשִׁבְתְּךָ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בְּבֵיתֶךָ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		וּבְלֶכְתְּךָ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בַדֶּרֶךְ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		וּבְשָׁכְבְּךָ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		וּבְקוּמֶךָ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: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(כ) 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וּכְתַבְתָּם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עַל מְזוּזוֹת בֵּיתֶךָ וּבִשְׁעָרֶיךָ: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-35644" y="6372036"/>
            <a:ext cx="126454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 smtClean="0"/>
              <a:t>(דברים י"א)</a:t>
            </a:r>
            <a:endParaRPr lang="he-IL" dirty="0"/>
          </a:p>
        </p:txBody>
      </p:sp>
      <p:sp>
        <p:nvSpPr>
          <p:cNvPr id="9" name="מלבן 8"/>
          <p:cNvSpPr/>
          <p:nvPr/>
        </p:nvSpPr>
        <p:spPr>
          <a:xfrm rot="19979794">
            <a:off x="-210998" y="103080"/>
            <a:ext cx="2419252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32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מהם </a:t>
            </a:r>
          </a:p>
          <a:p>
            <a:pPr algn="ctr"/>
            <a:r>
              <a:rPr lang="he-IL" sz="32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"דברי אלה"?</a:t>
            </a:r>
            <a:endParaRPr lang="he-IL" sz="32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7146509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188640"/>
            <a:ext cx="5509260" cy="994122"/>
          </a:xfrm>
        </p:spPr>
        <p:txBody>
          <a:bodyPr>
            <a:normAutofit/>
          </a:bodyPr>
          <a:lstStyle/>
          <a:p>
            <a:r>
              <a:rPr lang="he-IL" sz="3600" b="1" dirty="0" smtClean="0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"דְּבָרַי אֵלֶּה"</a:t>
            </a:r>
            <a:endParaRPr lang="he-IL" sz="3600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06070" y="1268761"/>
            <a:ext cx="5509260" cy="4525963"/>
          </a:xfrm>
        </p:spPr>
        <p:txBody>
          <a:bodyPr>
            <a:noAutofit/>
          </a:bodyPr>
          <a:lstStyle/>
          <a:p>
            <a:pPr marL="0" indent="0">
              <a:spcBef>
                <a:spcPts val="600"/>
              </a:spcBef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(</a:t>
            </a:r>
            <a:r>
              <a:rPr lang="he-IL" sz="2000" dirty="0" err="1" smtClean="0">
                <a:latin typeface="Guttman Keren" pitchFamily="2" charset="-79"/>
                <a:cs typeface="Guttman Keren" pitchFamily="2" charset="-79"/>
              </a:rPr>
              <a:t>יג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) וְהָיָה אִם שָׁמֹעַ תִּשְׁמְעוּ אֶל </a:t>
            </a:r>
            <a:r>
              <a:rPr lang="he-IL" sz="2000" dirty="0" err="1" smtClean="0">
                <a:latin typeface="Guttman Keren" pitchFamily="2" charset="-79"/>
                <a:cs typeface="Guttman Keren" pitchFamily="2" charset="-79"/>
              </a:rPr>
              <a:t>מִצְוֹתַי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 אֲשֶׁר אָנֹכִי מְצַוֶּה אֶתְכֶם הַיּוֹם לְאַהֲבָה אֶת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ה’ </a:t>
            </a:r>
            <a:r>
              <a:rPr lang="he-IL" sz="2000" dirty="0" err="1">
                <a:latin typeface="Guttman Keren" pitchFamily="2" charset="-79"/>
                <a:cs typeface="Guttman Keren" pitchFamily="2" charset="-79"/>
              </a:rPr>
              <a:t>אֱלֹהֵיכֶם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 וּלְעָבְדוֹ בְּכָל לְבַבְכֶם וּבְכָל נַפְשְׁכֶם: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...</a:t>
            </a: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(</a:t>
            </a:r>
            <a:r>
              <a:rPr lang="he-IL" sz="2000" dirty="0" err="1" smtClean="0">
                <a:latin typeface="Guttman Keren" pitchFamily="2" charset="-79"/>
                <a:cs typeface="Guttman Keren" pitchFamily="2" charset="-79"/>
              </a:rPr>
              <a:t>יח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) וְשַׂמְתֶּם אֶת </a:t>
            </a:r>
            <a:r>
              <a:rPr lang="he-IL" sz="2000" b="1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דְּבָרַי אֵלֶּה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עַל לְבַבְכֶם וְעַל נַפְשְׁכֶם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וּקְשַׁרְתֶּם </a:t>
            </a:r>
            <a:r>
              <a:rPr lang="he-IL" sz="2000" b="1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אֹתָם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 לְאוֹת עַל יֶדְכֶם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b="1" dirty="0" smtClean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	וְהָיוּ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לְטוֹטָפֹת בֵּין עֵינֵיכֶם: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</a:t>
            </a:r>
            <a:r>
              <a:rPr lang="he-IL" sz="2000" dirty="0" err="1">
                <a:latin typeface="Guttman Keren" pitchFamily="2" charset="-79"/>
                <a:cs typeface="Guttman Keren" pitchFamily="2" charset="-79"/>
              </a:rPr>
              <a:t>יט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) 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וְלִמַּדְתֶּם </a:t>
            </a:r>
            <a:r>
              <a:rPr lang="he-IL" sz="2000" b="1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אֹתָם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 אֶת בְּנֵיכֶם לְדַבֵּר </a:t>
            </a:r>
            <a:r>
              <a:rPr lang="he-IL" sz="2000" b="1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בָּם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		בְּשִׁבְתְּךָ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בְּבֵיתֶךָ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		וּבְלֶכְתְּךָ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בַדֶּרֶךְ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		וּבְשָׁכְבְּךָ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		וּבְקוּמֶךָ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: </a:t>
            </a:r>
            <a:endParaRPr lang="en-US" sz="2000" dirty="0">
              <a:cs typeface="Guttman Keren" pitchFamily="2" charset="-79"/>
            </a:endParaRPr>
          </a:p>
          <a:p>
            <a:pPr marL="0" indent="0">
              <a:buNone/>
            </a:pPr>
            <a:r>
              <a:rPr lang="he-IL" sz="2000" dirty="0">
                <a:latin typeface="Guttman Keren" pitchFamily="2" charset="-79"/>
                <a:cs typeface="Guttman Keren" pitchFamily="2" charset="-79"/>
              </a:rPr>
              <a:t>(כ) </a:t>
            </a:r>
            <a:r>
              <a:rPr lang="he-IL" sz="2000" dirty="0" smtClean="0">
                <a:latin typeface="Guttman Keren" pitchFamily="2" charset="-79"/>
                <a:cs typeface="Guttman Keren" pitchFamily="2" charset="-79"/>
              </a:rPr>
              <a:t>	וּכְתַבְ</a:t>
            </a:r>
            <a:r>
              <a:rPr lang="he-IL" sz="2000" b="1" dirty="0" smtClean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תָּם </a:t>
            </a:r>
            <a:r>
              <a:rPr lang="he-IL" sz="2000" dirty="0">
                <a:latin typeface="Guttman Keren" pitchFamily="2" charset="-79"/>
                <a:cs typeface="Guttman Keren" pitchFamily="2" charset="-79"/>
              </a:rPr>
              <a:t>עַל מְזוּזוֹת בֵּיתֶךָ וּבִשְׁעָרֶיךָ: </a:t>
            </a:r>
          </a:p>
        </p:txBody>
      </p:sp>
      <p:sp>
        <p:nvSpPr>
          <p:cNvPr id="6" name="הסבר אליפטי 5"/>
          <p:cNvSpPr/>
          <p:nvPr/>
        </p:nvSpPr>
        <p:spPr>
          <a:xfrm>
            <a:off x="36364" y="3356992"/>
            <a:ext cx="1169930" cy="864096"/>
          </a:xfrm>
          <a:prstGeom prst="wedgeEllipseCallout">
            <a:avLst>
              <a:gd name="adj1" fmla="val 69805"/>
              <a:gd name="adj2" fmla="val 7526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 smtClean="0"/>
              <a:t>בכל מקום</a:t>
            </a:r>
            <a:endParaRPr lang="he-IL" sz="2000" b="1" dirty="0"/>
          </a:p>
        </p:txBody>
      </p:sp>
      <p:sp>
        <p:nvSpPr>
          <p:cNvPr id="7" name="הסבר אליפטי 6"/>
          <p:cNvSpPr/>
          <p:nvPr/>
        </p:nvSpPr>
        <p:spPr>
          <a:xfrm>
            <a:off x="4284836" y="4293096"/>
            <a:ext cx="964107" cy="864096"/>
          </a:xfrm>
          <a:prstGeom prst="wedgeEllipseCallout">
            <a:avLst>
              <a:gd name="adj1" fmla="val -185358"/>
              <a:gd name="adj2" fmla="val 5175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 smtClean="0"/>
              <a:t>בכל</a:t>
            </a:r>
            <a:r>
              <a:rPr lang="he-IL" sz="2400" b="1" dirty="0" smtClean="0"/>
              <a:t> </a:t>
            </a:r>
            <a:r>
              <a:rPr lang="he-IL" sz="2000" b="1" dirty="0" smtClean="0"/>
              <a:t>זמן</a:t>
            </a:r>
            <a:endParaRPr lang="he-IL" sz="2400" b="1" dirty="0"/>
          </a:p>
        </p:txBody>
      </p:sp>
      <p:sp>
        <p:nvSpPr>
          <p:cNvPr id="8" name="TextBox 7"/>
          <p:cNvSpPr txBox="1"/>
          <p:nvPr/>
        </p:nvSpPr>
        <p:spPr>
          <a:xfrm>
            <a:off x="-35644" y="6372036"/>
            <a:ext cx="1264541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 smtClean="0"/>
              <a:t>(דברים י"א)</a:t>
            </a:r>
            <a:endParaRPr lang="he-IL" dirty="0"/>
          </a:p>
        </p:txBody>
      </p:sp>
      <p:sp>
        <p:nvSpPr>
          <p:cNvPr id="9" name="מלבן 8"/>
          <p:cNvSpPr/>
          <p:nvPr/>
        </p:nvSpPr>
        <p:spPr>
          <a:xfrm rot="19979794">
            <a:off x="-210998" y="103080"/>
            <a:ext cx="2419252" cy="107721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he-IL" sz="32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מהם </a:t>
            </a:r>
          </a:p>
          <a:p>
            <a:pPr algn="ctr"/>
            <a:r>
              <a:rPr lang="he-IL" sz="3200" b="1" cap="none" spc="0" dirty="0" smtClean="0">
                <a:ln w="10541" cmpd="sng">
                  <a:solidFill>
                    <a:schemeClr val="accent1">
                      <a:shade val="88000"/>
                      <a:satMod val="110000"/>
                    </a:schemeClr>
                  </a:solidFill>
                  <a:prstDash val="solid"/>
                </a:ln>
                <a:gradFill>
                  <a:gsLst>
                    <a:gs pos="0">
                      <a:schemeClr val="accent1">
                        <a:tint val="40000"/>
                        <a:satMod val="250000"/>
                      </a:schemeClr>
                    </a:gs>
                    <a:gs pos="9000">
                      <a:schemeClr val="accent1">
                        <a:tint val="52000"/>
                        <a:satMod val="300000"/>
                      </a:schemeClr>
                    </a:gs>
                    <a:gs pos="50000">
                      <a:schemeClr val="accent1">
                        <a:shade val="20000"/>
                        <a:satMod val="300000"/>
                      </a:schemeClr>
                    </a:gs>
                    <a:gs pos="79000">
                      <a:schemeClr val="accent1">
                        <a:tint val="52000"/>
                        <a:satMod val="300000"/>
                      </a:schemeClr>
                    </a:gs>
                    <a:gs pos="100000">
                      <a:schemeClr val="accent1">
                        <a:tint val="40000"/>
                        <a:satMod val="250000"/>
                      </a:schemeClr>
                    </a:gs>
                  </a:gsLst>
                  <a:lin ang="5400000"/>
                </a:gradFill>
                <a:effectLst/>
              </a:rPr>
              <a:t>"דברי אלה"?</a:t>
            </a:r>
            <a:endParaRPr lang="he-IL" sz="3200" b="1" cap="none" spc="0" dirty="0">
              <a:ln w="10541" cmpd="sng">
                <a:solidFill>
                  <a:schemeClr val="accent1">
                    <a:shade val="88000"/>
                    <a:satMod val="110000"/>
                  </a:schemeClr>
                </a:solidFill>
                <a:prstDash val="solid"/>
              </a:ln>
              <a:gradFill>
                <a:gsLst>
                  <a:gs pos="0">
                    <a:schemeClr val="accent1">
                      <a:tint val="40000"/>
                      <a:satMod val="250000"/>
                    </a:schemeClr>
                  </a:gs>
                  <a:gs pos="9000">
                    <a:schemeClr val="accent1">
                      <a:tint val="52000"/>
                      <a:satMod val="300000"/>
                    </a:schemeClr>
                  </a:gs>
                  <a:gs pos="50000">
                    <a:schemeClr val="accent1">
                      <a:shade val="20000"/>
                      <a:satMod val="300000"/>
                    </a:schemeClr>
                  </a:gs>
                  <a:gs pos="79000">
                    <a:schemeClr val="accent1">
                      <a:tint val="52000"/>
                      <a:satMod val="300000"/>
                    </a:schemeClr>
                  </a:gs>
                  <a:gs pos="100000">
                    <a:schemeClr val="accent1">
                      <a:tint val="40000"/>
                      <a:satMod val="250000"/>
                    </a:schemeClr>
                  </a:gs>
                </a:gsLst>
                <a:lin ang="5400000"/>
              </a:gra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750971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116632"/>
            <a:ext cx="5509260" cy="562074"/>
          </a:xfrm>
        </p:spPr>
        <p:txBody>
          <a:bodyPr>
            <a:normAutofit fontScale="90000"/>
          </a:bodyPr>
          <a:lstStyle/>
          <a:p>
            <a:r>
              <a:rPr lang="he-IL" sz="3600" b="1" dirty="0" smtClean="0">
                <a:solidFill>
                  <a:srgbClr val="7030A0"/>
                </a:solidFill>
                <a:cs typeface="+mn-cs"/>
              </a:rPr>
              <a:t>מצוות האמונה – פרקים ו'-י"א</a:t>
            </a:r>
            <a:endParaRPr lang="he-IL" sz="3600" b="1" dirty="0">
              <a:solidFill>
                <a:srgbClr val="7030A0"/>
              </a:solidFill>
              <a:cs typeface="+mn-cs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216584" y="836712"/>
            <a:ext cx="5598746" cy="5184576"/>
          </a:xfrm>
        </p:spPr>
        <p:txBody>
          <a:bodyPr>
            <a:noAutofit/>
          </a:bodyPr>
          <a:lstStyle/>
          <a:p>
            <a:pPr marL="0" indent="0" algn="ctr">
              <a:spcBef>
                <a:spcPts val="600"/>
              </a:spcBef>
              <a:buNone/>
            </a:pPr>
            <a:r>
              <a:rPr lang="he-IL" sz="2400" dirty="0" err="1" smtClean="0">
                <a:latin typeface="Guttman Keren" pitchFamily="2" charset="-79"/>
                <a:cs typeface="Guttman Keren" pitchFamily="2" charset="-79"/>
              </a:rPr>
              <a:t>מ</a:t>
            </a:r>
            <a:r>
              <a:rPr lang="he-IL" sz="2400" b="1" dirty="0" err="1" smtClean="0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"שְׁמַע</a:t>
            </a:r>
            <a:r>
              <a:rPr lang="he-IL" sz="2400" b="1" dirty="0" smtClean="0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 יִשְׂרָאֵל" </a:t>
            </a:r>
            <a:r>
              <a:rPr lang="he-IL" sz="1800" dirty="0" smtClean="0">
                <a:latin typeface="Guttman Keren" pitchFamily="2" charset="-79"/>
                <a:cs typeface="Guttman Keren" pitchFamily="2" charset="-79"/>
              </a:rPr>
              <a:t>(ו') </a:t>
            </a:r>
            <a:r>
              <a:rPr lang="he-IL" sz="2400" dirty="0" smtClean="0">
                <a:latin typeface="Guttman Keren" pitchFamily="2" charset="-79"/>
                <a:cs typeface="Guttman Keren" pitchFamily="2" charset="-79"/>
              </a:rPr>
              <a:t>ועד</a:t>
            </a:r>
            <a:r>
              <a:rPr lang="he-IL" sz="2400" b="1" dirty="0" smtClean="0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 "וְהָיָה </a:t>
            </a:r>
            <a:r>
              <a:rPr lang="he-IL" sz="2400" b="1" dirty="0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אִם </a:t>
            </a:r>
            <a:r>
              <a:rPr lang="he-IL" sz="2400" b="1" dirty="0" smtClean="0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שָׁמֹעַ" </a:t>
            </a:r>
            <a:r>
              <a:rPr lang="he-IL" sz="1800" dirty="0" smtClean="0">
                <a:latin typeface="Guttman Keren" pitchFamily="2" charset="-79"/>
                <a:cs typeface="Guttman Keren" pitchFamily="2" charset="-79"/>
              </a:rPr>
              <a:t>(י"א) </a:t>
            </a:r>
            <a:endParaRPr lang="he-IL" sz="2400" b="1" dirty="0">
              <a:solidFill>
                <a:srgbClr val="FF0000"/>
              </a:solidFill>
              <a:latin typeface="Guttman Keren" pitchFamily="2" charset="-79"/>
              <a:cs typeface="Guttman Keren" pitchFamily="2" charset="-79"/>
            </a:endParaRPr>
          </a:p>
          <a:p>
            <a:pPr marL="0" indent="0" algn="ctr">
              <a:spcBef>
                <a:spcPts val="600"/>
              </a:spcBef>
              <a:buNone/>
            </a:pPr>
            <a:r>
              <a:rPr lang="he-IL" sz="2400" dirty="0" err="1">
                <a:latin typeface="Guttman Keren" pitchFamily="2" charset="-79"/>
                <a:cs typeface="Guttman Keren" pitchFamily="2" charset="-79"/>
              </a:rPr>
              <a:t>מ</a:t>
            </a:r>
            <a:r>
              <a:rPr lang="he-IL" sz="2400" b="1" dirty="0" err="1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"וְאָהַבְת</a:t>
            </a:r>
            <a:r>
              <a:rPr lang="he-IL" sz="2400" b="1" dirty="0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ָּ אֵת ה'" </a:t>
            </a:r>
            <a:r>
              <a:rPr lang="he-IL" sz="2400" dirty="0">
                <a:latin typeface="Guttman Keren" pitchFamily="2" charset="-79"/>
                <a:cs typeface="Guttman Keren" pitchFamily="2" charset="-79"/>
              </a:rPr>
              <a:t>ועד</a:t>
            </a:r>
            <a:r>
              <a:rPr lang="he-IL" sz="2400" b="1" dirty="0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 "לְאַהֲבָה אֶת ה'"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he-IL" sz="2400" dirty="0" err="1" smtClean="0">
                <a:latin typeface="Guttman Keren" pitchFamily="2" charset="-79"/>
                <a:cs typeface="Guttman Keren" pitchFamily="2" charset="-79"/>
              </a:rPr>
              <a:t>מ</a:t>
            </a:r>
            <a:r>
              <a:rPr lang="he-IL" sz="2400" b="1" dirty="0" err="1" smtClean="0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"הַדְּבָרִים</a:t>
            </a:r>
            <a:r>
              <a:rPr lang="he-IL" sz="2400" b="1" dirty="0" smtClean="0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400" b="1" dirty="0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הָאֵלֶּה" </a:t>
            </a:r>
            <a:r>
              <a:rPr lang="he-IL" sz="2400" dirty="0">
                <a:latin typeface="Guttman Keren" pitchFamily="2" charset="-79"/>
                <a:cs typeface="Guttman Keren" pitchFamily="2" charset="-79"/>
              </a:rPr>
              <a:t>ועד</a:t>
            </a:r>
            <a:r>
              <a:rPr lang="he-IL" sz="2400" b="1" dirty="0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 "דְּבָרַי אֵלֶּה" </a:t>
            </a:r>
            <a:endParaRPr lang="he-IL" sz="2400" b="1" dirty="0" smtClean="0">
              <a:solidFill>
                <a:srgbClr val="FF0000"/>
              </a:solidFill>
              <a:latin typeface="Guttman Keren" pitchFamily="2" charset="-79"/>
              <a:cs typeface="Guttman Keren" pitchFamily="2" charset="-79"/>
            </a:endParaRPr>
          </a:p>
          <a:p>
            <a:pPr marL="0" indent="0" algn="ctr">
              <a:spcBef>
                <a:spcPts val="600"/>
              </a:spcBef>
              <a:buNone/>
            </a:pPr>
            <a:r>
              <a:rPr lang="he-IL" sz="2400" dirty="0" smtClean="0">
                <a:latin typeface="Guttman Keren" pitchFamily="2" charset="-79"/>
                <a:cs typeface="Guttman Keren" pitchFamily="2" charset="-79"/>
              </a:rPr>
              <a:t>מסגרת הכוללת את מצוות האמונה.</a:t>
            </a:r>
          </a:p>
          <a:p>
            <a:pPr marL="0" indent="0" algn="ctr">
              <a:spcBef>
                <a:spcPts val="600"/>
              </a:spcBef>
              <a:buNone/>
            </a:pPr>
            <a:endParaRPr lang="he-IL" sz="1100" dirty="0" smtClean="0">
              <a:latin typeface="David" pitchFamily="34" charset="-79"/>
              <a:cs typeface="David" pitchFamily="34" charset="-79"/>
            </a:endParaRPr>
          </a:p>
          <a:p>
            <a:pPr marL="0" indent="0" algn="ctr">
              <a:spcBef>
                <a:spcPts val="600"/>
              </a:spcBef>
              <a:buNone/>
            </a:pPr>
            <a:r>
              <a:rPr lang="he-IL" sz="2400" dirty="0" smtClean="0">
                <a:latin typeface="David" pitchFamily="34" charset="-79"/>
                <a:cs typeface="David" pitchFamily="34" charset="-79"/>
              </a:rPr>
              <a:t>עלינו </a:t>
            </a:r>
            <a:r>
              <a:rPr lang="he-IL" sz="2400" u="sng" dirty="0">
                <a:latin typeface="David" pitchFamily="34" charset="-79"/>
                <a:cs typeface="David" pitchFamily="34" charset="-79"/>
              </a:rPr>
              <a:t>להפנים</a:t>
            </a:r>
            <a:r>
              <a:rPr lang="he-IL" sz="2400" dirty="0">
                <a:latin typeface="David" pitchFamily="34" charset="-79"/>
                <a:cs typeface="David" pitchFamily="34" charset="-79"/>
              </a:rPr>
              <a:t> את מצוות </a:t>
            </a:r>
            <a:r>
              <a:rPr lang="he-IL" sz="2400" dirty="0" smtClean="0">
                <a:latin typeface="David" pitchFamily="34" charset="-79"/>
                <a:cs typeface="David" pitchFamily="34" charset="-79"/>
              </a:rPr>
              <a:t>האמונה: </a:t>
            </a:r>
          </a:p>
          <a:p>
            <a:pPr marL="0" indent="0" algn="ctr">
              <a:spcBef>
                <a:spcPts val="600"/>
              </a:spcBef>
              <a:buNone/>
            </a:pPr>
            <a:r>
              <a:rPr lang="he-IL" sz="2400" dirty="0" smtClean="0">
                <a:latin typeface="Guttman Keren" pitchFamily="2" charset="-79"/>
                <a:cs typeface="Guttman Keren" pitchFamily="2" charset="-79"/>
              </a:rPr>
              <a:t>"</a:t>
            </a:r>
            <a:r>
              <a:rPr lang="he-IL" sz="2400" b="1" dirty="0" smtClean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וְהָיוּ</a:t>
            </a:r>
            <a:r>
              <a:rPr lang="he-IL" sz="2400" dirty="0" smtClean="0">
                <a:latin typeface="Guttman Keren" pitchFamily="2" charset="-79"/>
                <a:cs typeface="Guttman Keren" pitchFamily="2" charset="-79"/>
              </a:rPr>
              <a:t> ... עַל לְבָבֶךָ"</a:t>
            </a:r>
            <a:endParaRPr lang="he-IL" sz="2400" b="1" dirty="0" smtClean="0">
              <a:solidFill>
                <a:srgbClr val="FF0000"/>
              </a:solidFill>
              <a:latin typeface="Guttman Keren" pitchFamily="2" charset="-79"/>
              <a:cs typeface="Guttman Keren" pitchFamily="2" charset="-79"/>
            </a:endParaRPr>
          </a:p>
          <a:p>
            <a:pPr marL="0" indent="0">
              <a:spcBef>
                <a:spcPts val="600"/>
              </a:spcBef>
              <a:buNone/>
            </a:pPr>
            <a:endParaRPr lang="he-IL" sz="1600" dirty="0" smtClean="0">
              <a:latin typeface="David" pitchFamily="34" charset="-79"/>
              <a:cs typeface="David" pitchFamily="34" charset="-79"/>
            </a:endParaRPr>
          </a:p>
          <a:p>
            <a:pPr marL="0" indent="0">
              <a:spcBef>
                <a:spcPts val="600"/>
              </a:spcBef>
              <a:buNone/>
            </a:pPr>
            <a:r>
              <a:rPr lang="he-IL" sz="2400" dirty="0" smtClean="0">
                <a:latin typeface="David" pitchFamily="34" charset="-79"/>
                <a:cs typeface="David" pitchFamily="34" charset="-79"/>
              </a:rPr>
              <a:t>ע"י </a:t>
            </a:r>
            <a:r>
              <a:rPr lang="he-IL" sz="2400" u="sng" dirty="0" smtClean="0">
                <a:latin typeface="David" pitchFamily="34" charset="-79"/>
                <a:cs typeface="David" pitchFamily="34" charset="-79"/>
              </a:rPr>
              <a:t>פעולות</a:t>
            </a:r>
            <a:r>
              <a:rPr lang="he-IL" sz="2400" dirty="0" smtClean="0">
                <a:latin typeface="David" pitchFamily="34" charset="-79"/>
                <a:cs typeface="David" pitchFamily="34" charset="-79"/>
              </a:rPr>
              <a:t>: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he-IL" sz="2400" dirty="0" smtClean="0">
                <a:latin typeface="Guttman Keren" pitchFamily="2" charset="-79"/>
                <a:cs typeface="Guttman Keren" pitchFamily="2" charset="-79"/>
              </a:rPr>
              <a:t>"</a:t>
            </a:r>
            <a:r>
              <a:rPr lang="he-IL" sz="2400" dirty="0" err="1" smtClean="0">
                <a:latin typeface="Guttman Keren" pitchFamily="2" charset="-79"/>
                <a:cs typeface="Guttman Keren" pitchFamily="2" charset="-79"/>
              </a:rPr>
              <a:t>וְשִׁנַּנְ</a:t>
            </a:r>
            <a:r>
              <a:rPr lang="he-IL" sz="2400" b="1" dirty="0" err="1" smtClean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תָּם</a:t>
            </a:r>
            <a:r>
              <a:rPr lang="he-IL" sz="2400" dirty="0" smtClean="0">
                <a:latin typeface="Guttman Keren" pitchFamily="2" charset="-79"/>
                <a:cs typeface="Guttman Keren" pitchFamily="2" charset="-79"/>
              </a:rPr>
              <a:t> ...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he-IL" sz="2400" dirty="0" smtClean="0">
                <a:latin typeface="Guttman Keren" pitchFamily="2" charset="-79"/>
                <a:cs typeface="Guttman Keren" pitchFamily="2" charset="-79"/>
              </a:rPr>
              <a:t>וְדִבַּרְתָּ </a:t>
            </a:r>
            <a:r>
              <a:rPr lang="he-IL" sz="2400" b="1" dirty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בָּם</a:t>
            </a:r>
            <a:r>
              <a:rPr lang="he-IL" sz="2400" dirty="0"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400" dirty="0" smtClean="0">
                <a:latin typeface="Guttman Keren" pitchFamily="2" charset="-79"/>
                <a:cs typeface="Guttman Keren" pitchFamily="2" charset="-79"/>
              </a:rPr>
              <a:t>...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he-IL" sz="2400" dirty="0" smtClean="0">
                <a:latin typeface="Guttman Keren" pitchFamily="2" charset="-79"/>
                <a:cs typeface="Guttman Keren" pitchFamily="2" charset="-79"/>
              </a:rPr>
              <a:t>וּקְשַׁרְ</a:t>
            </a:r>
            <a:r>
              <a:rPr lang="he-IL" sz="2400" b="1" dirty="0" smtClean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תָּם</a:t>
            </a:r>
            <a:r>
              <a:rPr lang="he-IL" sz="2400" dirty="0" smtClean="0">
                <a:latin typeface="Guttman Keren" pitchFamily="2" charset="-79"/>
                <a:cs typeface="Guttman Keren" pitchFamily="2" charset="-79"/>
              </a:rPr>
              <a:t> ... 	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he-IL" sz="2400" b="1" dirty="0" smtClean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וְהָיוּ</a:t>
            </a:r>
            <a:r>
              <a:rPr lang="he-IL" sz="2400" dirty="0" smtClean="0"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400" dirty="0" err="1">
                <a:latin typeface="Guttman Keren" pitchFamily="2" charset="-79"/>
                <a:cs typeface="Guttman Keren" pitchFamily="2" charset="-79"/>
              </a:rPr>
              <a:t>לְטֹטָפֹת</a:t>
            </a:r>
            <a:r>
              <a:rPr lang="he-IL" sz="2400" dirty="0">
                <a:latin typeface="Guttman Keren" pitchFamily="2" charset="-79"/>
                <a:cs typeface="Guttman Keren" pitchFamily="2" charset="-79"/>
              </a:rPr>
              <a:t> </a:t>
            </a:r>
            <a:r>
              <a:rPr lang="he-IL" sz="2400" dirty="0" smtClean="0">
                <a:latin typeface="Guttman Keren" pitchFamily="2" charset="-79"/>
                <a:cs typeface="Guttman Keren" pitchFamily="2" charset="-79"/>
              </a:rPr>
              <a:t>...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he-IL" sz="2400" dirty="0" smtClean="0">
                <a:latin typeface="Guttman Keren" pitchFamily="2" charset="-79"/>
                <a:cs typeface="Guttman Keren" pitchFamily="2" charset="-79"/>
              </a:rPr>
              <a:t>וּכְתַבְ</a:t>
            </a:r>
            <a:r>
              <a:rPr lang="he-IL" sz="2400" b="1" dirty="0" smtClean="0">
                <a:solidFill>
                  <a:srgbClr val="3333FF"/>
                </a:solidFill>
                <a:latin typeface="Guttman Keren" pitchFamily="2" charset="-79"/>
                <a:cs typeface="Guttman Keren" pitchFamily="2" charset="-79"/>
              </a:rPr>
              <a:t>תָּם</a:t>
            </a:r>
            <a:r>
              <a:rPr lang="he-IL" sz="2400" dirty="0" smtClean="0">
                <a:latin typeface="Guttman Keren" pitchFamily="2" charset="-79"/>
                <a:cs typeface="Guttman Keren" pitchFamily="2" charset="-79"/>
              </a:rPr>
              <a:t> ..."</a:t>
            </a:r>
            <a:endParaRPr lang="he-IL" sz="2400" dirty="0"/>
          </a:p>
        </p:txBody>
      </p:sp>
      <p:sp>
        <p:nvSpPr>
          <p:cNvPr id="4" name="TextBox 3"/>
          <p:cNvSpPr txBox="1"/>
          <p:nvPr/>
        </p:nvSpPr>
        <p:spPr>
          <a:xfrm>
            <a:off x="-35644" y="4062551"/>
            <a:ext cx="3420180" cy="2246769"/>
          </a:xfrm>
          <a:prstGeom prst="rect">
            <a:avLst/>
          </a:prstGeom>
          <a:noFill/>
          <a:ln>
            <a:noFill/>
          </a:ln>
        </p:spPr>
        <p:txBody>
          <a:bodyPr wrap="square" rtlCol="1">
            <a:spAutoFit/>
          </a:bodyPr>
          <a:lstStyle/>
          <a:p>
            <a:pPr>
              <a:spcBef>
                <a:spcPts val="600"/>
              </a:spcBef>
            </a:pPr>
            <a:r>
              <a:rPr lang="he-IL" sz="2400" dirty="0" smtClean="0">
                <a:latin typeface="David" pitchFamily="34" charset="-79"/>
                <a:cs typeface="David" pitchFamily="34" charset="-79"/>
              </a:rPr>
              <a:t>דרושה </a:t>
            </a:r>
            <a:r>
              <a:rPr lang="he-IL" sz="2400" u="sng" dirty="0" smtClean="0">
                <a:latin typeface="David" pitchFamily="34" charset="-79"/>
                <a:cs typeface="David" pitchFamily="34" charset="-79"/>
              </a:rPr>
              <a:t>התמדה</a:t>
            </a:r>
            <a:r>
              <a:rPr lang="he-IL" sz="2400" dirty="0" smtClean="0">
                <a:latin typeface="David" pitchFamily="34" charset="-79"/>
                <a:cs typeface="David" pitchFamily="34" charset="-79"/>
              </a:rPr>
              <a:t>:</a:t>
            </a:r>
          </a:p>
          <a:p>
            <a:pPr>
              <a:spcBef>
                <a:spcPts val="600"/>
              </a:spcBef>
            </a:pPr>
            <a:r>
              <a:rPr lang="he-IL" sz="2400" dirty="0" smtClean="0">
                <a:latin typeface="David" pitchFamily="34" charset="-79"/>
                <a:cs typeface="David" pitchFamily="34" charset="-79"/>
              </a:rPr>
              <a:t>בכל מקום - </a:t>
            </a:r>
            <a:r>
              <a:rPr lang="he-IL" sz="2400" dirty="0" smtClean="0">
                <a:latin typeface="Guttman Keren" pitchFamily="2" charset="-79"/>
                <a:cs typeface="Guttman Keren" pitchFamily="2" charset="-79"/>
              </a:rPr>
              <a:t>בְּשִׁבְתּ</a:t>
            </a:r>
            <a:r>
              <a:rPr lang="he-IL" sz="2400" dirty="0" smtClean="0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ְךָ</a:t>
            </a:r>
            <a:r>
              <a:rPr lang="he-IL" sz="2400" dirty="0" smtClean="0">
                <a:latin typeface="Guttman Keren" pitchFamily="2" charset="-79"/>
                <a:cs typeface="Guttman Keren" pitchFamily="2" charset="-79"/>
              </a:rPr>
              <a:t> בְּבֵיתֶ</a:t>
            </a:r>
            <a:r>
              <a:rPr lang="he-IL" sz="2400" dirty="0" smtClean="0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ךָ</a:t>
            </a:r>
            <a:r>
              <a:rPr lang="he-IL" sz="2400" dirty="0" smtClean="0">
                <a:latin typeface="Guttman Keren" pitchFamily="2" charset="-79"/>
                <a:cs typeface="Guttman Keren" pitchFamily="2" charset="-79"/>
              </a:rPr>
              <a:t> </a:t>
            </a:r>
            <a:endParaRPr lang="en-US" sz="2400" dirty="0">
              <a:cs typeface="Guttman Keren" pitchFamily="2" charset="-79"/>
            </a:endParaRPr>
          </a:p>
          <a:p>
            <a:pPr>
              <a:spcBef>
                <a:spcPts val="600"/>
              </a:spcBef>
            </a:pPr>
            <a:r>
              <a:rPr lang="he-IL" sz="2400" dirty="0" smtClean="0">
                <a:latin typeface="Guttman Keren" pitchFamily="2" charset="-79"/>
                <a:cs typeface="Guttman Keren" pitchFamily="2" charset="-79"/>
              </a:rPr>
              <a:t>   </a:t>
            </a:r>
            <a:r>
              <a:rPr lang="he-IL" sz="2400" dirty="0">
                <a:latin typeface="Guttman Keren" pitchFamily="2" charset="-79"/>
                <a:cs typeface="Guttman Keren" pitchFamily="2" charset="-79"/>
              </a:rPr>
              <a:t>	</a:t>
            </a:r>
            <a:r>
              <a:rPr lang="he-IL" sz="2400" dirty="0" smtClean="0">
                <a:latin typeface="Guttman Keren" pitchFamily="2" charset="-79"/>
                <a:cs typeface="Guttman Keren" pitchFamily="2" charset="-79"/>
              </a:rPr>
              <a:t>      וּבְלֶכְתְּ</a:t>
            </a:r>
            <a:r>
              <a:rPr lang="he-IL" sz="2400" dirty="0" smtClean="0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ךָ</a:t>
            </a:r>
            <a:r>
              <a:rPr lang="he-IL" sz="2400" dirty="0" smtClean="0">
                <a:latin typeface="Guttman Keren" pitchFamily="2" charset="-79"/>
                <a:cs typeface="Guttman Keren" pitchFamily="2" charset="-79"/>
              </a:rPr>
              <a:t> בַדֶּרֶךְ </a:t>
            </a:r>
            <a:endParaRPr lang="en-US" sz="2400" dirty="0">
              <a:cs typeface="Guttman Keren" pitchFamily="2" charset="-79"/>
            </a:endParaRPr>
          </a:p>
          <a:p>
            <a:pPr>
              <a:spcBef>
                <a:spcPts val="600"/>
              </a:spcBef>
            </a:pPr>
            <a:r>
              <a:rPr lang="he-IL" sz="2400" dirty="0" smtClean="0">
                <a:latin typeface="David" pitchFamily="34" charset="-79"/>
                <a:cs typeface="David" pitchFamily="34" charset="-79"/>
              </a:rPr>
              <a:t>ובכל זמן - </a:t>
            </a:r>
            <a:r>
              <a:rPr lang="he-IL" sz="2400" dirty="0" smtClean="0">
                <a:latin typeface="Guttman Keren" pitchFamily="2" charset="-79"/>
                <a:cs typeface="Guttman Keren" pitchFamily="2" charset="-79"/>
              </a:rPr>
              <a:t>וּבְשָׁכְבְּ</a:t>
            </a:r>
            <a:r>
              <a:rPr lang="he-IL" sz="2400" dirty="0" smtClean="0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ךָ</a:t>
            </a:r>
            <a:r>
              <a:rPr lang="he-IL" sz="2400" dirty="0" smtClean="0">
                <a:latin typeface="Guttman Keren" pitchFamily="2" charset="-79"/>
                <a:cs typeface="Guttman Keren" pitchFamily="2" charset="-79"/>
              </a:rPr>
              <a:t> </a:t>
            </a:r>
            <a:endParaRPr lang="en-US" sz="2400" dirty="0">
              <a:cs typeface="Guttman Keren" pitchFamily="2" charset="-79"/>
            </a:endParaRPr>
          </a:p>
          <a:p>
            <a:pPr>
              <a:spcBef>
                <a:spcPts val="600"/>
              </a:spcBef>
            </a:pPr>
            <a:r>
              <a:rPr lang="he-IL" sz="2400" dirty="0">
                <a:latin typeface="Guttman Keren" pitchFamily="2" charset="-79"/>
                <a:cs typeface="Guttman Keren" pitchFamily="2" charset="-79"/>
              </a:rPr>
              <a:t>	</a:t>
            </a:r>
            <a:r>
              <a:rPr lang="he-IL" sz="2400" dirty="0" smtClean="0">
                <a:latin typeface="Guttman Keren" pitchFamily="2" charset="-79"/>
                <a:cs typeface="Guttman Keren" pitchFamily="2" charset="-79"/>
              </a:rPr>
              <a:t>   וּבְקוּמֶ</a:t>
            </a:r>
            <a:r>
              <a:rPr lang="he-IL" sz="2400" dirty="0" smtClean="0">
                <a:solidFill>
                  <a:srgbClr val="FF0000"/>
                </a:solidFill>
                <a:latin typeface="Guttman Keren" pitchFamily="2" charset="-79"/>
                <a:cs typeface="Guttman Keren" pitchFamily="2" charset="-79"/>
              </a:rPr>
              <a:t>ךָ</a:t>
            </a:r>
            <a:endParaRPr lang="he-IL" sz="2400" dirty="0"/>
          </a:p>
        </p:txBody>
      </p:sp>
      <p:sp>
        <p:nvSpPr>
          <p:cNvPr id="5" name="TextBox 4"/>
          <p:cNvSpPr txBox="1"/>
          <p:nvPr/>
        </p:nvSpPr>
        <p:spPr>
          <a:xfrm rot="20613689">
            <a:off x="612168" y="2942269"/>
            <a:ext cx="4799427" cy="1200329"/>
          </a:xfrm>
          <a:prstGeom prst="rect">
            <a:avLst/>
          </a:prstGeom>
          <a:solidFill>
            <a:schemeClr val="tx1"/>
          </a:solidFill>
        </p:spPr>
        <p:txBody>
          <a:bodyPr wrap="square" rtlCol="1">
            <a:spAutoFit/>
          </a:bodyPr>
          <a:lstStyle/>
          <a:p>
            <a:pPr algn="ctr"/>
            <a:r>
              <a:rPr lang="he-IL" sz="3600" dirty="0" smtClean="0">
                <a:solidFill>
                  <a:schemeClr val="bg1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אזהרות רבות ביותר מעבודה זרה!!!</a:t>
            </a:r>
            <a:endParaRPr lang="he-IL" sz="3600" dirty="0">
              <a:solidFill>
                <a:schemeClr val="bg1"/>
              </a:solidFill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748382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2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3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5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7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8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9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43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367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498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498" tmFilter="0, 0; 0.125,0.2665; 0.25,0.4; 0.375,0.465; 0.5,0.5;  0.625,0.535; 0.75,0.6; 0.875,0.7335; 1,1">
                                          <p:stCondLst>
                                            <p:cond delay="49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249" tmFilter="0, 0; 0.125,0.2665; 0.25,0.4; 0.375,0.465; 0.5,0.5;  0.625,0.535; 0.75,0.6; 0.875,0.7335; 1,1">
                                          <p:stCondLst>
                                            <p:cond delay="993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23" tmFilter="0, 0; 0.125,0.2665; 0.25,0.4; 0.375,0.465; 0.5,0.5;  0.625,0.535; 0.75,0.6; 0.875,0.7335; 1,1">
                                          <p:stCondLst>
                                            <p:cond delay="124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9" dur="20">
                                          <p:stCondLst>
                                            <p:cond delay="48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0" dur="124" decel="50000">
                                          <p:stCondLst>
                                            <p:cond delay="50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0">
                                          <p:stCondLst>
                                            <p:cond delay="98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2" dur="124" decel="50000">
                                          <p:stCondLst>
                                            <p:cond delay="100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0">
                                          <p:stCondLst>
                                            <p:cond delay="123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4" dur="124" decel="50000">
                                          <p:stCondLst>
                                            <p:cond delay="125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0">
                                          <p:stCondLst>
                                            <p:cond delay="13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6" dur="124" decel="50000">
                                          <p:stCondLst>
                                            <p:cond delay="137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000"/>
                            </p:stCondLst>
                            <p:childTnLst>
                              <p:par>
                                <p:cTn id="48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6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7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8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9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0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1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2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3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8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3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4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6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8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0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0"/>
                            </p:stCondLst>
                            <p:childTnLst>
                              <p:par>
                                <p:cTn id="82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90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1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2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3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4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5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6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7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6000"/>
                            </p:stCondLst>
                            <p:childTnLst>
                              <p:par>
                                <p:cTn id="99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29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911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332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332" tmFilter="0, 0; 0.125,0.2665; 0.25,0.4; 0.375,0.465; 0.5,0.5;  0.625,0.535; 0.75,0.6; 0.875,0.7335; 1,1">
                                          <p:stCondLst>
                                            <p:cond delay="33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5" dur="166" tmFilter="0, 0; 0.125,0.2665; 0.25,0.4; 0.375,0.465; 0.5,0.5;  0.625,0.535; 0.75,0.6; 0.875,0.7335; 1,1">
                                          <p:stCondLst>
                                            <p:cond delay="662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82" tmFilter="0, 0; 0.125,0.2665; 0.25,0.4; 0.375,0.465; 0.5,0.5;  0.625,0.535; 0.75,0.6; 0.875,0.7335; 1,1">
                                          <p:stCondLst>
                                            <p:cond delay="82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07" dur="13">
                                          <p:stCondLst>
                                            <p:cond delay="325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08" dur="83" decel="50000">
                                          <p:stCondLst>
                                            <p:cond delay="338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09" dur="13">
                                          <p:stCondLst>
                                            <p:cond delay="656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10" dur="83" decel="50000">
                                          <p:stCondLst>
                                            <p:cond delay="669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1" dur="13">
                                          <p:stCondLst>
                                            <p:cond delay="821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12" dur="83" decel="50000">
                                          <p:stCondLst>
                                            <p:cond delay="83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13" dur="13">
                                          <p:stCondLst>
                                            <p:cond delay="904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114" dur="83" decel="50000">
                                          <p:stCondLst>
                                            <p:cond delay="917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116632"/>
            <a:ext cx="5509260" cy="792088"/>
          </a:xfrm>
        </p:spPr>
        <p:txBody>
          <a:bodyPr>
            <a:normAutofit/>
          </a:bodyPr>
          <a:lstStyle/>
          <a:p>
            <a:r>
              <a:rPr lang="he-IL" sz="4000" dirty="0" smtClean="0">
                <a:solidFill>
                  <a:srgbClr val="3333FF"/>
                </a:solidFill>
                <a:cs typeface="+mn-cs"/>
              </a:rPr>
              <a:t>שירת האהבה</a:t>
            </a:r>
            <a:endParaRPr lang="he-IL" sz="4000" dirty="0">
              <a:solidFill>
                <a:srgbClr val="3333FF"/>
              </a:solidFill>
              <a:cs typeface="+mn-cs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06070" y="836712"/>
            <a:ext cx="5509260" cy="45259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פרק ז'</a:t>
            </a:r>
          </a:p>
          <a:p>
            <a:pPr marL="0" indent="0" algn="just">
              <a:buNone/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(ו) כִּי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עַם קָדוֹשׁ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אַתָּה לַה’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ָ בְּךָ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בָּחַר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ה’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ָ לִהְיוֹת לוֹ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לְעַם סְגֻלָּה </a:t>
            </a:r>
            <a:r>
              <a:rPr lang="he-IL" sz="24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מִכֹּל הָעַמִּים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אֲשֶׁר עַל פְּנֵי הָאֲדָמָה: (ז) לֹא מֵרֻבְּכֶם </a:t>
            </a:r>
            <a:r>
              <a:rPr lang="he-IL" sz="24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מִכָּל הָעַמִּים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חָשַׁק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ה’ בָּכֶם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וַיִּבְחַר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בָּכֶם כִּי אַתֶּם הַמְעַט </a:t>
            </a:r>
            <a:r>
              <a:rPr lang="he-IL" sz="24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מִכָּל הָעַמִּים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: (ח) כִּי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מֵאַהֲבַת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ה’ אֶתְכֶם וּמִשָּׁמְרוֹ אֶת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הַשְּׁבֻעָה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אֲשֶׁר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נִשְׁבַּע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לַאֲבֹתֵיכֶם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הוֹצִיא ה’ אֶתְכֶם בְּיָד חֲזָקָה וַיִּפְדְּךָ מִבֵּית עֲבָדִים מִיַּד פַּרְעֹה מֶלֶךְ מִצְרָיִם: </a:t>
            </a: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(ט) וְיָדַעְתָּ כִּי ה’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ָ הוּא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הָאֱלֹהִים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הָאֵל הַנֶּאֱמָן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שֹׁמֵר הַבְּרִית וְהַחֶסֶד לְאֹהֲבָיו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וּלְשֹׁמְרֵי מִצְוֹתָיו לְאֶלֶף דּוֹר: (י) </a:t>
            </a:r>
            <a:r>
              <a:rPr lang="he-IL" sz="24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וּמְשַׁלֵּם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dirty="0" err="1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לְשֹׂנְאָיו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אֶל פָּנָיו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לְהַאֲבִידו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ֹ לֹא יְאַחֵר </a:t>
            </a:r>
            <a:r>
              <a:rPr lang="he-IL" sz="24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לְשֹׂנְאוֹ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אֶל פָּנָיו יְשַׁלֶּם לוֹ: </a:t>
            </a: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(יא) וְשָׁמַרְתָּ אֶת הַמִּצְוָה וְאֶת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הַחֻקִּים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וְאֶת הַמִּשְׁפָּטִים אֲשֶׁר אָנֹכִי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מְצַוְּך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ָ הַיּוֹם לַעֲשׂוֹתָם:</a:t>
            </a: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endParaRPr lang="he-IL" sz="24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9414498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116632"/>
            <a:ext cx="5509260" cy="792088"/>
          </a:xfrm>
        </p:spPr>
        <p:txBody>
          <a:bodyPr>
            <a:normAutofit/>
          </a:bodyPr>
          <a:lstStyle/>
          <a:p>
            <a:r>
              <a:rPr lang="he-IL" sz="4000" dirty="0" smtClean="0">
                <a:solidFill>
                  <a:srgbClr val="3333FF"/>
                </a:solidFill>
                <a:cs typeface="+mn-cs"/>
              </a:rPr>
              <a:t>שירת האהבה</a:t>
            </a:r>
            <a:endParaRPr lang="he-IL" sz="4000" dirty="0">
              <a:solidFill>
                <a:srgbClr val="3333FF"/>
              </a:solidFill>
              <a:cs typeface="+mn-cs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06070" y="836712"/>
            <a:ext cx="5509260" cy="5616624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פרק ז'</a:t>
            </a:r>
          </a:p>
          <a:p>
            <a:pPr marL="0" indent="0" algn="just">
              <a:buNone/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יב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) וְהָיָה עֵקֶב תִּשְׁמְעוּן אֵת הַמִּשְׁפָּטִים הָאֵלֶּה וּשְׁמַרְתֶּם וַעֲשִׂיתֶם אֹתָם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וְשָׁמַר ה’ </a:t>
            </a:r>
            <a:r>
              <a:rPr lang="he-IL" sz="2400" b="1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 לְךָ אֶת הַבְּרִית וְאֶת הַחֶסֶד אֲשֶׁר נִשְׁבַּע </a:t>
            </a:r>
            <a:r>
              <a:rPr lang="he-IL" sz="2400" b="1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לַאֲבֹתֶיך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יג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)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וַאֲהֵבְךָ וּבֵרַכְךָ וְהִרְבֶּךָ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וּבֵרַךְ פְּרִי בִטְנְךָ וּפְרִי אַדְמָתֶךָ דְּגָנְךָ וְתִירֹשְׁךָ וְיִצְהָרֶךָ שְׁגַר אֲלָפֶיךָ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וְעַשְׁתְּרֹת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צֹאנֶךָ עַל הָאֲדָמָה אֲשֶׁר נִשְׁבַּע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לַאֲבֹתֶיך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ָ לָתֶת לָךְ: </a:t>
            </a: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(יד) בָּרוּךְ תִּהְיֶה </a:t>
            </a:r>
            <a:r>
              <a:rPr lang="he-IL" sz="24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מִכָּל הָעַמִּים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לֹא יִהְיֶה בְךָ עָקָר וַעֲקָרָה וּבִבְהֶמְתֶּךָ: </a:t>
            </a: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(טו) וְהֵסִיר ה’ מִמְּךָ כָּל חֹלִי וְכָל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מַדְוֵי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מִצְרַיִם הָרָעִים אֲשֶׁר יָדַעְתָּ לֹא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יְשִׂימָם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בָּךְ וּנְתָנָם בְּכָל </a:t>
            </a:r>
            <a:r>
              <a:rPr lang="he-IL" sz="2400" dirty="0" err="1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שֹׂנְאֶיך</a:t>
            </a:r>
            <a:r>
              <a:rPr lang="he-IL" sz="24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endParaRPr lang="he-IL" sz="24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4019531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116632"/>
            <a:ext cx="5509260" cy="792088"/>
          </a:xfrm>
        </p:spPr>
        <p:txBody>
          <a:bodyPr>
            <a:normAutofit/>
          </a:bodyPr>
          <a:lstStyle/>
          <a:p>
            <a:r>
              <a:rPr lang="he-IL" sz="4000" dirty="0" smtClean="0">
                <a:solidFill>
                  <a:srgbClr val="3333FF"/>
                </a:solidFill>
                <a:cs typeface="+mn-cs"/>
              </a:rPr>
              <a:t>שירת האהבה</a:t>
            </a:r>
            <a:endParaRPr lang="he-IL" sz="4000" dirty="0">
              <a:solidFill>
                <a:srgbClr val="3333FF"/>
              </a:solidFill>
              <a:cs typeface="+mn-cs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80380" y="692696"/>
            <a:ext cx="5760640" cy="568863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פרק י'</a:t>
            </a:r>
          </a:p>
          <a:p>
            <a:pPr marL="0" indent="0" algn="just">
              <a:buNone/>
            </a:pP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יב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) וְעַתָּה יִשְׂרָאֵל מָה ה’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ָ שֹׁאֵל מֵעִמָּךְ כִּי אִם 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לְיִרְאָה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אֶת ה’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לָלֶכֶת</a:t>
            </a:r>
            <a:r>
              <a:rPr lang="he-IL" sz="2000" b="1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בְּכָל</a:t>
            </a:r>
            <a:r>
              <a:rPr lang="he-IL" sz="2000" b="1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דְּרָכָיו</a:t>
            </a:r>
            <a:r>
              <a:rPr lang="he-IL" sz="2000" b="1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וּלְאַהֲבָה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אֹתוֹ 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וְלַעֲבֹד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אֶת ה’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בְּכָל לְבָבְךָ וּבְכָל נַפְשֶׁךָ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r>
              <a:rPr lang="he-IL" sz="2000" dirty="0" smtClean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יג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) לִשְׁמֹר אֶת מִצְוֹת ה’ וְאֶת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חֻקֹּתָיו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אֲשֶׁר אָנֹכִי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מְצַוְּך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ָ הַיּוֹם לְטוֹב לָךְ: </a:t>
            </a:r>
            <a:endParaRPr lang="en-US" sz="20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(יד) הֵן לַה’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ָ הַשָּׁמַיִם וּשְׁמֵי הַשָּׁמָיִם הָאָרֶץ וְכָל אֲשֶׁר בָּהּ: </a:t>
            </a:r>
            <a:r>
              <a:rPr lang="he-IL" sz="2000" dirty="0" smtClean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טו) רַק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בַּאֲבֹתֶיך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חָשַׁק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ה’ 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לְאַהֲבָה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אוֹתָם 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וַיִּבְחַר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בְּזַרְעָם </a:t>
            </a:r>
            <a:r>
              <a:rPr lang="he-IL" sz="2000" dirty="0" smtClean="0">
                <a:latin typeface="David" panose="020E0502060401010101" pitchFamily="34" charset="-79"/>
                <a:cs typeface="David" panose="020E0502060401010101" pitchFamily="34" charset="-79"/>
              </a:rPr>
              <a:t>אַחֲרֵיהֶם 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בָּכֶם 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מִכָּל הָעַמִּים 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כַּיּוֹם הַזֶּה: </a:t>
            </a:r>
            <a:endParaRPr lang="en-US" sz="20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טז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) וּמַלְתֶּם אֵת עָרְלַת לְבַבְכֶם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וְעָרְפְּכֶם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לֹא תַקְשׁוּ עוֹד: </a:t>
            </a:r>
            <a:endParaRPr lang="en-US" sz="20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יז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) כִּי ה’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אֱלֹהֵיכֶם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הוּא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אֱלֹהֵי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הָאֱלֹהִים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וַאֲדֹנֵי הָאֲדֹנִים הָאֵל הַגָּדֹל הַגִּבֹּר וְהַנּוֹרָא אֲשֶׁר לֹא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יִשָּׂא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פָנִים וְלֹא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יִקַּח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שֹׁחַד: </a:t>
            </a:r>
            <a:endParaRPr lang="en-US" sz="20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יח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) עֹשֶׂה מִשְׁפַּט יָתוֹם וְאַלְמָנָה וְאֹהֵב גֵּר לָתֶת לוֹ לֶחֶם וְשִׂמְלָה: </a:t>
            </a:r>
            <a:endParaRPr lang="en-US" sz="20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יט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) וַאֲהַבְתֶּם אֶת הַגֵּר כִּי גֵרִים הֱיִיתֶם בְּאֶרֶץ מִצְרָיִם: </a:t>
            </a:r>
            <a:endParaRPr lang="en-US" sz="20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(כ) אֶת ה’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ָ תִּירָא אֹתוֹ תַעֲבֹד וּבוֹ 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תִדְבָּק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וּבִשְׁמוֹ תִּשָּׁבֵעַ: </a:t>
            </a:r>
            <a:endParaRPr lang="en-US" sz="20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כא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) הוּא </a:t>
            </a:r>
            <a:r>
              <a:rPr lang="he-IL" sz="2000" b="1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תְהִלָּתְך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וְהוּא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ָ אֲשֶׁר עָשָׂה אִתְּךָ אֶת הַגְּדֹלֹת וְאֶת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הַנּוֹרָאֹת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הָאֵלֶּה אֲשֶׁר רָאוּ עֵינֶיךָ: </a:t>
            </a:r>
            <a:r>
              <a:rPr lang="he-IL" sz="2000" dirty="0" smtClean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כב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) בְּשִׁבְעִים נֶפֶשׁ יָרְדוּ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אֲבֹתֶיך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ָ מִצְרָיְמָה וְעַתָּה שָׂמְךָ ה’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ָ כְּכוֹכְבֵי הַשָּׁמַיִם לָרֹב: </a:t>
            </a:r>
            <a:endParaRPr lang="en-US" sz="20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37820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116632"/>
            <a:ext cx="5509260" cy="792088"/>
          </a:xfrm>
        </p:spPr>
        <p:txBody>
          <a:bodyPr>
            <a:normAutofit/>
          </a:bodyPr>
          <a:lstStyle/>
          <a:p>
            <a:r>
              <a:rPr lang="he-IL" sz="4000" dirty="0" smtClean="0">
                <a:solidFill>
                  <a:srgbClr val="3333FF"/>
                </a:solidFill>
                <a:cs typeface="+mn-cs"/>
              </a:rPr>
              <a:t>שירת האהבה</a:t>
            </a:r>
            <a:endParaRPr lang="he-IL" sz="4000" dirty="0">
              <a:solidFill>
                <a:srgbClr val="3333FF"/>
              </a:solidFill>
              <a:cs typeface="+mn-cs"/>
            </a:endParaRPr>
          </a:p>
        </p:txBody>
      </p:sp>
      <p:sp>
        <p:nvSpPr>
          <p:cNvPr id="4" name="מלבן 3"/>
          <p:cNvSpPr/>
          <p:nvPr/>
        </p:nvSpPr>
        <p:spPr>
          <a:xfrm>
            <a:off x="324396" y="4365104"/>
            <a:ext cx="5544616" cy="792088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80380" y="692696"/>
            <a:ext cx="5760640" cy="5688632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פרק י'</a:t>
            </a:r>
          </a:p>
          <a:p>
            <a:pPr marL="0" indent="0" algn="just">
              <a:buNone/>
            </a:pP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יב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) וְעַתָּה יִשְׂרָאֵל מָה ה’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ָ שֹׁאֵל מֵעִמָּךְ כִּי אִם 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לְיִרְאָה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אֶת ה’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לָלֶכֶת</a:t>
            </a:r>
            <a:r>
              <a:rPr lang="he-IL" sz="2000" b="1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בְּכָל</a:t>
            </a:r>
            <a:r>
              <a:rPr lang="he-IL" sz="2000" b="1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דְּרָכָיו</a:t>
            </a:r>
            <a:r>
              <a:rPr lang="he-IL" sz="2000" b="1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וּלְאַהֲבָה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אֹתוֹ 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וְלַעֲבֹד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אֶת ה’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בְּכָל לְבָבְךָ וּבְכָל נַפְשֶׁךָ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r>
              <a:rPr lang="he-IL" sz="2000" dirty="0" smtClean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יג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) לִשְׁמֹר אֶת מִצְוֹת ה’ וְאֶת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חֻקֹּתָיו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אֲשֶׁר אָנֹכִי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מְצַוְּך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ָ הַיּוֹם לְטוֹב לָךְ: </a:t>
            </a:r>
            <a:endParaRPr lang="en-US" sz="20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(יד) הֵן לַה’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ָ הַשָּׁמַיִם וּשְׁמֵי הַשָּׁמָיִם הָאָרֶץ וְכָל אֲשֶׁר בָּהּ: </a:t>
            </a:r>
            <a:r>
              <a:rPr lang="he-IL" sz="2000" dirty="0" smtClean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טו) רַק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בַּאֲבֹתֶיך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חָשַׁק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ה’ 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לְאַהֲבָה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אוֹתָם 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וַיִּבְחַר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בְּזַרְעָם </a:t>
            </a:r>
            <a:r>
              <a:rPr lang="he-IL" sz="2000" dirty="0" smtClean="0">
                <a:latin typeface="David" panose="020E0502060401010101" pitchFamily="34" charset="-79"/>
                <a:cs typeface="David" panose="020E0502060401010101" pitchFamily="34" charset="-79"/>
              </a:rPr>
              <a:t>אַחֲרֵיהֶם 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בָּכֶם 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מִכָּל הָעַמִּים 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כַּיּוֹם הַזֶּה: </a:t>
            </a:r>
            <a:endParaRPr lang="en-US" sz="20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טז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) וּמַלְתֶּם אֵת עָרְלַת לְבַבְכֶם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וְעָרְפְּכֶם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לֹא תַקְשׁוּ עוֹד: </a:t>
            </a:r>
            <a:endParaRPr lang="en-US" sz="20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יז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) כִּי ה’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אֱלֹהֵיכֶם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הוּא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אֱלֹהֵי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הָאֱלֹהִים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וַאֲדֹנֵי הָאֲדֹנִים הָאֵל הַגָּדֹל הַגִּבֹּר וְהַנּוֹרָא אֲשֶׁר לֹא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יִשָּׂא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פָנִים וְלֹא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יִקַּח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שֹׁחַד: </a:t>
            </a:r>
            <a:endParaRPr lang="en-US" sz="20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יח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) עֹשֶׂה מִשְׁפַּט יָתוֹם וְאַלְמָנָה וְאֹהֵב גֵּר לָתֶת לוֹ לֶחֶם וְשִׂמְלָה: </a:t>
            </a:r>
            <a:endParaRPr lang="en-US" sz="20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יט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) וַאֲהַבְתֶּם אֶת הַגֵּר כִּי גֵרִים הֱיִיתֶם בְּאֶרֶץ מִצְרָיִם: </a:t>
            </a:r>
            <a:endParaRPr lang="en-US" sz="20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(כ) אֶת ה’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ָ תִּירָא אֹתוֹ תַעֲבֹד וּבוֹ 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תִדְבָּק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וּבִשְׁמוֹ תִּשָּׁבֵעַ: </a:t>
            </a:r>
            <a:endParaRPr lang="en-US" sz="20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כא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) הוּא </a:t>
            </a:r>
            <a:r>
              <a:rPr lang="he-IL" sz="2000" b="1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תְהִלָּתְך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וְהוּא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ָ אֲשֶׁר עָשָׂה אִתְּךָ אֶת הַגְּדֹלֹת וְאֶת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הַנּוֹרָאֹת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הָאֵלֶּה אֲשֶׁר רָאוּ עֵינֶיךָ: </a:t>
            </a:r>
            <a:r>
              <a:rPr lang="he-IL" sz="2000" dirty="0" smtClean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כב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) בְּשִׁבְעִים נֶפֶשׁ יָרְדוּ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אֲבֹתֶיך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ָ מִצְרָיְמָה וְעַתָּה שָׂמְךָ ה’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ָ כְּכוֹכְבֵי הַשָּׁמַיִם לָרֹב: </a:t>
            </a:r>
            <a:endParaRPr lang="en-US" sz="20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531187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116632"/>
            <a:ext cx="5509260" cy="792088"/>
          </a:xfrm>
        </p:spPr>
        <p:txBody>
          <a:bodyPr>
            <a:normAutofit/>
          </a:bodyPr>
          <a:lstStyle/>
          <a:p>
            <a:r>
              <a:rPr lang="he-IL" sz="4000" dirty="0" smtClean="0">
                <a:solidFill>
                  <a:srgbClr val="3333FF"/>
                </a:solidFill>
                <a:cs typeface="+mn-cs"/>
              </a:rPr>
              <a:t>שירת אזהרה מתוך אהבה</a:t>
            </a:r>
            <a:endParaRPr lang="he-IL" sz="4000" dirty="0">
              <a:solidFill>
                <a:srgbClr val="3333FF"/>
              </a:solidFill>
              <a:cs typeface="+mn-cs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06070" y="836712"/>
            <a:ext cx="5509260" cy="5328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פרק י"ג</a:t>
            </a:r>
          </a:p>
          <a:p>
            <a:pPr marL="0" indent="0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ד)  לֹא תִשְׁמַע אֶל דִּבְרֵי הַנָּבִיא הַהוּא אוֹ אֶל חוֹלֵם הַחֲלוֹם הַהוּא כִּי מְנַסֶּה ה’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אֱלֹהֵיכֶם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אֶתְכֶם לָדַעַת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הֲיִשְׁכֶם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אֹהֲבִים אֶת ה’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אֱלֹהֵיכֶם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בְּכָל לְבַבְכֶם וּבְכָל נַפְשְׁכֶם: </a:t>
            </a: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ה)  אַחֲרֵי ה’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אֱלֹהֵיכֶם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	תֵּלֵכוּ </a:t>
            </a:r>
            <a:r>
              <a:rPr lang="he-IL" sz="1800" dirty="0" smtClean="0">
                <a:latin typeface="David" panose="020E0502060401010101" pitchFamily="34" charset="-79"/>
                <a:cs typeface="David" panose="020E0502060401010101" pitchFamily="34" charset="-79"/>
              </a:rPr>
              <a:t>(תֵּלְכוּ)</a:t>
            </a:r>
          </a:p>
          <a:p>
            <a:pPr marL="1257300" lvl="3" indent="0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וְאֹתוֹ 	תִירָאוּ </a:t>
            </a:r>
            <a:r>
              <a:rPr lang="he-IL" sz="1800" dirty="0" smtClean="0">
                <a:latin typeface="David" panose="020E0502060401010101" pitchFamily="34" charset="-79"/>
                <a:cs typeface="David" panose="020E0502060401010101" pitchFamily="34" charset="-79"/>
              </a:rPr>
              <a:t>(תִירְאוּ)</a:t>
            </a:r>
          </a:p>
          <a:p>
            <a:pPr marL="1257300" lvl="3" indent="0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וְאֶת 	מִצְוֹתָיו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תִּשְׁמֹרוּ </a:t>
            </a:r>
            <a:r>
              <a:rPr lang="he-IL" sz="1800" dirty="0" smtClean="0">
                <a:latin typeface="David" panose="020E0502060401010101" pitchFamily="34" charset="-79"/>
                <a:cs typeface="David" panose="020E0502060401010101" pitchFamily="34" charset="-79"/>
              </a:rPr>
              <a:t>(תִּשְׁמְרוּ)</a:t>
            </a:r>
          </a:p>
          <a:p>
            <a:pPr marL="1257300" lvl="3" indent="0">
              <a:buNone/>
            </a:pPr>
            <a:r>
              <a:rPr lang="he-IL" sz="2400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וּבְקֹלו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ֹ 	תִשְׁמָעוּ </a:t>
            </a:r>
            <a:r>
              <a:rPr lang="he-IL" sz="1800" dirty="0" smtClean="0">
                <a:latin typeface="David" panose="020E0502060401010101" pitchFamily="34" charset="-79"/>
                <a:cs typeface="David" panose="020E0502060401010101" pitchFamily="34" charset="-79"/>
              </a:rPr>
              <a:t>(תִשְׁמְעוּ)</a:t>
            </a:r>
          </a:p>
          <a:p>
            <a:pPr marL="1257300" lvl="3" indent="0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וְאֹתוֹ 	תַעֲבֹדוּ </a:t>
            </a:r>
            <a:r>
              <a:rPr lang="he-IL" sz="1800" dirty="0" smtClean="0">
                <a:latin typeface="David" panose="020E0502060401010101" pitchFamily="34" charset="-79"/>
                <a:cs typeface="David" panose="020E0502060401010101" pitchFamily="34" charset="-79"/>
              </a:rPr>
              <a:t>(תַעֲבְדוּ)</a:t>
            </a:r>
          </a:p>
          <a:p>
            <a:pPr marL="1257300" lvl="3" indent="0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וּבוֹ 		</a:t>
            </a:r>
            <a:r>
              <a:rPr lang="he-IL" sz="2400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תִדְבָּקוּן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r>
              <a:rPr lang="he-IL" sz="1800" dirty="0" smtClean="0">
                <a:latin typeface="David" panose="020E0502060401010101" pitchFamily="34" charset="-79"/>
                <a:cs typeface="David" panose="020E0502060401010101" pitchFamily="34" charset="-79"/>
              </a:rPr>
              <a:t>(תִדְבְּקוּ)</a:t>
            </a:r>
            <a:endParaRPr lang="en-US" sz="1800" dirty="0" smtClean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buNone/>
            </a:pP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639327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116632"/>
            <a:ext cx="5509260" cy="792088"/>
          </a:xfrm>
        </p:spPr>
        <p:txBody>
          <a:bodyPr>
            <a:normAutofit/>
          </a:bodyPr>
          <a:lstStyle/>
          <a:p>
            <a:r>
              <a:rPr lang="he-IL" sz="4000" dirty="0" smtClean="0">
                <a:solidFill>
                  <a:srgbClr val="3333FF"/>
                </a:solidFill>
                <a:cs typeface="+mn-cs"/>
              </a:rPr>
              <a:t>שירת אזהרה מתוך אהבה</a:t>
            </a:r>
            <a:endParaRPr lang="he-IL" sz="4000" dirty="0">
              <a:solidFill>
                <a:srgbClr val="3333FF"/>
              </a:solidFill>
              <a:cs typeface="+mn-cs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06070" y="836712"/>
            <a:ext cx="5509260" cy="532859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פרק י"ג</a:t>
            </a:r>
          </a:p>
          <a:p>
            <a:pPr marL="0" indent="0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ד)  לֹא תִשְׁמַע אֶל דִּבְרֵי הַנָּבִיא הַהוּא אוֹ אֶל חוֹלֵם הַחֲלוֹם הַהוּא כִּי מְנַסֶּה ה’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אֱלֹהֵיכֶם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אֶתְכֶם לָדַעַת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הֲיִשְׁכֶם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אֹהֲבִים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אֶת ה’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אֱלֹהֵיכֶם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בְּכָל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לְבַבְכֶם וּבְכָל נַפְשְׁכֶם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ה)  אַחֲרֵי ה’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אֱלֹהֵיכֶם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	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תֵּלֵכוּ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1800" dirty="0" smtClean="0">
                <a:latin typeface="David" panose="020E0502060401010101" pitchFamily="34" charset="-79"/>
                <a:cs typeface="David" panose="020E0502060401010101" pitchFamily="34" charset="-79"/>
              </a:rPr>
              <a:t>(תֵּלְכוּ)</a:t>
            </a:r>
          </a:p>
          <a:p>
            <a:pPr marL="1257300" lvl="3" indent="0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וְאֹתוֹ 	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תִירָאוּ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1800" dirty="0" smtClean="0">
                <a:latin typeface="David" panose="020E0502060401010101" pitchFamily="34" charset="-79"/>
                <a:cs typeface="David" panose="020E0502060401010101" pitchFamily="34" charset="-79"/>
              </a:rPr>
              <a:t>(תִירְאוּ)</a:t>
            </a:r>
          </a:p>
          <a:p>
            <a:pPr marL="1257300" lvl="3" indent="0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וְאֶת 	מִצְוֹתָיו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תִּשְׁמֹרוּ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1800" dirty="0" smtClean="0">
                <a:latin typeface="David" panose="020E0502060401010101" pitchFamily="34" charset="-79"/>
                <a:cs typeface="David" panose="020E0502060401010101" pitchFamily="34" charset="-79"/>
              </a:rPr>
              <a:t>(תִּשְׁמְרוּ)</a:t>
            </a:r>
          </a:p>
          <a:p>
            <a:pPr marL="1257300" lvl="3" indent="0">
              <a:buNone/>
            </a:pPr>
            <a:r>
              <a:rPr lang="he-IL" sz="2400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וּבְקֹלו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ֹ 	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תִשְׁמָעוּ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1800" dirty="0" smtClean="0">
                <a:latin typeface="David" panose="020E0502060401010101" pitchFamily="34" charset="-79"/>
                <a:cs typeface="David" panose="020E0502060401010101" pitchFamily="34" charset="-79"/>
              </a:rPr>
              <a:t>(תִשְׁמְעוּ)</a:t>
            </a:r>
          </a:p>
          <a:p>
            <a:pPr marL="1257300" lvl="3" indent="0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וְאֹתוֹ 	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תַעֲבֹדוּ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1800" dirty="0" smtClean="0">
                <a:latin typeface="David" panose="020E0502060401010101" pitchFamily="34" charset="-79"/>
                <a:cs typeface="David" panose="020E0502060401010101" pitchFamily="34" charset="-79"/>
              </a:rPr>
              <a:t>(תַעֲבְדוּ)</a:t>
            </a:r>
          </a:p>
          <a:p>
            <a:pPr marL="1257300" lvl="3" indent="0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וּבוֹ 		</a:t>
            </a:r>
            <a:r>
              <a:rPr lang="he-IL" sz="2400" b="1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תִדְבָּקוּן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r>
              <a:rPr lang="he-IL" sz="1800" dirty="0" smtClean="0">
                <a:latin typeface="David" panose="020E0502060401010101" pitchFamily="34" charset="-79"/>
                <a:cs typeface="David" panose="020E0502060401010101" pitchFamily="34" charset="-79"/>
              </a:rPr>
              <a:t>(תִדְבְּקוּ)</a:t>
            </a:r>
            <a:endParaRPr lang="en-US" sz="1800" dirty="0" smtClean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buNone/>
            </a:pP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4482713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116632"/>
            <a:ext cx="5509260" cy="1143000"/>
          </a:xfrm>
        </p:spPr>
        <p:txBody>
          <a:bodyPr>
            <a:normAutofit fontScale="90000"/>
          </a:bodyPr>
          <a:lstStyle/>
          <a:p>
            <a:r>
              <a:rPr lang="he-IL" sz="3600" dirty="0" smtClean="0">
                <a:solidFill>
                  <a:srgbClr val="3333FF"/>
                </a:solidFill>
                <a:cs typeface="+mn-cs"/>
              </a:rPr>
              <a:t>שירת אהבה בסיום נאום המצוות</a:t>
            </a:r>
            <a:endParaRPr lang="he-IL" sz="3600" dirty="0">
              <a:solidFill>
                <a:srgbClr val="3333FF"/>
              </a:solidFill>
              <a:cs typeface="+mn-cs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06070" y="1340768"/>
            <a:ext cx="5509260" cy="4925143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כ"ח:</a:t>
            </a:r>
          </a:p>
          <a:p>
            <a:pPr marL="0" indent="0" algn="just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400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טז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) הַיּוֹם הַזֶּה ה'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מְצַוְּך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ָ לַעֲשׂוֹת אֶת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הַחֻקִּים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הָאֵלֶּה וְאֶת הַמִּשְׁפָּטִים וְשָׁמַרְתָּ וְעָשִׂיתָ אוֹתָם בְּכָל לְבָבְךָ וּבְכָל נַפְשֶׁךָ:</a:t>
            </a: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יז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) אֶת ה'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הֶאֱמַרְתָּ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הַיּוֹם לִהְיוֹת לְךָ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לֵאלֹהִים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וְלָלֶכֶת בִּדְרָכָיו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וְלִשְׁמֹר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חֻקָּיו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וּמִצְוֹתָיו וּמִשְׁפָּטָיו וְלִשְׁמֹעַ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בְּקֹלו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ֹ:</a:t>
            </a: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יח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) וַה' </a:t>
            </a:r>
            <a:r>
              <a:rPr lang="he-IL" sz="2400" b="1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הֶאֱמִירְך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הַיּוֹם לִהְיוֹת לוֹ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לְעַם סְגֻלָּה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כַּאֲשֶׁר דִּבֶּר לָךְ וְלִשְׁמֹר כָּל מִצְוֹתָיו:</a:t>
            </a: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יט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) וּלְתִתְּךָ עֶלְיוֹן עַל </a:t>
            </a:r>
            <a:r>
              <a:rPr lang="he-IL" sz="24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כָּל </a:t>
            </a:r>
            <a:r>
              <a:rPr lang="he-IL" sz="2400" dirty="0" err="1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הַגּוֹיִם</a:t>
            </a:r>
            <a:r>
              <a:rPr lang="he-IL" sz="24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אֲשֶׁר עָשָׂה </a:t>
            </a:r>
            <a:r>
              <a:rPr lang="he-IL" sz="2400" b="1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לִתְהִלָּה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וּלְשֵׁם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וּלְתִפְאָרֶת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וְלִהְיֹתְך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עַם קָדֹשׁ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לַה'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ָ כַּאֲשֶׁר דִּבֵּר: </a:t>
            </a:r>
          </a:p>
        </p:txBody>
      </p:sp>
    </p:spTree>
    <p:extLst>
      <p:ext uri="{BB962C8B-B14F-4D97-AF65-F5344CB8AC3E}">
        <p14:creationId xmlns:p14="http://schemas.microsoft.com/office/powerpoint/2010/main" val="39847907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116632"/>
            <a:ext cx="5509260" cy="706090"/>
          </a:xfrm>
        </p:spPr>
        <p:txBody>
          <a:bodyPr>
            <a:normAutofit/>
          </a:bodyPr>
          <a:lstStyle/>
          <a:p>
            <a:r>
              <a:rPr lang="he-IL" sz="3600" dirty="0" smtClean="0">
                <a:solidFill>
                  <a:srgbClr val="3333FF"/>
                </a:solidFill>
                <a:cs typeface="+mn-cs"/>
              </a:rPr>
              <a:t>אהבת ה' בסיום נאום הברית</a:t>
            </a:r>
            <a:endParaRPr lang="he-IL" sz="3600" dirty="0">
              <a:solidFill>
                <a:srgbClr val="3333FF"/>
              </a:solidFill>
              <a:cs typeface="+mn-cs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234062" y="764704"/>
            <a:ext cx="5706958" cy="5904656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he-IL" sz="2400" u="sng" dirty="0" smtClean="0">
                <a:latin typeface="Guttman Keren" pitchFamily="2" charset="-79"/>
              </a:rPr>
              <a:t>פרשת </a:t>
            </a:r>
            <a:r>
              <a:rPr lang="he-IL" sz="2400" u="sng" dirty="0">
                <a:latin typeface="Guttman Keren" pitchFamily="2" charset="-79"/>
              </a:rPr>
              <a:t>התשובה</a:t>
            </a:r>
            <a:r>
              <a:rPr lang="he-IL" sz="2400" dirty="0">
                <a:latin typeface="Guttman Keren" pitchFamily="2" charset="-79"/>
              </a:rPr>
              <a:t>: </a:t>
            </a:r>
          </a:p>
          <a:p>
            <a:pPr marL="0" indent="0" algn="just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ל', ו: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וּמָל ה'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ָ אֶת לְבָבְךָ וְאֶת לְבַב זַרְעֶךָ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לְאַהֲבָה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אֶת ה'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ָ בְּכָל לְבָבְךָ וּבְכָל נַפְשְׁךָ לְמַעַן חַיֶּיךָ:  </a:t>
            </a: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endParaRPr lang="he-IL" sz="2400" dirty="0">
              <a:latin typeface="Guttman Keren" pitchFamily="2" charset="-79"/>
              <a:cs typeface="Guttman Keren" pitchFamily="2" charset="-79"/>
            </a:endParaRPr>
          </a:p>
          <a:p>
            <a:pPr marL="0" indent="0" algn="just">
              <a:buNone/>
            </a:pPr>
            <a:r>
              <a:rPr lang="he-IL" sz="2400" u="sng" dirty="0">
                <a:latin typeface="Guttman Keren" pitchFamily="2" charset="-79"/>
              </a:rPr>
              <a:t>חתימת הברית</a:t>
            </a:r>
            <a:r>
              <a:rPr lang="he-IL" sz="2400" dirty="0">
                <a:latin typeface="Guttman Keren" pitchFamily="2" charset="-79"/>
              </a:rPr>
              <a:t>:</a:t>
            </a:r>
          </a:p>
          <a:p>
            <a:pPr marL="0" indent="0" algn="just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ל' (יא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) כִּי </a:t>
            </a:r>
            <a:r>
              <a:rPr lang="he-IL" sz="24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הַמִּצְוָה הַזֹּאת אֲשֶׁר אָנֹכִי </a:t>
            </a:r>
            <a:r>
              <a:rPr lang="he-IL" sz="2400" dirty="0" err="1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מְצַוְּך</a:t>
            </a:r>
            <a:r>
              <a:rPr lang="he-IL" sz="24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 הַיּוֹם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לֹא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נִפְלֵאת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הִוא מִמְּךָ וְלֹא רְחֹקָה הִוא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: ... </a:t>
            </a: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(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טז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) </a:t>
            </a:r>
            <a:r>
              <a:rPr lang="he-IL" sz="24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אֲשֶׁר אָנֹכִי </a:t>
            </a:r>
            <a:r>
              <a:rPr lang="he-IL" sz="2400" dirty="0" err="1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מְצַוְּך</a:t>
            </a:r>
            <a:r>
              <a:rPr lang="he-IL" sz="24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 הַיּוֹם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לְאַהֲבָה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אֶת ה'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לָלֶכֶת</a:t>
            </a:r>
            <a:r>
              <a:rPr lang="he-IL" sz="24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בִּדְרָכָיו</a:t>
            </a:r>
            <a:r>
              <a:rPr lang="he-IL" sz="24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וְלִשְׁמֹר מִצְוֹתָיו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וְחֻקֹּתָיו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וּמִשְׁפָּטָיו וְחָיִיתָ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וְרָבִית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ָ וּבֵרַכְךָ ה'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ָ בָּאָרֶץ אֲשֶׁר אַתָּה בָא שָׁמָּה לְרִשְׁתָּהּ:</a:t>
            </a: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(כ)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לְאַהֲבָה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אֶת ה'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ָ לִשְׁמֹעַ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בְּקֹלו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ֹ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וּלְדָבְקָה</a:t>
            </a:r>
            <a:r>
              <a:rPr lang="he-IL" sz="24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בוֹ</a:t>
            </a:r>
            <a:r>
              <a:rPr lang="he-IL" sz="24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כִּי הוּא חַיֶּיךָ וְאֹרֶךְ יָמֶיךָ לָשֶׁבֶת עַל הָאֲדָמָה אֲשֶׁר נִשְׁבַּע ה'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לַאֲבֹתֶיך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ָ לְאַבְרָהָם לְיִצְחָק וּלְיַעֲקֹב לָתֵת לָהֶם: </a:t>
            </a: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996336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274638"/>
            <a:ext cx="5509260" cy="922114"/>
          </a:xfrm>
        </p:spPr>
        <p:txBody>
          <a:bodyPr>
            <a:normAutofit fontScale="90000"/>
          </a:bodyPr>
          <a:lstStyle/>
          <a:p>
            <a:r>
              <a:rPr lang="he-IL" sz="4000" dirty="0" smtClean="0">
                <a:solidFill>
                  <a:srgbClr val="3333FF"/>
                </a:solidFill>
                <a:cs typeface="+mn-cs"/>
              </a:rPr>
              <a:t>אהבה בחתימת מצוות האמונה</a:t>
            </a:r>
            <a:endParaRPr lang="he-IL" sz="4000" dirty="0">
              <a:solidFill>
                <a:srgbClr val="3333FF"/>
              </a:solidFill>
              <a:cs typeface="+mn-cs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06070" y="1268761"/>
            <a:ext cx="5509260" cy="485740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י"א, </a:t>
            </a:r>
            <a:r>
              <a:rPr lang="he-IL" sz="2400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כב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-כה: </a:t>
            </a:r>
          </a:p>
          <a:p>
            <a:pPr marL="0" indent="0" algn="just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כִּי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אִם שָׁמֹר תִּשְׁמְרוּן אֶת כָּל הַמִּצְוָה הַזֹּאת אֲשֶׁר אָנֹכִי מְצַוֶּה אֶתְכֶם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לַעֲשֹׂתָה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ּ </a:t>
            </a:r>
            <a:endParaRPr lang="he-IL" sz="2400" dirty="0" smtClean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just"/>
            <a:r>
              <a:rPr lang="he-IL" sz="24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לְאַהֲבָה </a:t>
            </a:r>
            <a:r>
              <a:rPr lang="he-IL" sz="24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 ה</a:t>
            </a:r>
            <a:r>
              <a:rPr lang="he-IL" sz="24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’ </a:t>
            </a:r>
            <a:r>
              <a:rPr lang="he-IL" sz="2400" dirty="0" err="1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אֱלֹהֵיכֶם</a:t>
            </a:r>
            <a:r>
              <a:rPr lang="he-IL" sz="24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</a:p>
          <a:p>
            <a:pPr algn="just"/>
            <a:r>
              <a:rPr lang="he-IL" sz="24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לָלֶכֶת </a:t>
            </a:r>
            <a:r>
              <a:rPr lang="he-IL" sz="24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בְּכָל דְּרָכָיו </a:t>
            </a:r>
            <a:endParaRPr lang="he-IL" sz="2400" dirty="0" smtClean="0">
              <a:solidFill>
                <a:srgbClr val="FF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just"/>
            <a:r>
              <a:rPr lang="he-IL" sz="24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וּלְדָבְקָה </a:t>
            </a:r>
            <a:r>
              <a:rPr lang="he-IL" sz="24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בוֹ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endParaRPr lang="he-IL" sz="2400" dirty="0" smtClean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088827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274638"/>
            <a:ext cx="5509260" cy="922114"/>
          </a:xfrm>
        </p:spPr>
        <p:txBody>
          <a:bodyPr>
            <a:normAutofit fontScale="90000"/>
          </a:bodyPr>
          <a:lstStyle/>
          <a:p>
            <a:r>
              <a:rPr lang="he-IL" sz="4000" dirty="0" smtClean="0">
                <a:solidFill>
                  <a:srgbClr val="3333FF"/>
                </a:solidFill>
                <a:cs typeface="+mn-cs"/>
              </a:rPr>
              <a:t>אהבה בחתימת מצוות האמונה</a:t>
            </a:r>
            <a:endParaRPr lang="he-IL" sz="4000" dirty="0">
              <a:solidFill>
                <a:srgbClr val="3333FF"/>
              </a:solidFill>
              <a:cs typeface="+mn-cs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06070" y="1268761"/>
            <a:ext cx="5509260" cy="485740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י"א, </a:t>
            </a:r>
            <a:r>
              <a:rPr lang="he-IL" sz="2400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כב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-כה: </a:t>
            </a:r>
          </a:p>
          <a:p>
            <a:pPr marL="0" indent="0" algn="just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כִּי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אִם שָׁמֹר תִּשְׁמְרוּן אֶת כָּל הַמִּצְוָה הַזֹּאת אֲשֶׁר אָנֹכִי מְצַוֶּה אֶתְכֶם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לַעֲשֹׂתָה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ּ </a:t>
            </a:r>
            <a:endParaRPr lang="he-IL" sz="2400" dirty="0" smtClean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just"/>
            <a:r>
              <a:rPr lang="he-IL" sz="24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לְאַהֲבָה </a:t>
            </a:r>
            <a:r>
              <a:rPr lang="he-IL" sz="24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 ה</a:t>
            </a:r>
            <a:r>
              <a:rPr lang="he-IL" sz="24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’ </a:t>
            </a:r>
            <a:r>
              <a:rPr lang="he-IL" sz="2400" dirty="0" err="1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אֱלֹהֵיכֶם</a:t>
            </a:r>
            <a:r>
              <a:rPr lang="he-IL" sz="24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</a:p>
          <a:p>
            <a:pPr algn="just"/>
            <a:r>
              <a:rPr lang="he-IL" sz="24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לָלֶכֶת </a:t>
            </a:r>
            <a:r>
              <a:rPr lang="he-IL" sz="24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בְּכָל דְּרָכָיו </a:t>
            </a:r>
            <a:endParaRPr lang="he-IL" sz="2400" dirty="0" smtClean="0">
              <a:solidFill>
                <a:srgbClr val="FF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just"/>
            <a:r>
              <a:rPr lang="he-IL" sz="24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וּלְדָבְקָה </a:t>
            </a:r>
            <a:r>
              <a:rPr lang="he-IL" sz="24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בוֹ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endParaRPr lang="he-IL" sz="2400" dirty="0" smtClean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800" dirty="0" smtClean="0">
                <a:latin typeface="Guttman Yad-Brush" panose="02010401010101010101" pitchFamily="2" charset="-79"/>
                <a:cs typeface="Guttman Yad-Brush" panose="02010401010101010101" pitchFamily="2" charset="-79"/>
              </a:rPr>
              <a:t>אז...</a:t>
            </a:r>
          </a:p>
        </p:txBody>
      </p:sp>
    </p:spTree>
    <p:extLst>
      <p:ext uri="{BB962C8B-B14F-4D97-AF65-F5344CB8AC3E}">
        <p14:creationId xmlns:p14="http://schemas.microsoft.com/office/powerpoint/2010/main" val="4013137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274638"/>
            <a:ext cx="5509260" cy="922114"/>
          </a:xfrm>
        </p:spPr>
        <p:txBody>
          <a:bodyPr>
            <a:normAutofit fontScale="90000"/>
          </a:bodyPr>
          <a:lstStyle/>
          <a:p>
            <a:r>
              <a:rPr lang="he-IL" sz="4000" dirty="0" smtClean="0">
                <a:solidFill>
                  <a:srgbClr val="3333FF"/>
                </a:solidFill>
                <a:cs typeface="+mn-cs"/>
              </a:rPr>
              <a:t>אהבה בחתימת מצוות האמונה</a:t>
            </a:r>
            <a:endParaRPr lang="he-IL" sz="4000" dirty="0">
              <a:solidFill>
                <a:srgbClr val="3333FF"/>
              </a:solidFill>
              <a:cs typeface="+mn-cs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06070" y="1268761"/>
            <a:ext cx="5509260" cy="4857404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י"א, </a:t>
            </a:r>
            <a:r>
              <a:rPr lang="he-IL" sz="2400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כב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-כה: </a:t>
            </a:r>
          </a:p>
          <a:p>
            <a:pPr marL="0" indent="0" algn="just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כִּי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אִם שָׁמֹר תִּשְׁמְרוּן אֶת כָּל הַמִּצְוָה הַזֹּאת אֲשֶׁר אָנֹכִי מְצַוֶּה אֶתְכֶם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לַעֲשֹׂתָה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ּ </a:t>
            </a:r>
            <a:endParaRPr lang="he-IL" sz="2400" dirty="0" smtClean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just"/>
            <a:r>
              <a:rPr lang="he-IL" sz="24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לְאַהֲבָה </a:t>
            </a:r>
            <a:r>
              <a:rPr lang="he-IL" sz="24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 ה</a:t>
            </a:r>
            <a:r>
              <a:rPr lang="he-IL" sz="24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’ </a:t>
            </a:r>
            <a:r>
              <a:rPr lang="he-IL" sz="2400" dirty="0" err="1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אֱלֹהֵיכֶם</a:t>
            </a:r>
            <a:r>
              <a:rPr lang="he-IL" sz="24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</a:p>
          <a:p>
            <a:pPr algn="just"/>
            <a:r>
              <a:rPr lang="he-IL" sz="24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לָלֶכֶת </a:t>
            </a:r>
            <a:r>
              <a:rPr lang="he-IL" sz="24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בְּכָל דְּרָכָיו </a:t>
            </a:r>
            <a:endParaRPr lang="he-IL" sz="2400" dirty="0" smtClean="0">
              <a:solidFill>
                <a:srgbClr val="FF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algn="just"/>
            <a:r>
              <a:rPr lang="he-IL" sz="24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וּלְדָבְקָה </a:t>
            </a:r>
            <a:r>
              <a:rPr lang="he-IL" sz="24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בוֹ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endParaRPr lang="he-IL" sz="2400" dirty="0" smtClean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וְהוֹרִישׁ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ה’ אֶת כָּל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הַגּוֹיִם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הָאֵלֶּה מִלִּפְנֵיכֶם וִירִשְׁתֶּם גּוֹיִם גְּדֹלִים וַעֲצֻמִים מִכֶּם: 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כָּל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הַמָּקוֹם אֲשֶׁר תִּדְרֹךְ כַּף רַגְלְכֶם בּוֹ לָכֶם יִהְיֶה מִן הַמִּדְבָּר וְהַלְּבָנוֹן מִן הַנָּהָר נְהַר פְּרָת וְעַד הַיָּם הָאַחֲרוֹן יִהְיֶה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גְּבֻלְכֶם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לֹא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יִתְיַצֵּב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אִישׁ בִּפְנֵיכֶם פַּחְדְּכֶם וּמוֹרַאֲכֶם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יִתֵּן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ה’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אֱלֹהֵיכֶם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עַל פְּנֵי כָל הָאָרֶץ אֲשֶׁר תִּדְרְכוּ בָהּ כַּאֲשֶׁר דִּבֶּר לָכֶם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  <a:endParaRPr lang="he-IL" sz="24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3877478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-27384"/>
            <a:ext cx="5509260" cy="1143000"/>
          </a:xfrm>
        </p:spPr>
        <p:txBody>
          <a:bodyPr>
            <a:normAutofit fontScale="90000"/>
          </a:bodyPr>
          <a:lstStyle/>
          <a:p>
            <a:r>
              <a:rPr lang="he-IL" sz="3600" dirty="0" smtClean="0">
                <a:solidFill>
                  <a:srgbClr val="FF0000"/>
                </a:solidFill>
                <a:cs typeface="+mn-cs"/>
              </a:rPr>
              <a:t>סיכום ביניים 1: </a:t>
            </a:r>
            <a:br>
              <a:rPr lang="he-IL" sz="3600" dirty="0" smtClean="0">
                <a:solidFill>
                  <a:srgbClr val="FF0000"/>
                </a:solidFill>
                <a:cs typeface="+mn-cs"/>
              </a:rPr>
            </a:br>
            <a:r>
              <a:rPr lang="he-IL" sz="3600" dirty="0" smtClean="0">
                <a:solidFill>
                  <a:srgbClr val="FF0000"/>
                </a:solidFill>
                <a:cs typeface="+mn-cs"/>
              </a:rPr>
              <a:t>שִדרוג ביחסי ישראל והקב"ה</a:t>
            </a:r>
            <a:endParaRPr lang="he-IL" sz="3600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060700" y="1124744"/>
            <a:ext cx="2880320" cy="5472608"/>
          </a:xfrm>
        </p:spPr>
        <p:txBody>
          <a:bodyPr>
            <a:noAutofit/>
          </a:bodyPr>
          <a:lstStyle/>
          <a:p>
            <a:r>
              <a:rPr lang="he-IL" sz="2400" dirty="0" smtClean="0"/>
              <a:t>אהבת ה' – עיקר מצוות האמונה!</a:t>
            </a:r>
          </a:p>
          <a:p>
            <a:endParaRPr lang="he-IL" sz="1800" dirty="0"/>
          </a:p>
          <a:p>
            <a:r>
              <a:rPr lang="he-IL" sz="2400" dirty="0" smtClean="0"/>
              <a:t>אהבת ה' כחידוש וכשדרוג ליראת ה' של ספר ויקרא.</a:t>
            </a:r>
          </a:p>
          <a:p>
            <a:endParaRPr lang="he-IL" sz="1800" dirty="0" smtClean="0"/>
          </a:p>
          <a:p>
            <a:r>
              <a:rPr lang="he-IL" sz="2400" dirty="0" smtClean="0"/>
              <a:t>אהבת ה' כמסגרת הפותחת וחותמת את נאום מצוות האמונה.</a:t>
            </a:r>
          </a:p>
          <a:p>
            <a:endParaRPr lang="he-IL" sz="1800" dirty="0" smtClean="0"/>
          </a:p>
          <a:p>
            <a:r>
              <a:rPr lang="he-IL" sz="2400" dirty="0" smtClean="0"/>
              <a:t>אהבת ה' כמצווה החותמת את נאום הברית.</a:t>
            </a:r>
          </a:p>
          <a:p>
            <a:endParaRPr lang="he-IL" sz="2400" dirty="0"/>
          </a:p>
          <a:p>
            <a:pPr lvl="1">
              <a:buFont typeface="Wingdings" panose="05000000000000000000" pitchFamily="2" charset="2"/>
              <a:buChar char="Ø"/>
            </a:pPr>
            <a:endParaRPr lang="he-IL" sz="2400" dirty="0"/>
          </a:p>
        </p:txBody>
      </p:sp>
      <p:sp>
        <p:nvSpPr>
          <p:cNvPr id="4" name="מציין מיקום תוכן 2"/>
          <p:cNvSpPr txBox="1">
            <a:spLocks/>
          </p:cNvSpPr>
          <p:nvPr/>
        </p:nvSpPr>
        <p:spPr>
          <a:xfrm>
            <a:off x="-107652" y="1124744"/>
            <a:ext cx="2880320" cy="5472608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2400" dirty="0" smtClean="0"/>
              <a:t>אהבה לקראת הכניסה לא"י.</a:t>
            </a:r>
          </a:p>
          <a:p>
            <a:endParaRPr lang="he-IL" sz="1800" dirty="0" smtClean="0"/>
          </a:p>
          <a:p>
            <a:r>
              <a:rPr lang="he-IL" sz="2400" dirty="0" smtClean="0"/>
              <a:t>"שפה" ייחודית: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e-IL" sz="2400" dirty="0" smtClean="0"/>
              <a:t>אהבה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e-IL" sz="2400" dirty="0" smtClean="0"/>
              <a:t>בכל לבבך ובכל נפשך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e-IL" sz="2400" dirty="0" smtClean="0"/>
              <a:t>דבקות 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he-IL" sz="2400" dirty="0" smtClean="0"/>
              <a:t>הליכה בדרכיו</a:t>
            </a:r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3567150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-27384"/>
            <a:ext cx="5509260" cy="778098"/>
          </a:xfrm>
        </p:spPr>
        <p:txBody>
          <a:bodyPr>
            <a:normAutofit fontScale="90000"/>
          </a:bodyPr>
          <a:lstStyle/>
          <a:p>
            <a:r>
              <a:rPr lang="he-IL" sz="3200" dirty="0" smtClean="0">
                <a:cs typeface="+mn-cs"/>
              </a:rPr>
              <a:t>המצוות המעשיות במסגרת הבריתות</a:t>
            </a:r>
            <a:endParaRPr lang="he-IL" sz="3200" dirty="0">
              <a:cs typeface="+mn-cs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44016" y="875852"/>
            <a:ext cx="5292948" cy="4929412"/>
          </a:xfrm>
        </p:spPr>
        <p:txBody>
          <a:bodyPr>
            <a:noAutofit/>
          </a:bodyPr>
          <a:lstStyle/>
          <a:p>
            <a:pPr marL="0" indent="0" algn="just">
              <a:spcBef>
                <a:spcPts val="1200"/>
              </a:spcBef>
              <a:buNone/>
            </a:pPr>
            <a:r>
              <a:rPr lang="he-IL" sz="2000" dirty="0" smtClean="0">
                <a:latin typeface="David" panose="020E0502060401010101" pitchFamily="34" charset="-79"/>
                <a:cs typeface="David" panose="020E0502060401010101" pitchFamily="34" charset="-79"/>
              </a:rPr>
              <a:t>י"א, </a:t>
            </a:r>
            <a:r>
              <a:rPr lang="he-IL" sz="2000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כו</a:t>
            </a:r>
            <a:r>
              <a:rPr lang="he-IL" sz="2000" dirty="0" smtClean="0">
                <a:latin typeface="David" panose="020E0502060401010101" pitchFamily="34" charset="-79"/>
                <a:cs typeface="David" panose="020E0502060401010101" pitchFamily="34" charset="-79"/>
              </a:rPr>
              <a:t>-לב: 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רְאֵה אָנֹכִי נֹתֵן לִפְנֵיכֶם 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הַיּוֹם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בְּרָכָה וּקְלָלָה: </a:t>
            </a:r>
            <a:r>
              <a:rPr lang="he-IL" sz="20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 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הַבְּרָכָה אֲשֶׁר תִּשְׁמְעוּ אֶל מִצְוֹת ה’ </a:t>
            </a:r>
            <a:r>
              <a:rPr lang="he-IL" sz="2000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אֱלֹהֵיכֶם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אֲשֶׁר אָנֹכִי מְצַוֶּה אֶתְכֶם 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הַיּוֹם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r>
              <a:rPr lang="he-IL" sz="20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וְהַקְּלָלָה 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אִם לֹא </a:t>
            </a:r>
            <a:r>
              <a:rPr lang="he-IL" sz="20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תִשְׁמְעוּ ...</a:t>
            </a:r>
            <a:endParaRPr lang="en-US" sz="2000" dirty="0">
              <a:solidFill>
                <a:srgbClr val="FF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he-IL" sz="2000" dirty="0" smtClean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וְהָיָה 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כִּי יְבִיאֲךָ ה’ </a:t>
            </a:r>
            <a:r>
              <a:rPr lang="he-IL" sz="2000" dirty="0" err="1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 אֶל הָאָרֶץ אֲשֶׁר אַתָּה בָא שָׁמָּה לְרִשְׁתָּהּ </a:t>
            </a:r>
            <a:r>
              <a:rPr lang="he-IL" sz="2000" dirty="0" err="1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וְנָתַתָּה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אֶת הַבְּרָכָה עַל </a:t>
            </a:r>
            <a:r>
              <a:rPr lang="he-IL" sz="2000" b="1" dirty="0" smtClean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הַר גְּרִזִים 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וְאֶת הַקְּלָלָה עַל </a:t>
            </a:r>
            <a:r>
              <a:rPr lang="he-IL" sz="20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הַר עֵיבָל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endParaRPr lang="he-IL" sz="2000" dirty="0" smtClean="0">
              <a:solidFill>
                <a:srgbClr val="3333FF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המצוות המעשיות – פרקים י"ב-כ"ו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he-IL" sz="2000" dirty="0" smtClean="0">
                <a:latin typeface="David" panose="020E0502060401010101" pitchFamily="34" charset="-79"/>
                <a:cs typeface="David" panose="020E0502060401010101" pitchFamily="34" charset="-79"/>
              </a:rPr>
              <a:t>כ"ז: 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וַיְצַו מֹשֶׁה וְזִקְנֵי יִשְׂרָאֵל אֶת הָעָם </a:t>
            </a:r>
            <a:r>
              <a:rPr lang="he-IL" sz="2000" dirty="0" err="1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לֵאמֹר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... וְהָיָה בַּיּוֹם אֲשֶׁר תַּעַבְרוּ אֶת הַיַּרְדֵּן אֶל הָאָרֶץ אֲשֶׁר ה' </a:t>
            </a:r>
            <a:r>
              <a:rPr lang="he-IL" sz="2000" dirty="0" err="1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 נֹתֵן לָךְ וַהֲקֵמֹתָ לְךָ אֲבָנִים גְּדֹלוֹת </a:t>
            </a:r>
            <a:r>
              <a:rPr lang="he-IL" sz="2000" dirty="0" smtClean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... וְכָתַבְתָּ 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עֲלֵיהֶן אֶת כָּל דִּבְרֵי הַתּוֹרָה </a:t>
            </a:r>
            <a:r>
              <a:rPr lang="he-IL" sz="2000" dirty="0" smtClean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הַזֹּאת ... 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וּבָנִיתָ שָּׁם </a:t>
            </a:r>
            <a:r>
              <a:rPr lang="he-IL" sz="2000" dirty="0" smtClean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מִזְבֵּחַ ... 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אֵלֶּה יַעַמְדוּ לְבָרֵךְ אֶת הָעָם עַל </a:t>
            </a:r>
            <a:r>
              <a:rPr lang="he-IL" sz="20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הַר גְּרִזִים 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... וְאֵלֶּה יַעַמְדוּ עַל הַקְּלָלָה </a:t>
            </a:r>
            <a:r>
              <a:rPr lang="he-IL" sz="20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בְּהַר עֵיבָל 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...</a:t>
            </a:r>
            <a:endParaRPr lang="en-US" sz="2000" dirty="0">
              <a:solidFill>
                <a:srgbClr val="3333FF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he-IL" sz="2000" dirty="0" smtClean="0">
                <a:latin typeface="David" panose="020E0502060401010101" pitchFamily="34" charset="-79"/>
                <a:cs typeface="David" panose="020E0502060401010101" pitchFamily="34" charset="-79"/>
              </a:rPr>
              <a:t>כ"ח: 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וְהָיָה אִם שָׁמוֹעַ תִּשְׁמַע בְּקוֹל ה' </a:t>
            </a:r>
            <a:r>
              <a:rPr lang="he-IL" sz="2000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 ... וּבָאוּ עָלֶיךָ כָּל הַבְּרָכוֹת הָאֵלֶּה וְהִשִּׂיגֻךָ ... וְהָיָה אִם לֹא תִשְׁמַע בְּקוֹל ה' </a:t>
            </a:r>
            <a:r>
              <a:rPr lang="he-IL" sz="2000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 ... וּבָאוּ עָלֶיךָ כָּל הַקְּלָלוֹת הָאֵלֶּה וְהִשִּׂיגוּךָ</a:t>
            </a:r>
            <a:r>
              <a:rPr lang="he-IL" sz="20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: ... </a:t>
            </a:r>
            <a:endParaRPr lang="en-US" sz="2000" dirty="0">
              <a:solidFill>
                <a:srgbClr val="FF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4" name="סוגר מרובע ימני 3"/>
          <p:cNvSpPr/>
          <p:nvPr/>
        </p:nvSpPr>
        <p:spPr>
          <a:xfrm>
            <a:off x="5417946" y="1412776"/>
            <a:ext cx="451066" cy="4650332"/>
          </a:xfrm>
          <a:prstGeom prst="rightBracket">
            <a:avLst>
              <a:gd name="adj" fmla="val 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סוגר מרובע ימני 4"/>
          <p:cNvSpPr/>
          <p:nvPr/>
        </p:nvSpPr>
        <p:spPr>
          <a:xfrm>
            <a:off x="5411137" y="2520516"/>
            <a:ext cx="241027" cy="1916596"/>
          </a:xfrm>
          <a:prstGeom prst="rightBracket">
            <a:avLst>
              <a:gd name="adj" fmla="val 0"/>
            </a:avLst>
          </a:prstGeom>
          <a:ln w="28575"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6" name="מחבר ישר 5"/>
          <p:cNvCxnSpPr/>
          <p:nvPr/>
        </p:nvCxnSpPr>
        <p:spPr>
          <a:xfrm>
            <a:off x="5417945" y="3284984"/>
            <a:ext cx="45106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1355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44624"/>
            <a:ext cx="5509260" cy="1143000"/>
          </a:xfrm>
        </p:spPr>
        <p:txBody>
          <a:bodyPr>
            <a:noAutofit/>
          </a:bodyPr>
          <a:lstStyle/>
          <a:p>
            <a:r>
              <a:rPr lang="he-IL" sz="2800" dirty="0">
                <a:solidFill>
                  <a:srgbClr val="3333FF"/>
                </a:solidFill>
                <a:latin typeface="Guttman Calligraphic" pitchFamily="2" charset="-79"/>
                <a:cs typeface="Guttman Calligraphic" pitchFamily="2" charset="-79"/>
              </a:rPr>
              <a:t>נאום </a:t>
            </a:r>
            <a:r>
              <a:rPr lang="he-IL" sz="2800" dirty="0" smtClean="0">
                <a:solidFill>
                  <a:srgbClr val="3333FF"/>
                </a:solidFill>
                <a:latin typeface="Guttman Calligraphic" pitchFamily="2" charset="-79"/>
                <a:cs typeface="Guttman Calligraphic" pitchFamily="2" charset="-79"/>
              </a:rPr>
              <a:t>המצוות (ה'-כ"ו) </a:t>
            </a:r>
            <a:br>
              <a:rPr lang="he-IL" sz="2800" dirty="0" smtClean="0">
                <a:solidFill>
                  <a:srgbClr val="3333FF"/>
                </a:solidFill>
                <a:latin typeface="Guttman Calligraphic" pitchFamily="2" charset="-79"/>
                <a:cs typeface="Guttman Calligraphic" pitchFamily="2" charset="-79"/>
              </a:rPr>
            </a:br>
            <a:r>
              <a:rPr lang="he-IL" sz="2800" dirty="0" smtClean="0">
                <a:solidFill>
                  <a:srgbClr val="FF33CC"/>
                </a:solidFill>
                <a:latin typeface="Guttman Calligraphic" pitchFamily="2" charset="-79"/>
                <a:cs typeface="Guttman Calligraphic" pitchFamily="2" charset="-79"/>
              </a:rPr>
              <a:t>עשרת הדברות – אבות לכל המצוות כולן</a:t>
            </a:r>
            <a:endParaRPr lang="he-IL" sz="2800" dirty="0">
              <a:solidFill>
                <a:srgbClr val="FF33CC"/>
              </a:solidFill>
              <a:latin typeface="Guttman Calligraphic" pitchFamily="2" charset="-79"/>
              <a:cs typeface="Guttman Calligraphic" pitchFamily="2" charset="-79"/>
            </a:endParaRPr>
          </a:p>
        </p:txBody>
      </p:sp>
      <p:graphicFrame>
        <p:nvGraphicFramePr>
          <p:cNvPr id="4" name="מציין מיקום תוכן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7571579"/>
              </p:ext>
            </p:extLst>
          </p:nvPr>
        </p:nvGraphicFramePr>
        <p:xfrm>
          <a:off x="108372" y="1196752"/>
          <a:ext cx="5904656" cy="5382117"/>
        </p:xfrm>
        <a:graphic>
          <a:graphicData uri="http://schemas.openxmlformats.org/drawingml/2006/table">
            <a:tbl>
              <a:tblPr rtl="1" firstRow="1" firstCol="1" bandRow="1">
                <a:tableStyleId>{5C22544A-7EE6-4342-B048-85BDC9FD1C3A}</a:tableStyleId>
              </a:tblPr>
              <a:tblGrid>
                <a:gridCol w="2085032"/>
                <a:gridCol w="2740552"/>
                <a:gridCol w="1079072"/>
              </a:tblGrid>
              <a:tr h="405863"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 dirty="0" smtClean="0">
                          <a:effectLst/>
                        </a:rPr>
                        <a:t>דיבר</a:t>
                      </a:r>
                      <a:endParaRPr lang="en-US" sz="22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 dirty="0">
                          <a:effectLst/>
                        </a:rPr>
                        <a:t>מצוות בספר דברים</a:t>
                      </a:r>
                      <a:endParaRPr lang="en-US" sz="22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 dirty="0">
                          <a:effectLst/>
                        </a:rPr>
                        <a:t>פרקים</a:t>
                      </a:r>
                      <a:endParaRPr lang="en-US" sz="22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</a:tr>
              <a:tr h="811727"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000" dirty="0">
                          <a:effectLst/>
                        </a:rPr>
                        <a:t>אנכי ה', לא יהיה</a:t>
                      </a:r>
                      <a:endParaRPr lang="en-US" sz="20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 dirty="0">
                          <a:effectLst/>
                        </a:rPr>
                        <a:t>מצוות האמונה (שמע ישראל – והיה אם שמע)</a:t>
                      </a:r>
                      <a:endParaRPr lang="en-US" sz="22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 dirty="0">
                          <a:effectLst/>
                        </a:rPr>
                        <a:t>ו'-י"א</a:t>
                      </a:r>
                      <a:endParaRPr lang="en-US" sz="22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</a:tr>
              <a:tr h="405863"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000">
                          <a:effectLst/>
                        </a:rPr>
                        <a:t>לא תשא את שם ה'</a:t>
                      </a:r>
                      <a:endParaRPr lang="en-US" sz="200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>
                          <a:effectLst/>
                        </a:rPr>
                        <a:t>"המקום אשר יבחר ה' לשכן שמו שם"</a:t>
                      </a:r>
                      <a:endParaRPr lang="en-US" sz="220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 dirty="0" smtClean="0">
                          <a:effectLst/>
                        </a:rPr>
                        <a:t>י"ב-ט"ז</a:t>
                      </a:r>
                      <a:endParaRPr lang="en-US" sz="22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</a:tr>
              <a:tr h="811727"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000" dirty="0">
                          <a:effectLst/>
                        </a:rPr>
                        <a:t>זכור את יום השבת</a:t>
                      </a:r>
                      <a:endParaRPr lang="en-US" sz="20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>
                          <a:effectLst/>
                        </a:rPr>
                        <a:t>שמיטת כספים, עבד עברי, שלושת הרגלים</a:t>
                      </a:r>
                      <a:endParaRPr lang="en-US" sz="220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 dirty="0">
                          <a:effectLst/>
                        </a:rPr>
                        <a:t>ט"ו-ט"ז</a:t>
                      </a:r>
                      <a:endParaRPr lang="en-US" sz="22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</a:tr>
              <a:tr h="811727"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000">
                          <a:effectLst/>
                        </a:rPr>
                        <a:t>כבד את אביך ואת אמך</a:t>
                      </a:r>
                      <a:endParaRPr lang="en-US" sz="200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 dirty="0">
                          <a:effectLst/>
                        </a:rPr>
                        <a:t>מנהיגות (שופטים, שוטרים, מלך, </a:t>
                      </a:r>
                      <a:r>
                        <a:rPr lang="he-IL" sz="2200" dirty="0" smtClean="0">
                          <a:effectLst/>
                        </a:rPr>
                        <a:t>נביאים, </a:t>
                      </a:r>
                      <a:r>
                        <a:rPr lang="he-IL" sz="2200" dirty="0">
                          <a:effectLst/>
                        </a:rPr>
                        <a:t>זקנים, </a:t>
                      </a:r>
                      <a:r>
                        <a:rPr lang="he-IL" sz="2200" dirty="0" err="1" smtClean="0">
                          <a:effectLst/>
                        </a:rPr>
                        <a:t>כהנים</a:t>
                      </a:r>
                      <a:r>
                        <a:rPr lang="he-IL" sz="2200" dirty="0" smtClean="0">
                          <a:effectLst/>
                        </a:rPr>
                        <a:t>-לווים)</a:t>
                      </a:r>
                      <a:endParaRPr lang="en-US" sz="22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 dirty="0" smtClean="0">
                          <a:effectLst/>
                        </a:rPr>
                        <a:t>י"ז-כ"א</a:t>
                      </a:r>
                      <a:endParaRPr lang="en-US" sz="22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</a:tr>
              <a:tr h="405863"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000">
                          <a:effectLst/>
                        </a:rPr>
                        <a:t>לא תרצח</a:t>
                      </a:r>
                      <a:endParaRPr lang="en-US" sz="200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 dirty="0" smtClean="0">
                          <a:effectLst/>
                        </a:rPr>
                        <a:t>רצח, דיני </a:t>
                      </a:r>
                      <a:r>
                        <a:rPr lang="he-IL" sz="2200" dirty="0">
                          <a:effectLst/>
                        </a:rPr>
                        <a:t>מלחמה, </a:t>
                      </a:r>
                      <a:r>
                        <a:rPr lang="he-IL" sz="2200" dirty="0" smtClean="0">
                          <a:effectLst/>
                        </a:rPr>
                        <a:t>עונש </a:t>
                      </a:r>
                      <a:r>
                        <a:rPr lang="he-IL" sz="2200" dirty="0">
                          <a:effectLst/>
                        </a:rPr>
                        <a:t>מוות</a:t>
                      </a:r>
                      <a:endParaRPr lang="en-US" sz="22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 dirty="0">
                          <a:effectLst/>
                        </a:rPr>
                        <a:t>י"ט-כ"א</a:t>
                      </a:r>
                      <a:endParaRPr lang="en-US" sz="22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</a:tr>
              <a:tr h="811727"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000" dirty="0">
                          <a:effectLst/>
                        </a:rPr>
                        <a:t>לא תנאף, לא </a:t>
                      </a:r>
                      <a:r>
                        <a:rPr lang="he-IL" sz="2000" dirty="0" err="1">
                          <a:effectLst/>
                        </a:rPr>
                        <a:t>תגנב</a:t>
                      </a:r>
                      <a:r>
                        <a:rPr lang="he-IL" sz="2000" dirty="0">
                          <a:effectLst/>
                        </a:rPr>
                        <a:t>, לא תענה, לא </a:t>
                      </a:r>
                      <a:r>
                        <a:rPr lang="he-IL" sz="2000" dirty="0" err="1">
                          <a:effectLst/>
                        </a:rPr>
                        <a:t>תחמד</a:t>
                      </a:r>
                      <a:endParaRPr lang="en-US" sz="20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 dirty="0" smtClean="0">
                          <a:effectLst/>
                        </a:rPr>
                        <a:t>שלל מצוות שבין אדם לחברו - יחיד, משפחה, חברה.</a:t>
                      </a:r>
                      <a:endParaRPr lang="en-US" sz="22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  <a:tc>
                  <a:txBody>
                    <a:bodyPr/>
                    <a:lstStyle/>
                    <a:p>
                      <a:pPr algn="r" rtl="1">
                        <a:spcAft>
                          <a:spcPts val="0"/>
                        </a:spcAft>
                      </a:pPr>
                      <a:r>
                        <a:rPr lang="he-IL" sz="2200" dirty="0" smtClean="0">
                          <a:effectLst/>
                        </a:rPr>
                        <a:t>כ"ב-כ"ה</a:t>
                      </a:r>
                      <a:endParaRPr lang="en-US" sz="2200" dirty="0">
                        <a:effectLst/>
                        <a:latin typeface="Times New Roman"/>
                        <a:ea typeface="Times New Roman"/>
                        <a:cs typeface="David"/>
                      </a:endParaRPr>
                    </a:p>
                  </a:txBody>
                  <a:tcPr marL="45911" marR="45911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88694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he-IL" b="1" dirty="0" smtClean="0">
                <a:solidFill>
                  <a:srgbClr val="FF33CC"/>
                </a:solidFill>
                <a:latin typeface="David" pitchFamily="34" charset="-79"/>
                <a:cs typeface="David" pitchFamily="34" charset="-79"/>
              </a:rPr>
              <a:t>מאפיינים ייחודיים:</a:t>
            </a:r>
          </a:p>
          <a:p>
            <a:pPr marL="514350" indent="-514350">
              <a:buAutoNum type="arabicPeriod"/>
            </a:pPr>
            <a:r>
              <a:rPr lang="he-IL" dirty="0" smtClean="0">
                <a:latin typeface="David" pitchFamily="34" charset="-79"/>
                <a:cs typeface="David" pitchFamily="34" charset="-79"/>
              </a:rPr>
              <a:t>"הַמָּקוֹם </a:t>
            </a:r>
            <a:r>
              <a:rPr lang="he-IL" dirty="0">
                <a:latin typeface="David" pitchFamily="34" charset="-79"/>
                <a:cs typeface="David" pitchFamily="34" charset="-79"/>
              </a:rPr>
              <a:t>אֲשֶׁר יִבְחַר ה’ </a:t>
            </a:r>
            <a:r>
              <a:rPr lang="he-IL" dirty="0" err="1">
                <a:latin typeface="David" pitchFamily="34" charset="-79"/>
                <a:cs typeface="David" pitchFamily="34" charset="-79"/>
              </a:rPr>
              <a:t>אֱלֹהֶיך</a:t>
            </a:r>
            <a:r>
              <a:rPr lang="he-IL" dirty="0">
                <a:latin typeface="David" pitchFamily="34" charset="-79"/>
                <a:cs typeface="David" pitchFamily="34" charset="-79"/>
              </a:rPr>
              <a:t>ָ לָשׂוּם שְׁמוֹ </a:t>
            </a:r>
            <a:r>
              <a:rPr lang="he-IL" dirty="0" smtClean="0">
                <a:latin typeface="David" pitchFamily="34" charset="-79"/>
                <a:cs typeface="David" pitchFamily="34" charset="-79"/>
              </a:rPr>
              <a:t>שָׁם" </a:t>
            </a:r>
          </a:p>
          <a:p>
            <a:pPr marL="514350" indent="-514350">
              <a:buAutoNum type="arabicPeriod"/>
            </a:pPr>
            <a:r>
              <a:rPr lang="he-IL" dirty="0" smtClean="0">
                <a:latin typeface="David" pitchFamily="34" charset="-79"/>
                <a:cs typeface="David" pitchFamily="34" charset="-79"/>
              </a:rPr>
              <a:t>מצוות שמחה</a:t>
            </a:r>
          </a:p>
          <a:p>
            <a:pPr marL="514350" indent="-514350">
              <a:buAutoNum type="arabicPeriod"/>
            </a:pPr>
            <a:r>
              <a:rPr lang="he-IL" dirty="0" smtClean="0">
                <a:latin typeface="David" pitchFamily="34" charset="-79"/>
                <a:cs typeface="David" pitchFamily="34" charset="-79"/>
              </a:rPr>
              <a:t>שיתוף של "אַתָּה </a:t>
            </a:r>
            <a:r>
              <a:rPr lang="he-IL" dirty="0">
                <a:latin typeface="David" pitchFamily="34" charset="-79"/>
                <a:cs typeface="David" pitchFamily="34" charset="-79"/>
              </a:rPr>
              <a:t>וּבִנְךָ וּבִתֶּךָ וְעַבְדְּךָ וַאֲמָתֶךָ וְהַלֵּוִי וְהַגֵּר וְהַיָּתוֹם וְהָאַלְמָנָה אֲשֶׁר </a:t>
            </a:r>
            <a:r>
              <a:rPr lang="he-IL" dirty="0" smtClean="0">
                <a:latin typeface="David" pitchFamily="34" charset="-79"/>
                <a:cs typeface="David" pitchFamily="34" charset="-79"/>
              </a:rPr>
              <a:t>בִּשְׁעָרֶיךָ"</a:t>
            </a:r>
          </a:p>
        </p:txBody>
      </p:sp>
      <p:sp>
        <p:nvSpPr>
          <p:cNvPr id="6" name="כותרת 1"/>
          <p:cNvSpPr>
            <a:spLocks noGrp="1"/>
          </p:cNvSpPr>
          <p:nvPr>
            <p:ph type="title"/>
          </p:nvPr>
        </p:nvSpPr>
        <p:spPr>
          <a:xfrm>
            <a:off x="209659" y="274638"/>
            <a:ext cx="5695157" cy="1143000"/>
          </a:xfrm>
        </p:spPr>
        <p:txBody>
          <a:bodyPr>
            <a:noAutofit/>
          </a:bodyPr>
          <a:lstStyle/>
          <a:p>
            <a:r>
              <a:rPr lang="he-IL" sz="3200" dirty="0">
                <a:solidFill>
                  <a:schemeClr val="accent6">
                    <a:lumMod val="75000"/>
                  </a:schemeClr>
                </a:solidFill>
                <a:latin typeface="Guttman Keren" pitchFamily="2" charset="-79"/>
                <a:cs typeface="Guttman Keren" pitchFamily="2" charset="-79"/>
              </a:rPr>
              <a:t>פרשת "הַמָּקוֹם אֲשֶׁר יִבְחַר ה’ </a:t>
            </a:r>
            <a:r>
              <a:rPr lang="he-IL" sz="3200" dirty="0" err="1">
                <a:solidFill>
                  <a:schemeClr val="accent6">
                    <a:lumMod val="75000"/>
                  </a:schemeClr>
                </a:solidFill>
                <a:latin typeface="Guttman Keren" pitchFamily="2" charset="-79"/>
                <a:cs typeface="Guttman Keren" pitchFamily="2" charset="-79"/>
              </a:rPr>
              <a:t>אֱלֹהֶיך</a:t>
            </a:r>
            <a:r>
              <a:rPr lang="he-IL" sz="3200" dirty="0">
                <a:solidFill>
                  <a:schemeClr val="accent6">
                    <a:lumMod val="75000"/>
                  </a:schemeClr>
                </a:solidFill>
                <a:latin typeface="Guttman Keren" pitchFamily="2" charset="-79"/>
                <a:cs typeface="Guttman Keren" pitchFamily="2" charset="-79"/>
              </a:rPr>
              <a:t>ָ לָשׂוּם שְׁמוֹ שָׁם"</a:t>
            </a:r>
            <a:endParaRPr lang="he-IL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4960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09659" y="274638"/>
            <a:ext cx="5695157" cy="1143000"/>
          </a:xfrm>
        </p:spPr>
        <p:txBody>
          <a:bodyPr>
            <a:noAutofit/>
          </a:bodyPr>
          <a:lstStyle/>
          <a:p>
            <a:r>
              <a:rPr lang="he-IL" sz="3200" dirty="0">
                <a:solidFill>
                  <a:schemeClr val="accent6">
                    <a:lumMod val="75000"/>
                  </a:schemeClr>
                </a:solidFill>
                <a:latin typeface="Guttman Keren" pitchFamily="2" charset="-79"/>
                <a:cs typeface="Guttman Keren" pitchFamily="2" charset="-79"/>
              </a:rPr>
              <a:t>פרשת "הַמָּקוֹם אֲשֶׁר יִבְחַר ה’ </a:t>
            </a:r>
            <a:r>
              <a:rPr lang="he-IL" sz="3200" dirty="0" err="1">
                <a:solidFill>
                  <a:schemeClr val="accent6">
                    <a:lumMod val="75000"/>
                  </a:schemeClr>
                </a:solidFill>
                <a:latin typeface="Guttman Keren" pitchFamily="2" charset="-79"/>
                <a:cs typeface="Guttman Keren" pitchFamily="2" charset="-79"/>
              </a:rPr>
              <a:t>אֱלֹהֶיך</a:t>
            </a:r>
            <a:r>
              <a:rPr lang="he-IL" sz="3200" dirty="0">
                <a:solidFill>
                  <a:schemeClr val="accent6">
                    <a:lumMod val="75000"/>
                  </a:schemeClr>
                </a:solidFill>
                <a:latin typeface="Guttman Keren" pitchFamily="2" charset="-79"/>
                <a:cs typeface="Guttman Keren" pitchFamily="2" charset="-79"/>
              </a:rPr>
              <a:t>ָ לָשׂוּם שְׁמוֹ שָׁם"</a:t>
            </a:r>
            <a:endParaRPr lang="he-IL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0" y="1600201"/>
            <a:ext cx="5519173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he-IL" b="1" dirty="0" smtClean="0">
                <a:solidFill>
                  <a:srgbClr val="FF00FF"/>
                </a:solidFill>
                <a:latin typeface="David" pitchFamily="34" charset="-79"/>
                <a:cs typeface="David" pitchFamily="34" charset="-79"/>
              </a:rPr>
              <a:t>תכני הפרשה:</a:t>
            </a:r>
          </a:p>
          <a:p>
            <a:pPr marL="0" indent="0">
              <a:buNone/>
            </a:pPr>
            <a:endParaRPr lang="he-IL" sz="1700" dirty="0">
              <a:latin typeface="David" pitchFamily="34" charset="-79"/>
              <a:cs typeface="David" pitchFamily="34" charset="-79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he-IL" sz="2800" dirty="0" smtClean="0"/>
              <a:t>י"ב, א - </a:t>
            </a:r>
            <a:r>
              <a:rPr lang="he-IL" sz="2800" dirty="0" err="1" smtClean="0"/>
              <a:t>כח</a:t>
            </a:r>
            <a:r>
              <a:rPr lang="he-IL" sz="2800" dirty="0" smtClean="0"/>
              <a:t>         הבאת קרבנות וקדשים 		   ל"מקום אשר יבחר ה'"</a:t>
            </a:r>
            <a:endParaRPr lang="en-US" sz="28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sz="2800" dirty="0" smtClean="0"/>
              <a:t>י"ב, </a:t>
            </a:r>
            <a:r>
              <a:rPr lang="he-IL" sz="2800" dirty="0" err="1" smtClean="0"/>
              <a:t>כט</a:t>
            </a:r>
            <a:r>
              <a:rPr lang="he-IL" sz="2800" dirty="0" smtClean="0"/>
              <a:t> - י"ג, </a:t>
            </a:r>
            <a:r>
              <a:rPr lang="he-IL" sz="2800" dirty="0" err="1" smtClean="0"/>
              <a:t>יט</a:t>
            </a:r>
            <a:r>
              <a:rPr lang="he-IL" sz="2800" dirty="0" smtClean="0"/>
              <a:t>   סכנת היגררות אחרי ע"ז</a:t>
            </a:r>
            <a:endParaRPr lang="en-US" sz="28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sz="2800" dirty="0" smtClean="0"/>
              <a:t>י"ד, </a:t>
            </a:r>
            <a:r>
              <a:rPr lang="he-IL" sz="2800" dirty="0" err="1" smtClean="0"/>
              <a:t>כב-כז</a:t>
            </a:r>
            <a:r>
              <a:rPr lang="he-IL" sz="2800" dirty="0" smtClean="0"/>
              <a:t>           מעשר שני</a:t>
            </a:r>
            <a:endParaRPr lang="en-US" sz="2800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he-IL" sz="2800" dirty="0" smtClean="0"/>
              <a:t>י"ד, </a:t>
            </a:r>
            <a:r>
              <a:rPr lang="he-IL" sz="2800" dirty="0" err="1" smtClean="0"/>
              <a:t>כח</a:t>
            </a:r>
            <a:r>
              <a:rPr lang="he-IL" sz="2800" dirty="0" smtClean="0"/>
              <a:t> - ט"ו, </a:t>
            </a:r>
            <a:r>
              <a:rPr lang="he-IL" sz="2800" dirty="0" err="1" smtClean="0"/>
              <a:t>יח</a:t>
            </a:r>
            <a:r>
              <a:rPr lang="he-IL" sz="2800" dirty="0" smtClean="0"/>
              <a:t>  מצוות כלכליות חברתיות 		   (שמיטה, צדקה, עבד וכו')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800" dirty="0" smtClean="0"/>
              <a:t>ט"ו, </a:t>
            </a:r>
            <a:r>
              <a:rPr lang="he-IL" sz="2800" dirty="0" err="1" smtClean="0"/>
              <a:t>יט</a:t>
            </a:r>
            <a:r>
              <a:rPr lang="he-IL" sz="2800" dirty="0" smtClean="0"/>
              <a:t> - ט"ז, </a:t>
            </a:r>
            <a:r>
              <a:rPr lang="he-IL" sz="2800" dirty="0" err="1" smtClean="0"/>
              <a:t>יז</a:t>
            </a:r>
            <a:r>
              <a:rPr lang="he-IL" sz="2800" dirty="0" smtClean="0"/>
              <a:t>   שלושת הרגלים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1416663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209659" y="274638"/>
            <a:ext cx="5695157" cy="1143000"/>
          </a:xfrm>
        </p:spPr>
        <p:txBody>
          <a:bodyPr>
            <a:noAutofit/>
          </a:bodyPr>
          <a:lstStyle/>
          <a:p>
            <a:r>
              <a:rPr lang="he-IL" sz="3200" dirty="0">
                <a:solidFill>
                  <a:schemeClr val="accent6">
                    <a:lumMod val="75000"/>
                  </a:schemeClr>
                </a:solidFill>
                <a:latin typeface="Guttman Keren" pitchFamily="2" charset="-79"/>
                <a:cs typeface="Guttman Keren" pitchFamily="2" charset="-79"/>
              </a:rPr>
              <a:t>פרשת "הַמָּקוֹם אֲשֶׁר יִבְחַר ה’ </a:t>
            </a:r>
            <a:r>
              <a:rPr lang="he-IL" sz="3200" dirty="0" err="1">
                <a:solidFill>
                  <a:schemeClr val="accent6">
                    <a:lumMod val="75000"/>
                  </a:schemeClr>
                </a:solidFill>
                <a:latin typeface="Guttman Keren" pitchFamily="2" charset="-79"/>
                <a:cs typeface="Guttman Keren" pitchFamily="2" charset="-79"/>
              </a:rPr>
              <a:t>אֱלֹהֶיך</a:t>
            </a:r>
            <a:r>
              <a:rPr lang="he-IL" sz="3200" dirty="0">
                <a:solidFill>
                  <a:schemeClr val="accent6">
                    <a:lumMod val="75000"/>
                  </a:schemeClr>
                </a:solidFill>
                <a:latin typeface="Guttman Keren" pitchFamily="2" charset="-79"/>
                <a:cs typeface="Guttman Keren" pitchFamily="2" charset="-79"/>
              </a:rPr>
              <a:t>ָ לָשׂוּם שְׁמוֹ שָׁם"</a:t>
            </a:r>
            <a:endParaRPr lang="he-IL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0" y="1600201"/>
            <a:ext cx="5519173" cy="452596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he-IL" b="1" dirty="0" smtClean="0">
                <a:solidFill>
                  <a:srgbClr val="FF33CC"/>
                </a:solidFill>
                <a:latin typeface="David" pitchFamily="34" charset="-79"/>
                <a:cs typeface="David" pitchFamily="34" charset="-79"/>
              </a:rPr>
              <a:t>מבנה הפרשה:</a:t>
            </a:r>
          </a:p>
          <a:p>
            <a:pPr marL="0" indent="0">
              <a:buNone/>
            </a:pPr>
            <a:endParaRPr lang="he-IL" sz="1700" b="1" dirty="0">
              <a:solidFill>
                <a:srgbClr val="FF33CC"/>
              </a:solidFill>
              <a:latin typeface="David" pitchFamily="34" charset="-79"/>
              <a:cs typeface="David" pitchFamily="34" charset="-79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he-IL" sz="2800" b="1" dirty="0" smtClean="0">
                <a:solidFill>
                  <a:srgbClr val="7030A0"/>
                </a:solidFill>
              </a:rPr>
              <a:t>י"ב, א - </a:t>
            </a:r>
            <a:r>
              <a:rPr lang="he-IL" sz="2800" b="1" dirty="0" err="1" smtClean="0">
                <a:solidFill>
                  <a:srgbClr val="7030A0"/>
                </a:solidFill>
              </a:rPr>
              <a:t>כח</a:t>
            </a:r>
            <a:r>
              <a:rPr lang="he-IL" sz="2800" b="1" dirty="0" smtClean="0">
                <a:solidFill>
                  <a:srgbClr val="7030A0"/>
                </a:solidFill>
              </a:rPr>
              <a:t>         הבאת קרבנות וקדשים 		   ל"מקום אשר יבחר ה'"</a:t>
            </a:r>
            <a:endParaRPr lang="en-US" sz="2800" b="1" dirty="0" smtClean="0">
              <a:solidFill>
                <a:srgbClr val="7030A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he-IL" sz="2800" b="1" dirty="0" smtClean="0">
                <a:solidFill>
                  <a:srgbClr val="FF0000"/>
                </a:solidFill>
              </a:rPr>
              <a:t>י"ב, </a:t>
            </a:r>
            <a:r>
              <a:rPr lang="he-IL" sz="2800" b="1" dirty="0" err="1" smtClean="0">
                <a:solidFill>
                  <a:srgbClr val="FF0000"/>
                </a:solidFill>
              </a:rPr>
              <a:t>כט</a:t>
            </a:r>
            <a:r>
              <a:rPr lang="he-IL" sz="2800" b="1" dirty="0" smtClean="0">
                <a:solidFill>
                  <a:srgbClr val="FF0000"/>
                </a:solidFill>
              </a:rPr>
              <a:t> - י"ג, </a:t>
            </a:r>
            <a:r>
              <a:rPr lang="he-IL" sz="2800" b="1" dirty="0" err="1" smtClean="0">
                <a:solidFill>
                  <a:srgbClr val="FF0000"/>
                </a:solidFill>
              </a:rPr>
              <a:t>יט</a:t>
            </a:r>
            <a:r>
              <a:rPr lang="he-IL" sz="2800" b="1" dirty="0" smtClean="0">
                <a:solidFill>
                  <a:srgbClr val="FF0000"/>
                </a:solidFill>
              </a:rPr>
              <a:t>   סכנת היגררות אחרי ע"ז</a:t>
            </a:r>
            <a:endParaRPr lang="en-US" sz="2800" b="1" dirty="0" smtClean="0">
              <a:solidFill>
                <a:srgbClr val="FF000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he-IL" sz="2800" b="1" dirty="0" smtClean="0">
                <a:solidFill>
                  <a:srgbClr val="7030A0"/>
                </a:solidFill>
              </a:rPr>
              <a:t>י"ד, </a:t>
            </a:r>
            <a:r>
              <a:rPr lang="he-IL" sz="2800" b="1" dirty="0" err="1" smtClean="0">
                <a:solidFill>
                  <a:srgbClr val="7030A0"/>
                </a:solidFill>
              </a:rPr>
              <a:t>כב-כז</a:t>
            </a:r>
            <a:r>
              <a:rPr lang="he-IL" sz="2800" b="1" dirty="0" smtClean="0">
                <a:solidFill>
                  <a:srgbClr val="7030A0"/>
                </a:solidFill>
              </a:rPr>
              <a:t>           מעשר שני</a:t>
            </a:r>
            <a:endParaRPr lang="en-US" sz="2800" b="1" dirty="0" smtClean="0">
              <a:solidFill>
                <a:srgbClr val="7030A0"/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he-IL" sz="2800" b="1" dirty="0" smtClean="0">
                <a:solidFill>
                  <a:srgbClr val="3333FF"/>
                </a:solidFill>
              </a:rPr>
              <a:t>י"ד, </a:t>
            </a:r>
            <a:r>
              <a:rPr lang="he-IL" sz="2800" b="1" dirty="0" err="1" smtClean="0">
                <a:solidFill>
                  <a:srgbClr val="3333FF"/>
                </a:solidFill>
              </a:rPr>
              <a:t>כח</a:t>
            </a:r>
            <a:r>
              <a:rPr lang="he-IL" sz="2800" b="1" dirty="0" smtClean="0">
                <a:solidFill>
                  <a:srgbClr val="3333FF"/>
                </a:solidFill>
              </a:rPr>
              <a:t> - ט"ו, </a:t>
            </a:r>
            <a:r>
              <a:rPr lang="he-IL" sz="2800" b="1" dirty="0" err="1" smtClean="0">
                <a:solidFill>
                  <a:srgbClr val="3333FF"/>
                </a:solidFill>
              </a:rPr>
              <a:t>יח</a:t>
            </a:r>
            <a:r>
              <a:rPr lang="he-IL" sz="2800" b="1" dirty="0" smtClean="0">
                <a:solidFill>
                  <a:srgbClr val="3333FF"/>
                </a:solidFill>
              </a:rPr>
              <a:t>  מצוות כלכליות חברתיות 		   (שמיטה, צדקה, עבד וכו')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he-IL" sz="2800" b="1" dirty="0" smtClean="0">
                <a:solidFill>
                  <a:srgbClr val="7030A0"/>
                </a:solidFill>
              </a:rPr>
              <a:t>ט"ו, </a:t>
            </a:r>
            <a:r>
              <a:rPr lang="he-IL" sz="2800" b="1" dirty="0" err="1" smtClean="0">
                <a:solidFill>
                  <a:srgbClr val="7030A0"/>
                </a:solidFill>
              </a:rPr>
              <a:t>יט</a:t>
            </a:r>
            <a:r>
              <a:rPr lang="he-IL" sz="2800" b="1" dirty="0" smtClean="0">
                <a:solidFill>
                  <a:srgbClr val="7030A0"/>
                </a:solidFill>
              </a:rPr>
              <a:t> - ט"ז, </a:t>
            </a:r>
            <a:r>
              <a:rPr lang="he-IL" sz="2800" b="1" dirty="0" err="1" smtClean="0">
                <a:solidFill>
                  <a:srgbClr val="7030A0"/>
                </a:solidFill>
              </a:rPr>
              <a:t>יז</a:t>
            </a:r>
            <a:r>
              <a:rPr lang="he-IL" sz="2800" b="1" dirty="0" smtClean="0">
                <a:solidFill>
                  <a:srgbClr val="7030A0"/>
                </a:solidFill>
              </a:rPr>
              <a:t>   שלושת הרגלים</a:t>
            </a:r>
            <a:endParaRPr lang="en-US" sz="2800" b="1" dirty="0" smtClean="0">
              <a:solidFill>
                <a:srgbClr val="7030A0"/>
              </a:solidFill>
            </a:endParaRPr>
          </a:p>
        </p:txBody>
      </p:sp>
      <p:sp>
        <p:nvSpPr>
          <p:cNvPr id="4" name="סוגר מרובע ימני 3"/>
          <p:cNvSpPr/>
          <p:nvPr/>
        </p:nvSpPr>
        <p:spPr>
          <a:xfrm>
            <a:off x="5615584" y="2492896"/>
            <a:ext cx="241027" cy="3240360"/>
          </a:xfrm>
          <a:prstGeom prst="rightBracket">
            <a:avLst>
              <a:gd name="adj" fmla="val 0"/>
            </a:avLst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6" name="מחבר ישר 5"/>
          <p:cNvCxnSpPr>
            <a:endCxn id="4" idx="2"/>
          </p:cNvCxnSpPr>
          <p:nvPr/>
        </p:nvCxnSpPr>
        <p:spPr>
          <a:xfrm>
            <a:off x="5615584" y="4113076"/>
            <a:ext cx="241027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2797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אליפסה 3"/>
          <p:cNvSpPr/>
          <p:nvPr/>
        </p:nvSpPr>
        <p:spPr>
          <a:xfrm>
            <a:off x="1791870" y="1945430"/>
            <a:ext cx="4077142" cy="385983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Ins="0" rtlCol="1" anchor="ctr"/>
          <a:lstStyle/>
          <a:p>
            <a:r>
              <a:rPr lang="he-IL" sz="2800" dirty="0" smtClean="0"/>
              <a:t>בין </a:t>
            </a:r>
          </a:p>
          <a:p>
            <a:r>
              <a:rPr lang="he-IL" sz="2800" dirty="0" smtClean="0"/>
              <a:t>אדם </a:t>
            </a:r>
          </a:p>
          <a:p>
            <a:r>
              <a:rPr lang="he-IL" sz="2800" dirty="0" smtClean="0"/>
              <a:t>למקום</a:t>
            </a:r>
            <a:endParaRPr lang="he-IL" sz="2800" dirty="0"/>
          </a:p>
        </p:txBody>
      </p:sp>
      <p:sp>
        <p:nvSpPr>
          <p:cNvPr id="5" name="אליפסה 4"/>
          <p:cNvSpPr/>
          <p:nvPr/>
        </p:nvSpPr>
        <p:spPr>
          <a:xfrm>
            <a:off x="252388" y="1945430"/>
            <a:ext cx="3820949" cy="3859833"/>
          </a:xfrm>
          <a:prstGeom prst="ellipse">
            <a:avLst/>
          </a:prstGeom>
          <a:solidFill>
            <a:srgbClr val="3333FF"/>
          </a:solidFill>
          <a:ln>
            <a:solidFill>
              <a:srgbClr val="3333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1" anchor="ctr"/>
          <a:lstStyle/>
          <a:p>
            <a:pPr algn="l"/>
            <a:r>
              <a:rPr lang="he-IL" sz="2800" dirty="0" smtClean="0"/>
              <a:t>בין </a:t>
            </a:r>
          </a:p>
          <a:p>
            <a:pPr algn="l"/>
            <a:r>
              <a:rPr lang="he-IL" sz="2800" dirty="0" smtClean="0"/>
              <a:t>אדם </a:t>
            </a:r>
          </a:p>
          <a:p>
            <a:pPr algn="l"/>
            <a:r>
              <a:rPr lang="he-IL" sz="2800" dirty="0" smtClean="0"/>
              <a:t>לחברו</a:t>
            </a:r>
            <a:endParaRPr lang="he-IL" sz="2800" dirty="0"/>
          </a:p>
        </p:txBody>
      </p:sp>
      <p:sp>
        <p:nvSpPr>
          <p:cNvPr id="6" name="אליפסה 5"/>
          <p:cNvSpPr/>
          <p:nvPr/>
        </p:nvSpPr>
        <p:spPr>
          <a:xfrm>
            <a:off x="1791870" y="2060847"/>
            <a:ext cx="2308184" cy="3584131"/>
          </a:xfrm>
          <a:prstGeom prst="ellipse">
            <a:avLst/>
          </a:prstGeom>
          <a:solidFill>
            <a:srgbClr val="7030A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3200" dirty="0" smtClean="0"/>
              <a:t>"המקום אשר יבחר ה' לשכן שמו שם"</a:t>
            </a:r>
            <a:endParaRPr lang="he-IL" sz="3200" dirty="0"/>
          </a:p>
        </p:txBody>
      </p:sp>
      <p:sp>
        <p:nvSpPr>
          <p:cNvPr id="7" name="כותרת 1"/>
          <p:cNvSpPr>
            <a:spLocks noGrp="1"/>
          </p:cNvSpPr>
          <p:nvPr>
            <p:ph type="title"/>
          </p:nvPr>
        </p:nvSpPr>
        <p:spPr>
          <a:xfrm>
            <a:off x="209659" y="274638"/>
            <a:ext cx="5695157" cy="1143000"/>
          </a:xfrm>
        </p:spPr>
        <p:txBody>
          <a:bodyPr>
            <a:noAutofit/>
          </a:bodyPr>
          <a:lstStyle/>
          <a:p>
            <a:r>
              <a:rPr lang="he-IL" sz="3200" dirty="0">
                <a:solidFill>
                  <a:schemeClr val="accent6">
                    <a:lumMod val="75000"/>
                  </a:schemeClr>
                </a:solidFill>
                <a:latin typeface="Guttman Keren" pitchFamily="2" charset="-79"/>
                <a:cs typeface="Guttman Keren" pitchFamily="2" charset="-79"/>
              </a:rPr>
              <a:t>פרשת "הַמָּקוֹם אֲשֶׁר יִבְחַר ה’ </a:t>
            </a:r>
            <a:r>
              <a:rPr lang="he-IL" sz="3200" dirty="0" err="1">
                <a:solidFill>
                  <a:schemeClr val="accent6">
                    <a:lumMod val="75000"/>
                  </a:schemeClr>
                </a:solidFill>
                <a:latin typeface="Guttman Keren" pitchFamily="2" charset="-79"/>
                <a:cs typeface="Guttman Keren" pitchFamily="2" charset="-79"/>
              </a:rPr>
              <a:t>אֱלֹהֶיך</a:t>
            </a:r>
            <a:r>
              <a:rPr lang="he-IL" sz="3200" dirty="0">
                <a:solidFill>
                  <a:schemeClr val="accent6">
                    <a:lumMod val="75000"/>
                  </a:schemeClr>
                </a:solidFill>
                <a:latin typeface="Guttman Keren" pitchFamily="2" charset="-79"/>
                <a:cs typeface="Guttman Keren" pitchFamily="2" charset="-79"/>
              </a:rPr>
              <a:t>ָ לָשׂוּם שְׁמוֹ שָׁם"</a:t>
            </a:r>
            <a:endParaRPr lang="he-IL" sz="3200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5934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0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1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6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out)">
                                      <p:cBhvr>
                                        <p:cTn id="4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3600" dirty="0" smtClean="0">
                <a:latin typeface="Guttman Yad-Brush" panose="02010401010101010101" pitchFamily="2" charset="-79"/>
                <a:cs typeface="Guttman Yad-Brush" panose="02010401010101010101" pitchFamily="2" charset="-79"/>
              </a:rPr>
              <a:t>שמחה ברגל</a:t>
            </a:r>
            <a:endParaRPr lang="he-IL" sz="3600" dirty="0"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e-IL" sz="2400" u="sng" dirty="0" smtClean="0">
                <a:latin typeface="David" panose="020E0502060401010101" pitchFamily="34" charset="-79"/>
                <a:cs typeface="David" panose="020E0502060401010101" pitchFamily="34" charset="-79"/>
              </a:rPr>
              <a:t>ויקרא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 כ"ג, מ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וּלְקַחְתֶּם לָכֶם בַּיּוֹם הָרִאשׁוֹן פְּרִי עֵץ הָדָר כַּפֹּת תְּמָרִים וַעֲנַף עֵץ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עָבֹת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וְעַרְבֵי נָחַל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וּשְׂמַחְתֶּם</a:t>
            </a:r>
            <a:r>
              <a:rPr lang="he-IL" sz="24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לִפְנֵי ה' </a:t>
            </a:r>
            <a:r>
              <a:rPr lang="he-IL" sz="2400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אֱלֹהֵיכֶם</a:t>
            </a:r>
            <a:r>
              <a:rPr lang="he-IL" sz="24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שִׁבְעַת יָמִים:</a:t>
            </a:r>
          </a:p>
          <a:p>
            <a:pPr marL="0" indent="0">
              <a:buNone/>
            </a:pPr>
            <a:endParaRPr lang="he-IL" sz="2400" dirty="0" smtClean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buNone/>
            </a:pPr>
            <a:endParaRPr lang="he-IL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buNone/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ט"ו: יד-טו: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וְשָׂמַחְתָּ</a:t>
            </a:r>
            <a:r>
              <a:rPr lang="he-IL" sz="24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בְּחַגֶּךָ אַתָּה וּבִנְךָ וּבִתֶּךָ וְעַבְדְּךָ וַאֲמָתֶךָ וְהַלֵּוִי וְהַגֵּר וְהַיָּתוֹם וְהָאַלְמָנָה אֲשֶׁר בִּשְׁעָרֶיךָ: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buNone/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שִׁבְעַת יָמִים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תָּחֹג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לַה’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r>
              <a:rPr lang="he-IL" sz="24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בַּמָּקוֹם אֲשֶׁר יִבְחַר ה’</a:t>
            </a:r>
            <a:r>
              <a:rPr lang="he-IL" sz="24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כִּי יְבָרֶכְךָ ה’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ָ בְּכֹל תְּבוּאָתְךָ וּבְכֹל מַעֲשֵׂה יָדֶיךָ וְהָיִיתָ אַךְ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שָׂמֵחַ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  <a:endParaRPr lang="he-IL" sz="24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725596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3200" dirty="0">
                <a:latin typeface="Guttman Yad-Brush" panose="02010401010101010101" pitchFamily="2" charset="-79"/>
                <a:cs typeface="Guttman Yad-Brush" panose="02010401010101010101" pitchFamily="2" charset="-79"/>
              </a:rPr>
              <a:t>מצוות לאומיות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40420" y="1600201"/>
            <a:ext cx="4464496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e-IL" sz="2800" dirty="0" smtClean="0"/>
              <a:t>"המקום אשר יבחר ה'"</a:t>
            </a:r>
          </a:p>
          <a:p>
            <a:pPr marL="0" indent="0">
              <a:buNone/>
            </a:pPr>
            <a:r>
              <a:rPr lang="he-IL" sz="2800" dirty="0" smtClean="0"/>
              <a:t>מנהיגות</a:t>
            </a:r>
          </a:p>
          <a:p>
            <a:pPr marL="0" indent="0">
              <a:buNone/>
            </a:pPr>
            <a:r>
              <a:rPr lang="he-IL" sz="2800" dirty="0" smtClean="0"/>
              <a:t>מלחמה</a:t>
            </a:r>
          </a:p>
          <a:p>
            <a:pPr marL="0" indent="0">
              <a:buNone/>
            </a:pPr>
            <a:r>
              <a:rPr lang="he-IL" sz="2800" dirty="0" smtClean="0"/>
              <a:t>עיר </a:t>
            </a:r>
            <a:r>
              <a:rPr lang="he-IL" sz="2800" dirty="0" err="1" smtClean="0"/>
              <a:t>הנדחת</a:t>
            </a:r>
            <a:endParaRPr lang="he-IL" sz="2800" dirty="0" smtClean="0"/>
          </a:p>
          <a:p>
            <a:pPr marL="0" indent="0">
              <a:buNone/>
            </a:pPr>
            <a:r>
              <a:rPr lang="he-IL" sz="2800" dirty="0" smtClean="0"/>
              <a:t>עגלה ערופה</a:t>
            </a:r>
          </a:p>
          <a:p>
            <a:pPr marL="0" indent="0">
              <a:buNone/>
            </a:pPr>
            <a:endParaRPr lang="he-IL" sz="2800" dirty="0"/>
          </a:p>
          <a:p>
            <a:pPr marL="0" indent="0">
              <a:buNone/>
            </a:pPr>
            <a:r>
              <a:rPr lang="he-IL" sz="2800" dirty="0" smtClean="0">
                <a:latin typeface="Guttman Yad-Brush" panose="02010401010101010101" pitchFamily="2" charset="-79"/>
                <a:cs typeface="Guttman Yad-Brush" panose="02010401010101010101" pitchFamily="2" charset="-79"/>
              </a:rPr>
              <a:t>רובן "מצוות מחודשות"</a:t>
            </a:r>
            <a:endParaRPr lang="he-IL" sz="2800" dirty="0"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  <a:p>
            <a:pPr marL="0" indent="0">
              <a:buNone/>
            </a:pPr>
            <a:endParaRPr lang="he-IL" sz="2800" dirty="0" smtClean="0"/>
          </a:p>
        </p:txBody>
      </p:sp>
    </p:spTree>
    <p:extLst>
      <p:ext uri="{BB962C8B-B14F-4D97-AF65-F5344CB8AC3E}">
        <p14:creationId xmlns:p14="http://schemas.microsoft.com/office/powerpoint/2010/main" val="12960387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274638"/>
            <a:ext cx="5509260" cy="562074"/>
          </a:xfrm>
        </p:spPr>
        <p:txBody>
          <a:bodyPr>
            <a:normAutofit fontScale="90000"/>
          </a:bodyPr>
          <a:lstStyle/>
          <a:p>
            <a:r>
              <a:rPr lang="he-IL" sz="3600" dirty="0" smtClean="0">
                <a:latin typeface="Guttman Yad-Brush" panose="02010401010101010101" pitchFamily="2" charset="-79"/>
                <a:cs typeface="Guttman Yad-Brush" panose="02010401010101010101" pitchFamily="2" charset="-79"/>
              </a:rPr>
              <a:t>מנהיגות</a:t>
            </a:r>
            <a:endParaRPr lang="he-IL" dirty="0"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06070" y="980729"/>
            <a:ext cx="5509260" cy="576064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he-IL" sz="2400" u="sng" dirty="0" smtClean="0">
                <a:latin typeface="David" panose="020E0502060401010101" pitchFamily="34" charset="-79"/>
                <a:cs typeface="David" panose="020E0502060401010101" pitchFamily="34" charset="-79"/>
              </a:rPr>
              <a:t>שמות ויקרא במדבר 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– </a:t>
            </a:r>
            <a:r>
              <a:rPr lang="he-IL" sz="2400" b="1" dirty="0" smtClean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משה</a:t>
            </a:r>
            <a:r>
              <a:rPr lang="he-IL" sz="2400" dirty="0" smtClean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כמנהיג-על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</a:p>
          <a:p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המלך</a:t>
            </a:r>
          </a:p>
          <a:p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השופט העליון</a:t>
            </a:r>
          </a:p>
          <a:p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אבי הנביאים</a:t>
            </a:r>
          </a:p>
          <a:p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הכהן הראשון</a:t>
            </a:r>
          </a:p>
          <a:p>
            <a:pPr marL="0" indent="0">
              <a:buNone/>
            </a:pPr>
            <a:endParaRPr lang="he-IL" sz="2400" dirty="0" smtClean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buNone/>
            </a:pPr>
            <a:r>
              <a:rPr lang="he-IL" sz="2400" u="sng" dirty="0" smtClean="0">
                <a:latin typeface="David" panose="020E0502060401010101" pitchFamily="34" charset="-79"/>
                <a:cs typeface="David" panose="020E0502060401010101" pitchFamily="34" charset="-79"/>
              </a:rPr>
              <a:t>דברים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 – </a:t>
            </a:r>
            <a:r>
              <a:rPr lang="he-IL" sz="2400" dirty="0" smtClean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מערכת של ביזור סמכויות – הפרדת רשויות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</a:p>
          <a:p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מלך</a:t>
            </a:r>
          </a:p>
          <a:p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שופטים </a:t>
            </a:r>
            <a:endParaRPr lang="he-IL" sz="2400" dirty="0" smtClean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נביאים </a:t>
            </a:r>
            <a:endParaRPr lang="he-IL" sz="2400" dirty="0" smtClean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r>
              <a:rPr lang="he-IL" sz="2400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כהנים</a:t>
            </a:r>
            <a:endParaRPr lang="he-IL" sz="2400" dirty="0" smtClean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זקנים (זקני העם והעיר)</a:t>
            </a:r>
          </a:p>
          <a:p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שוטרים</a:t>
            </a:r>
            <a:endParaRPr lang="he-IL" sz="24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50004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116632"/>
            <a:ext cx="5509260" cy="490066"/>
          </a:xfrm>
        </p:spPr>
        <p:txBody>
          <a:bodyPr>
            <a:normAutofit fontScale="90000"/>
          </a:bodyPr>
          <a:lstStyle/>
          <a:p>
            <a:r>
              <a:rPr lang="he-IL" sz="3600" dirty="0" smtClean="0">
                <a:latin typeface="Guttman Yad-Brush" panose="02010401010101010101" pitchFamily="2" charset="-79"/>
                <a:cs typeface="Guttman Yad-Brush" panose="02010401010101010101" pitchFamily="2" charset="-79"/>
              </a:rPr>
              <a:t>ובערת הרע...</a:t>
            </a:r>
            <a:endParaRPr lang="he-IL" sz="3600" dirty="0"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0" y="620688"/>
            <a:ext cx="6013028" cy="4525963"/>
          </a:xfrm>
        </p:spPr>
        <p:txBody>
          <a:bodyPr>
            <a:noAutofit/>
          </a:bodyPr>
          <a:lstStyle/>
          <a:p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וְהַנָּבִיא הַהוּא אוֹ חֹלֵם הַחֲלוֹם הַהוּא יוּמָת כִּי דִבֶּר סָרָה </a:t>
            </a:r>
            <a:r>
              <a:rPr lang="he-IL" sz="2000" dirty="0" smtClean="0">
                <a:latin typeface="David" panose="020E0502060401010101" pitchFamily="34" charset="-79"/>
                <a:cs typeface="David" panose="020E0502060401010101" pitchFamily="34" charset="-79"/>
              </a:rPr>
              <a:t>... 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וּבִעַרְתָּ הָרָע מִקִּרְבֶּךָ</a:t>
            </a:r>
            <a:r>
              <a:rPr lang="he-IL" sz="2000" dirty="0" smtClean="0"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</a:p>
          <a:p>
            <a:r>
              <a:rPr lang="he-IL" sz="2000" dirty="0" smtClean="0">
                <a:latin typeface="David" panose="020E0502060401010101" pitchFamily="34" charset="-79"/>
                <a:cs typeface="David" panose="020E0502060401010101" pitchFamily="34" charset="-79"/>
              </a:rPr>
              <a:t>יַד 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הָעֵדִים תִּהְיֶה בּוֹ בָרִאשֹׁנָה לַהֲמִיתוֹ וְיַד כָּל הָעָם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בָּאַחֲרֹנָה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וּבִעַרְתָּ הָרָע מִקִּרְבֶּךָ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endParaRPr lang="he-IL" sz="2000" dirty="0" smtClean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r>
              <a:rPr lang="he-IL" sz="2000" dirty="0" smtClean="0">
                <a:latin typeface="David" panose="020E0502060401010101" pitchFamily="34" charset="-79"/>
                <a:cs typeface="David" panose="020E0502060401010101" pitchFamily="34" charset="-79"/>
              </a:rPr>
              <a:t>וְהָאִישׁ 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אֲשֶׁר יַעֲשֶׂה בְזָדוֹן לְבִלְתִּי שְׁמֹעַ אֶל הַכֹּהֵן </a:t>
            </a:r>
            <a:r>
              <a:rPr lang="he-IL" sz="2000" dirty="0" smtClean="0">
                <a:latin typeface="David" panose="020E0502060401010101" pitchFamily="34" charset="-79"/>
                <a:cs typeface="David" panose="020E0502060401010101" pitchFamily="34" charset="-79"/>
              </a:rPr>
              <a:t>... ּמֵת 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הָאִישׁ הַהוּא 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וּבִעַרְתָּ הָרָע מִיִּשְׂרָאֵל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endParaRPr lang="en-US" sz="20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r>
              <a:rPr lang="he-IL" sz="2000" dirty="0" smtClean="0">
                <a:latin typeface="David" panose="020E0502060401010101" pitchFamily="34" charset="-79"/>
                <a:cs typeface="David" panose="020E0502060401010101" pitchFamily="34" charset="-79"/>
              </a:rPr>
              <a:t>לֹא 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תָחוֹס עֵינְךָ עָלָיו 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וּבִעַרְתָּ דַם הַנָּקִי מִיִּשְׂרָאֵל וְטוֹב לָךְ</a:t>
            </a:r>
            <a:r>
              <a:rPr lang="he-IL" sz="2000" dirty="0" smtClean="0"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</a:p>
          <a:p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וַעֲשִׂיתֶם לוֹ כַּאֲשֶׁר זָמַם לַעֲשׂוֹת לְאָחִיו 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וּבִעַרְתָּ הָרָע מִקִּרְבֶּךָ</a:t>
            </a:r>
            <a:r>
              <a:rPr lang="he-IL" sz="2000" dirty="0" smtClean="0"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</a:p>
          <a:p>
            <a:r>
              <a:rPr lang="he-IL" sz="2000" dirty="0" smtClean="0">
                <a:latin typeface="David" panose="020E0502060401010101" pitchFamily="34" charset="-79"/>
                <a:cs typeface="David" panose="020E0502060401010101" pitchFamily="34" charset="-79"/>
              </a:rPr>
              <a:t>וּרְגָמֻהוּ 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כָּל אַנְשֵׁי עִירוֹ </a:t>
            </a:r>
            <a:r>
              <a:rPr lang="he-IL" sz="2000" dirty="0" smtClean="0">
                <a:latin typeface="David" panose="020E0502060401010101" pitchFamily="34" charset="-79"/>
                <a:cs typeface="David" panose="020E0502060401010101" pitchFamily="34" charset="-79"/>
              </a:rPr>
              <a:t>בָאֲבָנִים 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וָמֵת 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וּבִעַרְתָּ הָרָע מִקִּרְבֶּךָ וְכָל יִשְׂרָאֵל יִשְׁמְעוּ וְיִרָאוּ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endParaRPr lang="he-IL" sz="2000" dirty="0" smtClean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וָמֵתָה כִּי עָשְׂתָה נְבָלָה בְּיִשְׂרָאֵל לִזְנוֹת בֵּית אָבִיהָ 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וּבִעַרְתָּ הָרָע מִקִּרְבֶּך</a:t>
            </a:r>
            <a:r>
              <a:rPr lang="he-IL" sz="2000" dirty="0" smtClean="0">
                <a:latin typeface="David" panose="020E0502060401010101" pitchFamily="34" charset="-79"/>
                <a:cs typeface="David" panose="020E0502060401010101" pitchFamily="34" charset="-79"/>
              </a:rPr>
              <a:t>ָ</a:t>
            </a:r>
          </a:p>
          <a:p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וּמֵתוּ גַּם שְׁנֵיהֶם הָאִישׁ הַשֹּׁכֵב עִם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הָאִשָּׁה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000" dirty="0" err="1">
                <a:latin typeface="David" panose="020E0502060401010101" pitchFamily="34" charset="-79"/>
                <a:cs typeface="David" panose="020E0502060401010101" pitchFamily="34" charset="-79"/>
              </a:rPr>
              <a:t>וְהָאִשָּׁה</a:t>
            </a:r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וּבִעַרְתָּ הָרָע מִיִּשְׂרָאֵל</a:t>
            </a:r>
          </a:p>
          <a:p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וְאֶת הָאִישׁ עַל דְּבַר אֲשֶׁר עִנָּה אֶת אֵשֶׁת רֵעֵהוּ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וּבִעַרְתָּ הָרָע מִקִּרְבֶּךָ</a:t>
            </a:r>
          </a:p>
          <a:p>
            <a:r>
              <a:rPr lang="he-IL" sz="2000" dirty="0">
                <a:latin typeface="David" panose="020E0502060401010101" pitchFamily="34" charset="-79"/>
                <a:cs typeface="David" panose="020E0502060401010101" pitchFamily="34" charset="-79"/>
              </a:rPr>
              <a:t>כִּי יִמָּצֵא אִישׁ גֹּנֵב נֶפֶשׁ מֵאֶחָיו מִבְּנֵי יִשְׂרָאֵל וְהִתְעַמֶּר בּוֹ וּמְכָרוֹ וּמֵת הַגַּנָּב הַהוּא 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וּבִעַרְתָּ הָרָע מִקִּרְבֶּךָ</a:t>
            </a:r>
          </a:p>
        </p:txBody>
      </p:sp>
    </p:spTree>
    <p:extLst>
      <p:ext uri="{BB962C8B-B14F-4D97-AF65-F5344CB8AC3E}">
        <p14:creationId xmlns:p14="http://schemas.microsoft.com/office/powerpoint/2010/main" val="1093032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6000"/>
                            </p:stCondLst>
                            <p:childTnLst>
                              <p:par>
                                <p:cTn id="41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7000"/>
                            </p:stCondLst>
                            <p:childTnLst>
                              <p:par>
                                <p:cTn id="47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8000"/>
                            </p:stCondLst>
                            <p:childTnLst>
                              <p:par>
                                <p:cTn id="53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9000"/>
                            </p:stCondLst>
                            <p:childTnLst>
                              <p:par>
                                <p:cTn id="59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274638"/>
            <a:ext cx="5509260" cy="634082"/>
          </a:xfrm>
        </p:spPr>
        <p:txBody>
          <a:bodyPr>
            <a:noAutofit/>
          </a:bodyPr>
          <a:lstStyle/>
          <a:p>
            <a:r>
              <a:rPr lang="he-IL" sz="3600" dirty="0" smtClean="0">
                <a:latin typeface="Guttman Yad-Brush" panose="02010401010101010101" pitchFamily="2" charset="-79"/>
                <a:cs typeface="Guttman Yad-Brush" panose="02010401010101010101" pitchFamily="2" charset="-79"/>
              </a:rPr>
              <a:t>לכפר על...</a:t>
            </a:r>
            <a:endParaRPr lang="he-IL" sz="3600" dirty="0"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06070" y="1052736"/>
            <a:ext cx="5509260" cy="4525963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he-IL" sz="2400" u="sng" dirty="0" smtClean="0">
                <a:latin typeface="David" panose="020E0502060401010101" pitchFamily="34" charset="-79"/>
                <a:cs typeface="David" panose="020E0502060401010101" pitchFamily="34" charset="-79"/>
              </a:rPr>
              <a:t>ויקרא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 ט"ז, </a:t>
            </a:r>
            <a:r>
              <a:rPr lang="he-IL" sz="2400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טז-יט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וְכִפֶּר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עַל </a:t>
            </a:r>
            <a:r>
              <a:rPr lang="he-IL" sz="24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הַקֹּדֶשׁ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מִטֻּמְאֹת בְּנֵי יִשְׂרָאֵל וּמִפִּשְׁעֵיהֶם לְכָל חַטֹּאתָם וְכֵן יַעֲשֶׂה </a:t>
            </a:r>
            <a:r>
              <a:rPr lang="he-IL" sz="24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לְאֹהֶל מוֹעֵד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הַשֹּׁכֵן אִתָּם בְּתוֹךְ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טֻמְאֹתָם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וְכָל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אָדָם לֹא יִהְיֶה בְּאֹהֶל מוֹעֵד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בְּבֹאו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ֹ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לְכַפֵּר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בַּקֹּדֶשׁ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עַד צֵאתוֹ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וְכִפֶּר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b="1" dirty="0">
                <a:solidFill>
                  <a:srgbClr val="FF00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בַּעֲדוֹ וּבְעַד בֵּיתוֹ וּבְעַד כָּל קְהַל יִשְׂרָאֵל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וְיָצָא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אֶל </a:t>
            </a:r>
            <a:r>
              <a:rPr lang="he-IL" sz="24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הַמִּזְבֵּחַ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אֲשֶׁר לִפְנֵי ה'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וְכִפֶּר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עָלָיו וְלָקַח מִדַּם הַפָּר וּמִדַּם הַשָּׂעִיר וְנָתַן עַל קַרְנוֹת הַמִּזְבֵּחַ סָבִיב: 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וְהִזָּה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עָלָיו מִן הַדָּם בְּאֶצְבָּעוֹ שֶׁבַע פְּעָמִים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וְטִהֲרוֹ וְקִדְּשׁוֹ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מִטֻּמְאֹת בְּנֵי יִשְׂרָאֵל: </a:t>
            </a:r>
            <a:endParaRPr lang="he-IL" sz="2400" dirty="0" smtClean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endParaRPr lang="he-IL" sz="2400" dirty="0" smtClean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endParaRPr lang="he-IL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כ"א, 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ח: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כַּפֵּר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לְעַמְּךָ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יִשְׂרָאֵל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אֲשֶׁר פָּדִיתָ ה’ וְאַל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תִּתֵּן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דָּם נָקִי בְּקֶרֶב </a:t>
            </a:r>
            <a:r>
              <a:rPr lang="he-IL" sz="24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עַמְּךָ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יִשְׂרָאֵל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וְנִכַּפֵּר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לָהֶם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הַדָּם: </a:t>
            </a:r>
          </a:p>
        </p:txBody>
      </p:sp>
    </p:spTree>
    <p:extLst>
      <p:ext uri="{BB962C8B-B14F-4D97-AF65-F5344CB8AC3E}">
        <p14:creationId xmlns:p14="http://schemas.microsoft.com/office/powerpoint/2010/main" val="996737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3600" dirty="0" smtClean="0">
                <a:latin typeface="Guttman Yad-Brush" panose="02010401010101010101" pitchFamily="2" charset="-79"/>
                <a:cs typeface="Guttman Yad-Brush" panose="02010401010101010101" pitchFamily="2" charset="-79"/>
              </a:rPr>
              <a:t>שמיטה</a:t>
            </a:r>
            <a:endParaRPr lang="he-IL" sz="3600" dirty="0"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lang="he-IL" sz="2400" u="sng" dirty="0" smtClean="0">
                <a:latin typeface="David" panose="020E0502060401010101" pitchFamily="34" charset="-79"/>
                <a:cs typeface="David" panose="020E0502060401010101" pitchFamily="34" charset="-79"/>
              </a:rPr>
              <a:t>ויקרא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 כ"ה, ב: וְשָׁבְתָה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הָאָרֶץ </a:t>
            </a:r>
            <a:r>
              <a:rPr lang="he-IL" sz="24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שַׁבָּת לַה</a:t>
            </a:r>
            <a:r>
              <a:rPr lang="he-IL" sz="24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'</a:t>
            </a:r>
          </a:p>
          <a:p>
            <a:pPr marL="0" indent="0">
              <a:buNone/>
            </a:pPr>
            <a:r>
              <a:rPr lang="he-IL" sz="2400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כג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: וְהָאָרֶץ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לֹא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תִמָּכֵר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לִצְמִתֻת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כִּי לִי הָאָרֶץ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כִּי גֵרִים וְתוֹשָׁבִים אַתֶּם 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עִמָּדִי.</a:t>
            </a:r>
          </a:p>
          <a:p>
            <a:endParaRPr lang="he-IL" sz="2400" dirty="0" smtClean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endParaRPr lang="he-IL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ט"ו, ט-יא: </a:t>
            </a:r>
            <a:r>
              <a:rPr lang="he-IL" sz="2400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הִשָּׁמֶר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 לְךָ פֶּן יִהְיֶה דָבָר עִם לְבָבְךָ </a:t>
            </a:r>
            <a:r>
              <a:rPr lang="he-IL" sz="2400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בְלִיַּעַל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לֵאמֹר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 קָרְבָה שְׁנַת הַשֶּׁבַע שְׁנַת הַשְּׁמִטָּה וְרָעָה עֵינְךָ </a:t>
            </a:r>
            <a:r>
              <a:rPr lang="he-IL" sz="24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בְּאָחִיךָ הָאֶבְיוֹן 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וְלֹא </a:t>
            </a:r>
            <a:r>
              <a:rPr lang="he-IL" sz="2400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תִתֵּן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 לוֹ וְקָרָא עָלֶיךָ אֶל ה’ וְהָיָה בְךָ חֵטְא...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פָּתֹחַ תִּפְתַּח אֶת יָדְךָ </a:t>
            </a:r>
            <a:r>
              <a:rPr lang="he-IL" sz="24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לְאָחִיךָ </a:t>
            </a:r>
            <a:r>
              <a:rPr lang="he-IL" sz="2400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לַעֲנִיֶּך</a:t>
            </a:r>
            <a:r>
              <a:rPr lang="he-IL" sz="24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r>
              <a:rPr lang="he-IL" sz="2400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וּלְאֶבְיֹנְך</a:t>
            </a:r>
            <a:r>
              <a:rPr lang="he-IL" sz="24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r>
              <a:rPr lang="he-IL" sz="24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בְּאַרְצֶךָ:</a:t>
            </a:r>
            <a:endParaRPr lang="he-IL" sz="2400" dirty="0">
              <a:solidFill>
                <a:srgbClr val="FF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41421572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3600" dirty="0" smtClean="0">
                <a:latin typeface="Guttman Yad-Brush" panose="02010401010101010101" pitchFamily="2" charset="-79"/>
                <a:cs typeface="Guttman Yad-Brush" panose="02010401010101010101" pitchFamily="2" charset="-79"/>
              </a:rPr>
              <a:t>שחרור עבדים</a:t>
            </a:r>
            <a:endParaRPr lang="he-IL" sz="3600" dirty="0"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he-IL" sz="2600" u="sng" dirty="0">
                <a:latin typeface="David" panose="020E0502060401010101" pitchFamily="34" charset="-79"/>
                <a:cs typeface="David" panose="020E0502060401010101" pitchFamily="34" charset="-79"/>
              </a:rPr>
              <a:t>ויקרא</a:t>
            </a:r>
            <a:r>
              <a:rPr lang="he-IL" sz="2600" dirty="0">
                <a:latin typeface="David" panose="020E0502060401010101" pitchFamily="34" charset="-79"/>
                <a:cs typeface="David" panose="020E0502060401010101" pitchFamily="34" charset="-79"/>
              </a:rPr>
              <a:t> כ"ה, </a:t>
            </a:r>
            <a:r>
              <a:rPr lang="he-IL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מא-מב</a:t>
            </a:r>
            <a:r>
              <a:rPr lang="he-IL" sz="2600" dirty="0">
                <a:latin typeface="David" panose="020E0502060401010101" pitchFamily="34" charset="-79"/>
                <a:cs typeface="David" panose="020E0502060401010101" pitchFamily="34" charset="-79"/>
              </a:rPr>
              <a:t>: וְיָצָא מֵעִמָּךְ הוּא וּבָנָיו עִמּוֹ וְשָׁב אֶל מִשְׁפַּחְתּוֹ וְאֶל אֲחֻזַּת </a:t>
            </a:r>
            <a:r>
              <a:rPr lang="he-IL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אֲבֹתָיו</a:t>
            </a:r>
            <a:r>
              <a:rPr lang="he-IL" sz="2600" dirty="0">
                <a:latin typeface="David" panose="020E0502060401010101" pitchFamily="34" charset="-79"/>
                <a:cs typeface="David" panose="020E0502060401010101" pitchFamily="34" charset="-79"/>
              </a:rPr>
              <a:t> יָשׁוּב: </a:t>
            </a:r>
            <a:r>
              <a:rPr lang="he-IL" sz="26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כִּי עֲבָדַי הֵם </a:t>
            </a:r>
            <a:r>
              <a:rPr lang="he-IL" sz="2600" dirty="0">
                <a:latin typeface="David" panose="020E0502060401010101" pitchFamily="34" charset="-79"/>
                <a:cs typeface="David" panose="020E0502060401010101" pitchFamily="34" charset="-79"/>
              </a:rPr>
              <a:t>אֲשֶׁר הוֹצֵאתִי אֹתָם </a:t>
            </a:r>
            <a:r>
              <a:rPr lang="he-IL" sz="2600" u="sng" dirty="0">
                <a:latin typeface="David" panose="020E0502060401010101" pitchFamily="34" charset="-79"/>
                <a:cs typeface="David" panose="020E0502060401010101" pitchFamily="34" charset="-79"/>
              </a:rPr>
              <a:t>מֵאֶרֶץ מִצְרָיִם </a:t>
            </a:r>
            <a:r>
              <a:rPr lang="he-IL" sz="2600" dirty="0">
                <a:latin typeface="David" panose="020E0502060401010101" pitchFamily="34" charset="-79"/>
                <a:cs typeface="David" panose="020E0502060401010101" pitchFamily="34" charset="-79"/>
              </a:rPr>
              <a:t>לֹא יִמָּכְרוּ מִמְכֶּרֶת עָבֶד: </a:t>
            </a:r>
          </a:p>
          <a:p>
            <a:pPr marL="0" indent="0">
              <a:buNone/>
            </a:pPr>
            <a:endParaRPr lang="he-IL" sz="26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buNone/>
            </a:pPr>
            <a:r>
              <a:rPr lang="he-IL" sz="2600" dirty="0">
                <a:latin typeface="David" panose="020E0502060401010101" pitchFamily="34" charset="-79"/>
                <a:cs typeface="David" panose="020E0502060401010101" pitchFamily="34" charset="-79"/>
              </a:rPr>
              <a:t>ט"ו, </a:t>
            </a:r>
            <a:r>
              <a:rPr lang="he-IL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יג</a:t>
            </a:r>
            <a:r>
              <a:rPr lang="he-IL" sz="2600" dirty="0">
                <a:latin typeface="David" panose="020E0502060401010101" pitchFamily="34" charset="-79"/>
                <a:cs typeface="David" panose="020E0502060401010101" pitchFamily="34" charset="-79"/>
              </a:rPr>
              <a:t>-יד: וְכִי תְשַׁלְּחֶנּוּ חָפְשִׁי מֵעִמָּךְ לֹא תְשַׁלְּחֶנּוּ רֵיקָם: </a:t>
            </a:r>
            <a:r>
              <a:rPr lang="he-IL" sz="26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הַעֲנֵיק תַּעֲנִיק לוֹ </a:t>
            </a:r>
            <a:r>
              <a:rPr lang="he-IL" sz="2600" dirty="0">
                <a:latin typeface="David" panose="020E0502060401010101" pitchFamily="34" charset="-79"/>
                <a:cs typeface="David" panose="020E0502060401010101" pitchFamily="34" charset="-79"/>
              </a:rPr>
              <a:t>מִצֹּאנְךָ </a:t>
            </a:r>
            <a:r>
              <a:rPr lang="he-IL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וּמִגָּרְנְך</a:t>
            </a:r>
            <a:r>
              <a:rPr lang="he-IL" sz="2600" dirty="0">
                <a:latin typeface="David" panose="020E0502060401010101" pitchFamily="34" charset="-79"/>
                <a:cs typeface="David" panose="020E0502060401010101" pitchFamily="34" charset="-79"/>
              </a:rPr>
              <a:t>ָ וּמִיִּקְבֶךָ אֲשֶׁר בֵּרַכְךָ ה’ </a:t>
            </a:r>
            <a:r>
              <a:rPr lang="he-IL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600" dirty="0"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r>
              <a:rPr lang="he-IL" sz="2600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תִּתֶּן</a:t>
            </a:r>
            <a:r>
              <a:rPr lang="he-IL" sz="26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6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לוֹ</a:t>
            </a:r>
            <a:r>
              <a:rPr lang="he-IL" sz="2600" dirty="0" smtClean="0"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  <a:r>
              <a:rPr lang="he-IL" sz="26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600" dirty="0" smtClean="0">
                <a:latin typeface="David" panose="020E0502060401010101" pitchFamily="34" charset="-79"/>
                <a:cs typeface="David" panose="020E0502060401010101" pitchFamily="34" charset="-79"/>
              </a:rPr>
              <a:t>וְזָכַרְתָּ </a:t>
            </a:r>
            <a:r>
              <a:rPr lang="he-IL" sz="2600" dirty="0">
                <a:latin typeface="David" panose="020E0502060401010101" pitchFamily="34" charset="-79"/>
                <a:cs typeface="David" panose="020E0502060401010101" pitchFamily="34" charset="-79"/>
              </a:rPr>
              <a:t>כִּי עֶבֶד הָיִיתָ </a:t>
            </a:r>
            <a:r>
              <a:rPr lang="he-IL" sz="2600" u="sng" dirty="0">
                <a:latin typeface="David" panose="020E0502060401010101" pitchFamily="34" charset="-79"/>
                <a:cs typeface="David" panose="020E0502060401010101" pitchFamily="34" charset="-79"/>
              </a:rPr>
              <a:t>בְּאֶרֶץ מִצְרַיִם </a:t>
            </a:r>
            <a:r>
              <a:rPr lang="he-IL" sz="2600" dirty="0">
                <a:latin typeface="David" panose="020E0502060401010101" pitchFamily="34" charset="-79"/>
                <a:cs typeface="David" panose="020E0502060401010101" pitchFamily="34" charset="-79"/>
              </a:rPr>
              <a:t>וַיִּפְדְּךָ ה’ </a:t>
            </a:r>
            <a:r>
              <a:rPr lang="he-IL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600" dirty="0">
                <a:latin typeface="David" panose="020E0502060401010101" pitchFamily="34" charset="-79"/>
                <a:cs typeface="David" panose="020E0502060401010101" pitchFamily="34" charset="-79"/>
              </a:rPr>
              <a:t>ָ עַל כֵּן אָנֹכִי </a:t>
            </a:r>
            <a:r>
              <a:rPr lang="he-IL" sz="2600" dirty="0" err="1">
                <a:latin typeface="David" panose="020E0502060401010101" pitchFamily="34" charset="-79"/>
                <a:cs typeface="David" panose="020E0502060401010101" pitchFamily="34" charset="-79"/>
              </a:rPr>
              <a:t>מְצַוְּך</a:t>
            </a:r>
            <a:r>
              <a:rPr lang="he-IL" sz="2600" dirty="0">
                <a:latin typeface="David" panose="020E0502060401010101" pitchFamily="34" charset="-79"/>
                <a:cs typeface="David" panose="020E0502060401010101" pitchFamily="34" charset="-79"/>
              </a:rPr>
              <a:t>ָ אֶת הַדָּבָר הַזֶּה </a:t>
            </a:r>
            <a:r>
              <a:rPr lang="he-IL" sz="2600" dirty="0" smtClean="0">
                <a:latin typeface="David" panose="020E0502060401010101" pitchFamily="34" charset="-79"/>
                <a:cs typeface="David" panose="020E0502060401010101" pitchFamily="34" charset="-79"/>
              </a:rPr>
              <a:t>הַיּוֹם:</a:t>
            </a:r>
            <a:endParaRPr lang="he-IL" sz="26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6885740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44624"/>
            <a:ext cx="5509260" cy="634082"/>
          </a:xfrm>
        </p:spPr>
        <p:txBody>
          <a:bodyPr>
            <a:normAutofit fontScale="90000"/>
          </a:bodyPr>
          <a:lstStyle/>
          <a:p>
            <a:r>
              <a:rPr lang="he-IL" sz="4000" dirty="0" smtClean="0">
                <a:latin typeface="Guttman Yad-Brush" panose="02010401010101010101" pitchFamily="2" charset="-79"/>
                <a:cs typeface="Guttman Yad-Brush" panose="02010401010101010101" pitchFamily="2" charset="-79"/>
              </a:rPr>
              <a:t>קדושה</a:t>
            </a:r>
            <a:endParaRPr lang="he-IL" dirty="0"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2628652" y="764704"/>
            <a:ext cx="3384376" cy="4525963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e-IL" sz="2200" dirty="0" smtClean="0"/>
              <a:t>י"ב: </a:t>
            </a:r>
            <a:r>
              <a:rPr lang="he-IL" sz="2200" b="1" dirty="0" smtClean="0">
                <a:solidFill>
                  <a:srgbClr val="FF0000"/>
                </a:solidFill>
              </a:rPr>
              <a:t>הַמָּקוֹם</a:t>
            </a:r>
            <a:r>
              <a:rPr lang="he-IL" sz="2200" dirty="0" smtClean="0"/>
              <a:t> </a:t>
            </a:r>
            <a:r>
              <a:rPr lang="he-IL" sz="2200" dirty="0"/>
              <a:t>אֲשֶׁר יִבְחַר ה’ </a:t>
            </a:r>
            <a:r>
              <a:rPr lang="he-IL" sz="2200" dirty="0" err="1"/>
              <a:t>אֱלֹהֵיכֶם</a:t>
            </a:r>
            <a:r>
              <a:rPr lang="he-IL" sz="2200" dirty="0"/>
              <a:t> בּוֹ </a:t>
            </a:r>
            <a:r>
              <a:rPr lang="he-IL" sz="2200" b="1" dirty="0">
                <a:solidFill>
                  <a:srgbClr val="FF0000"/>
                </a:solidFill>
              </a:rPr>
              <a:t>לְשַׁכֵּן </a:t>
            </a:r>
            <a:r>
              <a:rPr lang="he-IL" sz="2200" b="1" u="sng" dirty="0">
                <a:solidFill>
                  <a:srgbClr val="FF0000"/>
                </a:solidFill>
              </a:rPr>
              <a:t>שְׁמוֹ</a:t>
            </a:r>
            <a:r>
              <a:rPr lang="he-IL" sz="2200" b="1" dirty="0">
                <a:solidFill>
                  <a:srgbClr val="FF0000"/>
                </a:solidFill>
              </a:rPr>
              <a:t> שָׁם </a:t>
            </a:r>
            <a:endParaRPr lang="he-IL" sz="2200" b="1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he-IL" sz="2200" dirty="0" smtClean="0"/>
              <a:t>ז', ו: כִּי </a:t>
            </a:r>
            <a:r>
              <a:rPr lang="he-IL" sz="2200" b="1" dirty="0"/>
              <a:t>עַם קָדוֹשׁ </a:t>
            </a:r>
            <a:r>
              <a:rPr lang="he-IL" sz="2200" dirty="0"/>
              <a:t>אַתָּה לַה’ </a:t>
            </a:r>
            <a:r>
              <a:rPr lang="he-IL" sz="2200" dirty="0" err="1"/>
              <a:t>אֱלֹהֶיך</a:t>
            </a:r>
            <a:r>
              <a:rPr lang="he-IL" sz="2200" dirty="0"/>
              <a:t>ָ בְּךָ בָּחַר ה’ </a:t>
            </a:r>
            <a:r>
              <a:rPr lang="he-IL" sz="2200" dirty="0" err="1"/>
              <a:t>אֱלֹהֶיך</a:t>
            </a:r>
            <a:r>
              <a:rPr lang="he-IL" sz="2200" dirty="0"/>
              <a:t>ָ לִהְיוֹת לוֹ </a:t>
            </a:r>
            <a:r>
              <a:rPr lang="he-IL" sz="2200" b="1" dirty="0"/>
              <a:t>לְעַם סְגֻלָּה </a:t>
            </a:r>
            <a:r>
              <a:rPr lang="he-IL" sz="2200" dirty="0"/>
              <a:t>מִכֹּל הָעַמִּים אֲשֶׁר עַל פְּנֵי </a:t>
            </a:r>
            <a:r>
              <a:rPr lang="he-IL" sz="2200" dirty="0" smtClean="0"/>
              <a:t>הָאֲדָמָה:</a:t>
            </a:r>
          </a:p>
          <a:p>
            <a:pPr marL="0" indent="0">
              <a:buNone/>
            </a:pPr>
            <a:r>
              <a:rPr lang="he-IL" sz="2200" dirty="0" smtClean="0"/>
              <a:t>י"ד, ב:  </a:t>
            </a:r>
            <a:r>
              <a:rPr lang="he-IL" sz="2200" dirty="0"/>
              <a:t>כִּי </a:t>
            </a:r>
            <a:r>
              <a:rPr lang="he-IL" sz="2200" b="1" dirty="0"/>
              <a:t>עַם קָדוֹשׁ </a:t>
            </a:r>
            <a:r>
              <a:rPr lang="he-IL" sz="2200" dirty="0"/>
              <a:t>אַתָּה לַה’ </a:t>
            </a:r>
            <a:r>
              <a:rPr lang="he-IL" sz="2200" dirty="0" err="1"/>
              <a:t>אֱלֹהֶיך</a:t>
            </a:r>
            <a:r>
              <a:rPr lang="he-IL" sz="2200" dirty="0"/>
              <a:t>ָ וּבְךָ בָּחַר ה’ לִהְיוֹת לוֹ </a:t>
            </a:r>
            <a:r>
              <a:rPr lang="he-IL" sz="2200" b="1" dirty="0"/>
              <a:t>לְעַם סְגֻלָּה </a:t>
            </a:r>
            <a:r>
              <a:rPr lang="he-IL" sz="2200" dirty="0"/>
              <a:t>מִכֹּל הָעַמִּים אֲשֶׁר עַל פְּנֵי הָאֲדָמָה: </a:t>
            </a:r>
          </a:p>
          <a:p>
            <a:pPr marL="0" indent="0">
              <a:buNone/>
            </a:pPr>
            <a:r>
              <a:rPr lang="he-IL" sz="2200" dirty="0" smtClean="0"/>
              <a:t>כ"ח, ט-י: </a:t>
            </a:r>
            <a:r>
              <a:rPr lang="he-IL" sz="2200" dirty="0"/>
              <a:t>יְקִימְךָ ה' לוֹ </a:t>
            </a:r>
            <a:r>
              <a:rPr lang="he-IL" sz="2200" b="1" dirty="0"/>
              <a:t>לְעַם קָדוֹשׁ </a:t>
            </a:r>
            <a:r>
              <a:rPr lang="he-IL" sz="2200" dirty="0"/>
              <a:t>כַּאֲשֶׁר נִשְׁבַּע לָךְ כִּי תִשְׁמֹר אֶת מִצְוֹת ה' </a:t>
            </a:r>
            <a:r>
              <a:rPr lang="he-IL" sz="2200" dirty="0" err="1"/>
              <a:t>אֱלֹהֶיך</a:t>
            </a:r>
            <a:r>
              <a:rPr lang="he-IL" sz="2200" dirty="0"/>
              <a:t>ָ </a:t>
            </a:r>
            <a:r>
              <a:rPr lang="he-IL" sz="2200" b="1" dirty="0">
                <a:solidFill>
                  <a:srgbClr val="3333FF"/>
                </a:solidFill>
              </a:rPr>
              <a:t>וְהָלַכְתָּ בִּדְרָכָיו</a:t>
            </a:r>
            <a:r>
              <a:rPr lang="he-IL" sz="2200" dirty="0" smtClean="0"/>
              <a:t>:</a:t>
            </a:r>
            <a:r>
              <a:rPr lang="he-IL" sz="2200" dirty="0"/>
              <a:t> </a:t>
            </a:r>
            <a:r>
              <a:rPr lang="he-IL" sz="2200" dirty="0" smtClean="0"/>
              <a:t>וְרָאוּ </a:t>
            </a:r>
            <a:r>
              <a:rPr lang="he-IL" sz="2200" dirty="0"/>
              <a:t>כָּל עַמֵּי הָאָרֶץ כִּי </a:t>
            </a:r>
            <a:r>
              <a:rPr lang="he-IL" sz="2200" b="1" dirty="0"/>
              <a:t>שֵׁם ה' נִקְרָא עָלֶיךָ </a:t>
            </a:r>
            <a:r>
              <a:rPr lang="he-IL" sz="2200" dirty="0"/>
              <a:t>וְיָרְאוּ מִמֶּךָּ:</a:t>
            </a:r>
            <a:endParaRPr lang="en-US" sz="2200" dirty="0"/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he-IL" sz="2200" dirty="0" smtClean="0"/>
          </a:p>
          <a:p>
            <a:pPr marL="0" indent="0">
              <a:buNone/>
            </a:pPr>
            <a:endParaRPr lang="he-IL" sz="2200" dirty="0"/>
          </a:p>
        </p:txBody>
      </p:sp>
      <p:sp>
        <p:nvSpPr>
          <p:cNvPr id="4" name="TextBox 3"/>
          <p:cNvSpPr txBox="1"/>
          <p:nvPr/>
        </p:nvSpPr>
        <p:spPr>
          <a:xfrm>
            <a:off x="108372" y="764704"/>
            <a:ext cx="2520280" cy="600164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200" b="1" u="sng" dirty="0" smtClean="0"/>
              <a:t>ויקרא</a:t>
            </a:r>
            <a:r>
              <a:rPr lang="he-IL" sz="2200" dirty="0" smtClean="0"/>
              <a:t> כ"ו</a:t>
            </a:r>
          </a:p>
          <a:p>
            <a:r>
              <a:rPr lang="he-IL" sz="2200" dirty="0" smtClean="0"/>
              <a:t>(יא</a:t>
            </a:r>
            <a:r>
              <a:rPr lang="he-IL" sz="2200" dirty="0"/>
              <a:t>) וְנָתַתִּי </a:t>
            </a:r>
            <a:r>
              <a:rPr lang="he-IL" sz="2200" b="1" dirty="0">
                <a:solidFill>
                  <a:srgbClr val="FF0000"/>
                </a:solidFill>
              </a:rPr>
              <a:t>מִשְׁכָּנִי בְּתוֹכְכֶם</a:t>
            </a:r>
            <a:r>
              <a:rPr lang="he-IL" sz="2200" dirty="0"/>
              <a:t> וְלֹא תִגְעַל נַפְשִׁי אֶתְכֶם: </a:t>
            </a:r>
            <a:endParaRPr lang="en-US" sz="2200" dirty="0"/>
          </a:p>
          <a:p>
            <a:r>
              <a:rPr lang="he-IL" sz="2200" dirty="0"/>
              <a:t>(</a:t>
            </a:r>
            <a:r>
              <a:rPr lang="he-IL" sz="2200" dirty="0" err="1"/>
              <a:t>יב</a:t>
            </a:r>
            <a:r>
              <a:rPr lang="he-IL" sz="2200" dirty="0"/>
              <a:t>) </a:t>
            </a:r>
            <a:r>
              <a:rPr lang="he-IL" sz="2200" b="1" dirty="0">
                <a:solidFill>
                  <a:srgbClr val="3333FF"/>
                </a:solidFill>
              </a:rPr>
              <a:t>וְהִתְהַלַּכְתִּי בְּתוֹכְכֶם </a:t>
            </a:r>
            <a:r>
              <a:rPr lang="he-IL" sz="2200" dirty="0"/>
              <a:t>וְהָיִיתִי לָכֶם </a:t>
            </a:r>
            <a:r>
              <a:rPr lang="he-IL" sz="2200" dirty="0" err="1"/>
              <a:t>לֵאלֹהִים</a:t>
            </a:r>
            <a:r>
              <a:rPr lang="he-IL" sz="2200" dirty="0"/>
              <a:t> וְאַתֶּם תִּהְיוּ לִי לְעָם: </a:t>
            </a:r>
            <a:endParaRPr lang="he-IL" sz="2200" dirty="0" smtClean="0"/>
          </a:p>
          <a:p>
            <a:endParaRPr lang="he-IL" sz="2200" dirty="0"/>
          </a:p>
          <a:p>
            <a:r>
              <a:rPr lang="he-IL" sz="2200" b="1" dirty="0" smtClean="0"/>
              <a:t>ויקרא</a:t>
            </a:r>
            <a:r>
              <a:rPr lang="he-IL" sz="2200" dirty="0" smtClean="0"/>
              <a:t> י"</a:t>
            </a:r>
            <a:r>
              <a:rPr lang="he-IL" sz="2200" dirty="0"/>
              <a:t>ט</a:t>
            </a:r>
            <a:endParaRPr lang="he-IL" sz="2200" dirty="0" smtClean="0"/>
          </a:p>
          <a:p>
            <a:r>
              <a:rPr lang="he-IL" sz="2400" dirty="0"/>
              <a:t>(ב) דַּבֵּר אֶל כָּל עֲדַת בְּנֵי יִשְׂרָאֵל וְאָמַרְתָּ </a:t>
            </a:r>
            <a:r>
              <a:rPr lang="he-IL" sz="2400" dirty="0" err="1"/>
              <a:t>אֲלֵהֶם</a:t>
            </a:r>
            <a:r>
              <a:rPr lang="he-IL" sz="2400" dirty="0"/>
              <a:t> </a:t>
            </a:r>
            <a:r>
              <a:rPr lang="he-IL" sz="2400" b="1" dirty="0"/>
              <a:t>קְדֹשִׁים</a:t>
            </a:r>
            <a:r>
              <a:rPr lang="he-IL" sz="2400" dirty="0"/>
              <a:t> תִּהְיוּ כִּי </a:t>
            </a:r>
            <a:r>
              <a:rPr lang="he-IL" sz="2400" b="1" dirty="0"/>
              <a:t>קָדוֹשׁ</a:t>
            </a:r>
            <a:r>
              <a:rPr lang="he-IL" sz="2400" dirty="0"/>
              <a:t> אֲנִי ה' </a:t>
            </a:r>
            <a:r>
              <a:rPr lang="he-IL" sz="2400" dirty="0" err="1"/>
              <a:t>אֱלֹהֵיכֶם</a:t>
            </a:r>
            <a:r>
              <a:rPr lang="he-IL" sz="2400" dirty="0"/>
              <a:t>: </a:t>
            </a:r>
            <a:endParaRPr lang="en-US" sz="2400" dirty="0"/>
          </a:p>
          <a:p>
            <a:endParaRPr lang="en-US" sz="2200" dirty="0"/>
          </a:p>
          <a:p>
            <a:endParaRPr lang="he-IL" sz="2200" dirty="0"/>
          </a:p>
        </p:txBody>
      </p:sp>
    </p:spTree>
    <p:extLst>
      <p:ext uri="{BB962C8B-B14F-4D97-AF65-F5344CB8AC3E}">
        <p14:creationId xmlns:p14="http://schemas.microsoft.com/office/powerpoint/2010/main" val="34299326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כותרת 1"/>
          <p:cNvSpPr txBox="1">
            <a:spLocks/>
          </p:cNvSpPr>
          <p:nvPr/>
        </p:nvSpPr>
        <p:spPr>
          <a:xfrm>
            <a:off x="1098158" y="269776"/>
            <a:ext cx="4410814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Autofit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sz="3600" dirty="0" smtClean="0">
                <a:solidFill>
                  <a:srgbClr val="3333FF"/>
                </a:solidFill>
                <a:latin typeface="David" panose="020E0502060401010101" pitchFamily="34" charset="-79"/>
                <a:cs typeface="+mn-cs"/>
              </a:rPr>
              <a:t>סיכום ביניים 2: </a:t>
            </a:r>
          </a:p>
          <a:p>
            <a:r>
              <a:rPr lang="he-IL" sz="3600" dirty="0" smtClean="0">
                <a:solidFill>
                  <a:srgbClr val="3333FF"/>
                </a:solidFill>
                <a:latin typeface="David" panose="020E0502060401010101" pitchFamily="34" charset="-79"/>
                <a:cs typeface="+mn-cs"/>
              </a:rPr>
              <a:t>ספר העם והאדם</a:t>
            </a:r>
            <a:endParaRPr lang="he-IL" sz="3600" dirty="0">
              <a:solidFill>
                <a:srgbClr val="3333FF"/>
              </a:solidFill>
              <a:latin typeface="David" panose="020E0502060401010101" pitchFamily="34" charset="-79"/>
              <a:cs typeface="+mn-cs"/>
            </a:endParaRPr>
          </a:p>
        </p:txBody>
      </p:sp>
      <p:sp>
        <p:nvSpPr>
          <p:cNvPr id="5" name="מציין מיקום תוכן 2"/>
          <p:cNvSpPr txBox="1">
            <a:spLocks/>
          </p:cNvSpPr>
          <p:nvPr/>
        </p:nvSpPr>
        <p:spPr>
          <a:xfrm>
            <a:off x="1548532" y="1844824"/>
            <a:ext cx="3114670" cy="3456384"/>
          </a:xfrm>
          <a:prstGeom prst="rect">
            <a:avLst/>
          </a:prstGeom>
        </p:spPr>
        <p:txBody>
          <a:bodyPr vert="horz" lIns="91440" tIns="45720" rIns="91440" bIns="45720" rtlCol="1">
            <a:noAutofit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2400" dirty="0" smtClean="0"/>
              <a:t>מצוות לאומיות</a:t>
            </a:r>
          </a:p>
          <a:p>
            <a:r>
              <a:rPr lang="he-IL" sz="2400" dirty="0" smtClean="0"/>
              <a:t>מנהיגות לאומית</a:t>
            </a:r>
          </a:p>
          <a:p>
            <a:r>
              <a:rPr lang="he-IL" sz="2400" dirty="0" smtClean="0"/>
              <a:t>ביעור הרע מהעם</a:t>
            </a:r>
          </a:p>
          <a:p>
            <a:r>
              <a:rPr lang="he-IL" sz="2400" dirty="0" smtClean="0"/>
              <a:t>כפרת העם</a:t>
            </a:r>
          </a:p>
          <a:p>
            <a:r>
              <a:rPr lang="he-IL" sz="2400" dirty="0" smtClean="0"/>
              <a:t>מצוות בדגש אנושי</a:t>
            </a:r>
          </a:p>
          <a:p>
            <a:r>
              <a:rPr lang="he-IL" sz="2400" dirty="0"/>
              <a:t>קדושת העם ובחירתו</a:t>
            </a:r>
          </a:p>
          <a:p>
            <a:pPr marL="0" indent="0">
              <a:buNone/>
            </a:pPr>
            <a:endParaRPr lang="he-IL" sz="2400" dirty="0" smtClean="0"/>
          </a:p>
          <a:p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12840595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62054" y="130622"/>
            <a:ext cx="2754630" cy="1143000"/>
          </a:xfrm>
        </p:spPr>
        <p:txBody>
          <a:bodyPr>
            <a:normAutofit/>
          </a:bodyPr>
          <a:lstStyle/>
          <a:p>
            <a:r>
              <a:rPr lang="he-IL" sz="2400" dirty="0" smtClean="0">
                <a:solidFill>
                  <a:srgbClr val="3333FF"/>
                </a:solidFill>
                <a:latin typeface="David" panose="020E0502060401010101" pitchFamily="34" charset="-79"/>
                <a:cs typeface="+mn-cs"/>
              </a:rPr>
              <a:t>סיכום ביניים 2: ספר העם והאדם</a:t>
            </a:r>
            <a:endParaRPr lang="he-IL" sz="2400" dirty="0">
              <a:solidFill>
                <a:srgbClr val="3333FF"/>
              </a:solidFill>
              <a:latin typeface="David" panose="020E0502060401010101" pitchFamily="34" charset="-79"/>
              <a:cs typeface="+mn-cs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-125978" y="1484785"/>
            <a:ext cx="3114670" cy="3456384"/>
          </a:xfrm>
        </p:spPr>
        <p:txBody>
          <a:bodyPr>
            <a:noAutofit/>
          </a:bodyPr>
          <a:lstStyle/>
          <a:p>
            <a:r>
              <a:rPr lang="he-IL" sz="2400" dirty="0" smtClean="0"/>
              <a:t>מצוות לאומיות</a:t>
            </a:r>
          </a:p>
          <a:p>
            <a:r>
              <a:rPr lang="he-IL" sz="2400" dirty="0" smtClean="0"/>
              <a:t>מנהיגות לאומית</a:t>
            </a:r>
          </a:p>
          <a:p>
            <a:r>
              <a:rPr lang="he-IL" sz="2400" dirty="0"/>
              <a:t>ביעור הרע מהעם</a:t>
            </a:r>
          </a:p>
          <a:p>
            <a:r>
              <a:rPr lang="he-IL" sz="2400" dirty="0" smtClean="0"/>
              <a:t>כפרת העם</a:t>
            </a:r>
          </a:p>
          <a:p>
            <a:r>
              <a:rPr lang="he-IL" sz="2400" dirty="0" smtClean="0"/>
              <a:t>קדושת העם ובחירתו</a:t>
            </a:r>
          </a:p>
          <a:p>
            <a:r>
              <a:rPr lang="he-IL" sz="2400" dirty="0" smtClean="0"/>
              <a:t>מצוות בדגש אנושי</a:t>
            </a:r>
          </a:p>
          <a:p>
            <a:endParaRPr lang="he-IL" sz="2400" dirty="0"/>
          </a:p>
        </p:txBody>
      </p:sp>
      <p:sp>
        <p:nvSpPr>
          <p:cNvPr id="5" name="מציין מיקום תוכן 2"/>
          <p:cNvSpPr txBox="1">
            <a:spLocks/>
          </p:cNvSpPr>
          <p:nvPr/>
        </p:nvSpPr>
        <p:spPr>
          <a:xfrm>
            <a:off x="2916684" y="1484785"/>
            <a:ext cx="3240360" cy="331236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>
            <a:lvl1pPr marL="342900" indent="-3429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he-IL" sz="2400" dirty="0" smtClean="0"/>
              <a:t>יראה, עבודה, שמיעה שמירה ועשייה.</a:t>
            </a:r>
          </a:p>
          <a:p>
            <a:r>
              <a:rPr lang="he-IL" sz="2400" dirty="0" smtClean="0"/>
              <a:t>שמחה לפני ה'</a:t>
            </a:r>
          </a:p>
          <a:p>
            <a:r>
              <a:rPr lang="he-IL" sz="2400" dirty="0" smtClean="0"/>
              <a:t>אהבת ה'</a:t>
            </a:r>
          </a:p>
          <a:p>
            <a:r>
              <a:rPr lang="he-IL" sz="2400" dirty="0" smtClean="0"/>
              <a:t>בכל לבבך ובכל נפשך</a:t>
            </a:r>
          </a:p>
          <a:p>
            <a:r>
              <a:rPr lang="he-IL" sz="2400" dirty="0" smtClean="0"/>
              <a:t>הליכה בדרכיו</a:t>
            </a:r>
          </a:p>
          <a:p>
            <a:r>
              <a:rPr lang="he-IL" sz="2400" dirty="0" smtClean="0"/>
              <a:t>דבקות בה'</a:t>
            </a:r>
            <a:endParaRPr lang="he-IL" sz="2400" dirty="0"/>
          </a:p>
        </p:txBody>
      </p:sp>
      <p:sp>
        <p:nvSpPr>
          <p:cNvPr id="7" name="כותרת 1"/>
          <p:cNvSpPr txBox="1">
            <a:spLocks/>
          </p:cNvSpPr>
          <p:nvPr/>
        </p:nvSpPr>
        <p:spPr>
          <a:xfrm>
            <a:off x="3276724" y="116632"/>
            <a:ext cx="275463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 fontScale="90000"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he-IL" sz="2700" dirty="0">
                <a:solidFill>
                  <a:srgbClr val="FF0000"/>
                </a:solidFill>
                <a:cs typeface="+mn-cs"/>
              </a:rPr>
              <a:t>סיכום </a:t>
            </a:r>
            <a:r>
              <a:rPr lang="he-IL" sz="2700" dirty="0" smtClean="0">
                <a:solidFill>
                  <a:srgbClr val="FF0000"/>
                </a:solidFill>
                <a:cs typeface="+mn-cs"/>
              </a:rPr>
              <a:t>ביניים 1: </a:t>
            </a:r>
            <a:r>
              <a:rPr lang="he-IL" sz="2700" dirty="0">
                <a:solidFill>
                  <a:srgbClr val="FF0000"/>
                </a:solidFill>
                <a:cs typeface="+mn-cs"/>
              </a:rPr>
              <a:t>שדרוג יחסי ישראל והקב"ה</a:t>
            </a:r>
          </a:p>
        </p:txBody>
      </p:sp>
      <p:cxnSp>
        <p:nvCxnSpPr>
          <p:cNvPr id="9" name="מחבר ישר 8"/>
          <p:cNvCxnSpPr/>
          <p:nvPr/>
        </p:nvCxnSpPr>
        <p:spPr>
          <a:xfrm>
            <a:off x="3060700" y="404664"/>
            <a:ext cx="0" cy="4104456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96404" y="4725144"/>
            <a:ext cx="5184576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 smtClean="0"/>
              <a:t>זו מעלתה ומהותה של א"י בה חול וקודש מתעלים יחד. לאומיות וקדושה מחוברים.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6404" y="5661248"/>
            <a:ext cx="5184576" cy="83099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400" dirty="0" smtClean="0"/>
              <a:t>זו </a:t>
            </a:r>
            <a:r>
              <a:rPr lang="he-IL" sz="2400" dirty="0"/>
              <a:t>אהבה </a:t>
            </a:r>
            <a:r>
              <a:rPr lang="he-IL" sz="2400" dirty="0" err="1"/>
              <a:t>אמיתית</a:t>
            </a:r>
            <a:r>
              <a:rPr lang="he-IL" sz="2400" dirty="0"/>
              <a:t> בה יש עצמאות לכל </a:t>
            </a:r>
            <a:r>
              <a:rPr lang="he-IL" sz="2400" dirty="0" smtClean="0"/>
              <a:t>אחד, </a:t>
            </a:r>
            <a:r>
              <a:rPr lang="he-IL" sz="2400" dirty="0"/>
              <a:t>ומתוך כך דבקות אהבה ושמחה </a:t>
            </a:r>
            <a:r>
              <a:rPr lang="he-IL" sz="2400" dirty="0" smtClean="0"/>
              <a:t>יחד.</a:t>
            </a:r>
            <a:endParaRPr lang="he-IL" sz="2400" dirty="0"/>
          </a:p>
        </p:txBody>
      </p:sp>
      <p:sp>
        <p:nvSpPr>
          <p:cNvPr id="14" name="חץ שמאלה-ימינה 13"/>
          <p:cNvSpPr/>
          <p:nvPr/>
        </p:nvSpPr>
        <p:spPr>
          <a:xfrm>
            <a:off x="1764556" y="980728"/>
            <a:ext cx="2592288" cy="720080"/>
          </a:xfrm>
          <a:prstGeom prst="left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dirty="0" smtClean="0">
                <a:latin typeface="Guttman Yad-Brush" panose="02010401010101010101" pitchFamily="2" charset="-79"/>
                <a:cs typeface="Guttman Yad-Brush" panose="02010401010101010101" pitchFamily="2" charset="-79"/>
              </a:rPr>
              <a:t>האין סתירה???</a:t>
            </a:r>
            <a:endParaRPr lang="he-IL" dirty="0">
              <a:latin typeface="Guttman Yad-Brush" panose="02010401010101010101" pitchFamily="2" charset="-79"/>
              <a:cs typeface="Guttman Yad-Brush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85932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4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dirty="0" smtClean="0">
                <a:solidFill>
                  <a:srgbClr val="FF0000"/>
                </a:solidFill>
                <a:cs typeface="+mn-cs"/>
              </a:rPr>
              <a:t>מה בין דברים </a:t>
            </a:r>
            <a:r>
              <a:rPr lang="he-IL" dirty="0" err="1" smtClean="0">
                <a:solidFill>
                  <a:srgbClr val="FF0000"/>
                </a:solidFill>
                <a:cs typeface="+mn-cs"/>
              </a:rPr>
              <a:t>לויקרא</a:t>
            </a:r>
            <a:r>
              <a:rPr lang="he-IL" dirty="0" smtClean="0">
                <a:solidFill>
                  <a:srgbClr val="FF0000"/>
                </a:solidFill>
                <a:cs typeface="+mn-cs"/>
              </a:rPr>
              <a:t>?</a:t>
            </a:r>
            <a:endParaRPr lang="he-IL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sz="2800" dirty="0" smtClean="0"/>
              <a:t>קדושת העם ובחירתו או קדושת היחידים.</a:t>
            </a:r>
          </a:p>
          <a:p>
            <a:endParaRPr lang="he-IL" sz="2800" dirty="0" smtClean="0"/>
          </a:p>
          <a:p>
            <a:r>
              <a:rPr lang="he-IL" sz="2800" dirty="0" smtClean="0"/>
              <a:t>א"י היא מקום של חיים או גן עדן. </a:t>
            </a:r>
          </a:p>
          <a:p>
            <a:endParaRPr lang="he-IL" sz="2800" dirty="0" smtClean="0"/>
          </a:p>
          <a:p>
            <a:r>
              <a:rPr lang="he-IL" sz="2800" dirty="0" smtClean="0"/>
              <a:t>אנו מתהלכים בדרכי ה' או ה' מתהלך בתוכנו.</a:t>
            </a:r>
          </a:p>
          <a:p>
            <a:endParaRPr lang="he-IL" sz="2800" dirty="0"/>
          </a:p>
        </p:txBody>
      </p:sp>
    </p:spTree>
    <p:extLst>
      <p:ext uri="{BB962C8B-B14F-4D97-AF65-F5344CB8AC3E}">
        <p14:creationId xmlns:p14="http://schemas.microsoft.com/office/powerpoint/2010/main" val="4042913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-27384"/>
            <a:ext cx="5509260" cy="778098"/>
          </a:xfrm>
        </p:spPr>
        <p:txBody>
          <a:bodyPr>
            <a:normAutofit fontScale="90000"/>
          </a:bodyPr>
          <a:lstStyle/>
          <a:p>
            <a:r>
              <a:rPr lang="he-IL" sz="3200" dirty="0" smtClean="0">
                <a:cs typeface="+mn-cs"/>
              </a:rPr>
              <a:t>המצוות המעשיות במסגרת הבריתות</a:t>
            </a:r>
            <a:endParaRPr lang="he-IL" sz="3200" dirty="0">
              <a:cs typeface="+mn-cs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44016" y="875852"/>
            <a:ext cx="5292948" cy="4929412"/>
          </a:xfrm>
        </p:spPr>
        <p:txBody>
          <a:bodyPr>
            <a:noAutofit/>
          </a:bodyPr>
          <a:lstStyle/>
          <a:p>
            <a:pPr marL="0" indent="0" algn="just">
              <a:spcBef>
                <a:spcPts val="1200"/>
              </a:spcBef>
              <a:buNone/>
            </a:pPr>
            <a:r>
              <a:rPr lang="he-IL" sz="2000" dirty="0" smtClean="0">
                <a:latin typeface="David" panose="020E0502060401010101" pitchFamily="34" charset="-79"/>
                <a:cs typeface="David" panose="020E0502060401010101" pitchFamily="34" charset="-79"/>
              </a:rPr>
              <a:t>י"א, </a:t>
            </a:r>
            <a:r>
              <a:rPr lang="he-IL" sz="2000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כו</a:t>
            </a:r>
            <a:r>
              <a:rPr lang="he-IL" sz="2000" dirty="0" smtClean="0">
                <a:latin typeface="David" panose="020E0502060401010101" pitchFamily="34" charset="-79"/>
                <a:cs typeface="David" panose="020E0502060401010101" pitchFamily="34" charset="-79"/>
              </a:rPr>
              <a:t>-לב: 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רְאֵה אָנֹכִי נֹתֵן לִפְנֵיכֶם 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הַיּוֹם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בְּרָכָה וּקְלָלָה: </a:t>
            </a:r>
            <a:r>
              <a:rPr lang="he-IL" sz="20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 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הַבְּרָכָה אֲשֶׁר תִּשְׁמְעוּ אֶל מִצְוֹת ה’ </a:t>
            </a:r>
            <a:r>
              <a:rPr lang="he-IL" sz="2000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אֱלֹהֵיכֶם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אֲשֶׁר אָנֹכִי מְצַוֶּה אֶתְכֶם </a:t>
            </a:r>
            <a:r>
              <a:rPr lang="he-IL" sz="20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הַיּוֹם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r>
              <a:rPr lang="he-IL" sz="20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וְהַקְּלָלָה 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אִם לֹא </a:t>
            </a:r>
            <a:r>
              <a:rPr lang="he-IL" sz="20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תִשְׁמְעוּ ...</a:t>
            </a:r>
            <a:endParaRPr lang="en-US" sz="2000" dirty="0">
              <a:solidFill>
                <a:srgbClr val="FF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he-IL" sz="2000" dirty="0" smtClean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וְהָיָה 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כִּי יְבִיאֲךָ ה’ </a:t>
            </a:r>
            <a:r>
              <a:rPr lang="he-IL" sz="2000" dirty="0" err="1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 אֶל הָאָרֶץ אֲשֶׁר אַתָּה בָא שָׁמָּה לְרִשְׁתָּהּ </a:t>
            </a:r>
            <a:r>
              <a:rPr lang="he-IL" sz="2000" dirty="0" err="1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וְנָתַתָּה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אֶת הַבְּרָכָה עַל </a:t>
            </a:r>
            <a:r>
              <a:rPr lang="he-IL" sz="2000" b="1" dirty="0" smtClean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הַר גְּרִזִים 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וְאֶת הַקְּלָלָה עַל </a:t>
            </a:r>
            <a:r>
              <a:rPr lang="he-IL" sz="20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הַר עֵיבָל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endParaRPr lang="he-IL" sz="2000" dirty="0" smtClean="0">
              <a:solidFill>
                <a:srgbClr val="3333FF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המצוות המעשיות – פרקים י"ב-כ"ו</a:t>
            </a:r>
          </a:p>
          <a:p>
            <a:pPr marL="0" indent="0" algn="just">
              <a:spcBef>
                <a:spcPts val="1200"/>
              </a:spcBef>
              <a:buNone/>
            </a:pPr>
            <a:r>
              <a:rPr lang="he-IL" sz="2000" dirty="0" smtClean="0">
                <a:latin typeface="David" panose="020E0502060401010101" pitchFamily="34" charset="-79"/>
                <a:cs typeface="David" panose="020E0502060401010101" pitchFamily="34" charset="-79"/>
              </a:rPr>
              <a:t>כ"ז: 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וַיְצַו מֹשֶׁה וְזִקְנֵי יִשְׂרָאֵל אֶת הָעָם </a:t>
            </a:r>
            <a:r>
              <a:rPr lang="he-IL" sz="2000" dirty="0" err="1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לֵאמֹר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... וְהָיָה בַּיּוֹם אֲשֶׁר תַּעַבְרוּ אֶת הַיַּרְדֵּן אֶל הָאָרֶץ אֲשֶׁר ה' </a:t>
            </a:r>
            <a:r>
              <a:rPr lang="he-IL" sz="2000" dirty="0" err="1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 נֹתֵן לָךְ וַהֲקֵמֹתָ לְךָ אֲבָנִים גְּדֹלוֹת </a:t>
            </a:r>
            <a:r>
              <a:rPr lang="he-IL" sz="2000" dirty="0" smtClean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... וְכָתַבְתָּ 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עֲלֵיהֶן אֶת כָּל דִּבְרֵי הַתּוֹרָה </a:t>
            </a:r>
            <a:r>
              <a:rPr lang="he-IL" sz="2000" dirty="0" smtClean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הַזֹּאת ... 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וּבָנִיתָ שָּׁם </a:t>
            </a:r>
            <a:r>
              <a:rPr lang="he-IL" sz="2000" dirty="0" smtClean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מִזְבֵּחַ ... 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אֵלֶּה יַעַמְדוּ לְבָרֵךְ אֶת הָעָם עַל </a:t>
            </a:r>
            <a:r>
              <a:rPr lang="he-IL" sz="20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הַר גְּרִזִים 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... וְאֵלֶּה יַעַמְדוּ עַל הַקְּלָלָה </a:t>
            </a:r>
            <a:r>
              <a:rPr lang="he-IL" sz="20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בְּהַר עֵיבָל </a:t>
            </a:r>
            <a:r>
              <a:rPr lang="he-IL" sz="20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...</a:t>
            </a:r>
            <a:endParaRPr lang="en-US" sz="2000" dirty="0">
              <a:solidFill>
                <a:srgbClr val="3333FF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spcBef>
                <a:spcPts val="1200"/>
              </a:spcBef>
              <a:buNone/>
            </a:pPr>
            <a:r>
              <a:rPr lang="he-IL" sz="2000" dirty="0" smtClean="0">
                <a:latin typeface="David" panose="020E0502060401010101" pitchFamily="34" charset="-79"/>
                <a:cs typeface="David" panose="020E0502060401010101" pitchFamily="34" charset="-79"/>
              </a:rPr>
              <a:t>כ"ח: 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וְהָיָה אִם שָׁמוֹעַ תִּשְׁמַע בְּקוֹל ה' </a:t>
            </a:r>
            <a:r>
              <a:rPr lang="he-IL" sz="2000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 ... וּבָאוּ עָלֶיךָ כָּל הַבְּרָכוֹת הָאֵלֶּה וְהִשִּׂיגֻךָ ... וְהָיָה אִם לֹא תִשְׁמַע בְּקוֹל ה' </a:t>
            </a:r>
            <a:r>
              <a:rPr lang="he-IL" sz="2000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0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 ... וּבָאוּ עָלֶיךָ כָּל הַקְּלָלוֹת הָאֵלֶּה וְהִשִּׂיגוּךָ</a:t>
            </a:r>
            <a:r>
              <a:rPr lang="he-IL" sz="20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: ... </a:t>
            </a:r>
            <a:endParaRPr lang="en-US" sz="2000" dirty="0">
              <a:solidFill>
                <a:srgbClr val="FF0000"/>
              </a:solidFill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4" name="סוגר מרובע ימני 3"/>
          <p:cNvSpPr/>
          <p:nvPr/>
        </p:nvSpPr>
        <p:spPr>
          <a:xfrm>
            <a:off x="5417946" y="1412776"/>
            <a:ext cx="451066" cy="4650332"/>
          </a:xfrm>
          <a:prstGeom prst="rightBracket">
            <a:avLst>
              <a:gd name="adj" fmla="val 0"/>
            </a:avLst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5" name="סוגר מרובע ימני 4"/>
          <p:cNvSpPr/>
          <p:nvPr/>
        </p:nvSpPr>
        <p:spPr>
          <a:xfrm>
            <a:off x="5411137" y="2520516"/>
            <a:ext cx="241027" cy="1916596"/>
          </a:xfrm>
          <a:prstGeom prst="rightBracket">
            <a:avLst>
              <a:gd name="adj" fmla="val 0"/>
            </a:avLst>
          </a:prstGeom>
          <a:ln w="28575">
            <a:solidFill>
              <a:srgbClr val="3333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cxnSp>
        <p:nvCxnSpPr>
          <p:cNvPr id="6" name="מחבר ישר 5"/>
          <p:cNvCxnSpPr/>
          <p:nvPr/>
        </p:nvCxnSpPr>
        <p:spPr>
          <a:xfrm>
            <a:off x="5417945" y="3284984"/>
            <a:ext cx="451066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1784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-27384"/>
            <a:ext cx="5509260" cy="864096"/>
          </a:xfrm>
        </p:spPr>
        <p:txBody>
          <a:bodyPr>
            <a:normAutofit/>
          </a:bodyPr>
          <a:lstStyle/>
          <a:p>
            <a:r>
              <a:rPr lang="he-IL" sz="4000" dirty="0" smtClean="0">
                <a:cs typeface="+mn-cs"/>
              </a:rPr>
              <a:t>3 בריתות (ועוד אחת)</a:t>
            </a:r>
            <a:endParaRPr lang="he-IL" sz="4000" dirty="0">
              <a:cs typeface="+mn-cs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06070" y="908720"/>
            <a:ext cx="5509260" cy="5544616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he-IL" sz="22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עבר - ברית סיני: </a:t>
            </a:r>
            <a:r>
              <a:rPr lang="he-IL" sz="2200" dirty="0" smtClean="0">
                <a:latin typeface="David" panose="020E0502060401010101" pitchFamily="34" charset="-79"/>
                <a:cs typeface="David" panose="020E0502060401010101" pitchFamily="34" charset="-79"/>
              </a:rPr>
              <a:t>ה', ב: 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ה’ </a:t>
            </a:r>
            <a:r>
              <a:rPr lang="he-IL" sz="22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אֱלֹהֵינו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ּ כָּרַת עִמָּנוּ בְּרִית בְּחֹרֵב: </a:t>
            </a:r>
            <a:endParaRPr lang="en-US" sz="22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he-IL" sz="22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הווה - ברית </a:t>
            </a:r>
            <a:r>
              <a:rPr lang="he-IL" sz="22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ערבות מואב: </a:t>
            </a:r>
            <a:r>
              <a:rPr lang="he-IL" sz="2200" dirty="0" smtClean="0">
                <a:latin typeface="David" panose="020E0502060401010101" pitchFamily="34" charset="-79"/>
                <a:cs typeface="David" panose="020E0502060401010101" pitchFamily="34" charset="-79"/>
              </a:rPr>
              <a:t>כ"ט, יא: לְעָבְרְךָ 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בִּבְרִית ה' </a:t>
            </a:r>
            <a:r>
              <a:rPr lang="he-IL" sz="22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ָ וּבְאָלָתוֹ אֲשֶׁר ה' </a:t>
            </a:r>
            <a:r>
              <a:rPr lang="he-IL" sz="22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ָ כֹּרֵת עִמְּךָ הַיּוֹם</a:t>
            </a:r>
            <a:r>
              <a:rPr lang="he-IL" sz="2200" dirty="0" smtClean="0"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he-IL" sz="2200" dirty="0" smtClean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עתיד - ברית </a:t>
            </a:r>
            <a:r>
              <a:rPr lang="he-IL" sz="22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הרי גריזים ועיבל: </a:t>
            </a:r>
            <a:r>
              <a:rPr lang="he-IL" sz="2200" dirty="0" smtClean="0">
                <a:latin typeface="David" panose="020E0502060401010101" pitchFamily="34" charset="-79"/>
                <a:cs typeface="David" panose="020E0502060401010101" pitchFamily="34" charset="-79"/>
              </a:rPr>
              <a:t>כ"ז, </a:t>
            </a:r>
            <a:r>
              <a:rPr lang="he-IL" sz="2200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יב-יג</a:t>
            </a:r>
            <a:r>
              <a:rPr lang="he-IL" sz="2200" dirty="0" smtClean="0"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אֵלֶּה יַעַמְדוּ לְבָרֵךְ אֶת הָעָם עַל הַר גְּרִזִים בְּעָבְרְכֶם אֶת הַיַּרְדֵּן </a:t>
            </a:r>
            <a:r>
              <a:rPr lang="he-IL" sz="2200" dirty="0" smtClean="0">
                <a:latin typeface="David" panose="020E0502060401010101" pitchFamily="34" charset="-79"/>
                <a:cs typeface="David" panose="020E0502060401010101" pitchFamily="34" charset="-79"/>
              </a:rPr>
              <a:t>... וְאֵלֶּה 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יַעַמְדוּ עַל הַקְּלָלָה בְּהַר עֵיבָל </a:t>
            </a:r>
            <a:endParaRPr lang="en-US" sz="22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1732450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3600" b="1" dirty="0" smtClean="0">
                <a:solidFill>
                  <a:srgbClr val="3333FF"/>
                </a:solidFill>
              </a:rPr>
              <a:t>ברית סיני בספר דברים</a:t>
            </a:r>
            <a:endParaRPr lang="he-IL" sz="3600" b="1" dirty="0">
              <a:solidFill>
                <a:srgbClr val="3333FF"/>
              </a:solidFill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1200"/>
              </a:spcBef>
            </a:pPr>
            <a:r>
              <a:rPr lang="he-IL" sz="2400" dirty="0" smtClean="0"/>
              <a:t>הפקת מספר לקחים ממעמד הר סיני (ד')</a:t>
            </a:r>
          </a:p>
          <a:p>
            <a:pPr>
              <a:spcBef>
                <a:spcPts val="1200"/>
              </a:spcBef>
            </a:pPr>
            <a:r>
              <a:rPr lang="he-IL" sz="2400" dirty="0" smtClean="0"/>
              <a:t>חזרה </a:t>
            </a:r>
            <a:r>
              <a:rPr lang="he-IL" sz="2400" dirty="0"/>
              <a:t>על סיפור מעמד הר סיני ועשרת </a:t>
            </a:r>
            <a:r>
              <a:rPr lang="he-IL" sz="2400" dirty="0" smtClean="0"/>
              <a:t>הדברות (פרק ה').</a:t>
            </a:r>
            <a:endParaRPr lang="he-IL" sz="2400" dirty="0"/>
          </a:p>
          <a:p>
            <a:pPr>
              <a:spcBef>
                <a:spcPts val="1200"/>
              </a:spcBef>
            </a:pPr>
            <a:r>
              <a:rPr lang="he-IL" sz="2400" dirty="0" smtClean="0"/>
              <a:t>סדר נאום המצוות (ו'-כ"ו) </a:t>
            </a:r>
            <a:r>
              <a:rPr lang="he-IL" sz="2400" dirty="0"/>
              <a:t>מבוסס על עשרת הדברות.</a:t>
            </a:r>
          </a:p>
          <a:p>
            <a:pPr>
              <a:spcBef>
                <a:spcPts val="1200"/>
              </a:spcBef>
            </a:pPr>
            <a:r>
              <a:rPr lang="he-IL" sz="2400" dirty="0" smtClean="0"/>
              <a:t>ברית ערבות מואב מתכתבת </a:t>
            </a:r>
            <a:r>
              <a:rPr lang="he-IL" sz="2400" dirty="0"/>
              <a:t>עם ברית סיני.</a:t>
            </a:r>
          </a:p>
          <a:p>
            <a:pPr>
              <a:spcBef>
                <a:spcPts val="1200"/>
              </a:spcBef>
            </a:pPr>
            <a:endParaRPr lang="he-IL" sz="2400" dirty="0"/>
          </a:p>
        </p:txBody>
      </p:sp>
    </p:spTree>
    <p:extLst>
      <p:ext uri="{BB962C8B-B14F-4D97-AF65-F5344CB8AC3E}">
        <p14:creationId xmlns:p14="http://schemas.microsoft.com/office/powerpoint/2010/main" val="1666491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188640"/>
            <a:ext cx="5509260" cy="562074"/>
          </a:xfrm>
        </p:spPr>
        <p:txBody>
          <a:bodyPr>
            <a:normAutofit fontScale="90000"/>
          </a:bodyPr>
          <a:lstStyle/>
          <a:p>
            <a:r>
              <a:rPr lang="he-IL" dirty="0" smtClean="0">
                <a:solidFill>
                  <a:srgbClr val="FF0000"/>
                </a:solidFill>
                <a:cs typeface="+mn-cs"/>
              </a:rPr>
              <a:t>חיבור הבריתות</a:t>
            </a:r>
            <a:endParaRPr lang="he-IL" dirty="0">
              <a:solidFill>
                <a:srgbClr val="FF0000"/>
              </a:solidFill>
              <a:cs typeface="+mn-cs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06070" y="908721"/>
            <a:ext cx="5509260" cy="576064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כ"ח, סט: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אֵלֶּה</a:t>
            </a:r>
            <a:r>
              <a:rPr lang="he-IL" sz="2400" b="1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דִבְרֵי הַבְּרִית אֲשֶׁר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צִוָּה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ה' אֶת מֹשֶׁה לִכְרֹת אֶת בְּנֵי יִשְׂרָאֵל </a:t>
            </a:r>
            <a:r>
              <a:rPr lang="he-IL" sz="2400" b="1" dirty="0">
                <a:latin typeface="David" panose="020E0502060401010101" pitchFamily="34" charset="-79"/>
                <a:cs typeface="David" panose="020E0502060401010101" pitchFamily="34" charset="-79"/>
              </a:rPr>
              <a:t>בְּאֶרֶץ מוֹאָב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מִלְּבַד הַבְּרִית אֲשֶׁר כָּרַת אִתָּם </a:t>
            </a:r>
            <a:r>
              <a:rPr lang="he-IL" sz="2400" b="1" dirty="0">
                <a:latin typeface="David" panose="020E0502060401010101" pitchFamily="34" charset="-79"/>
                <a:cs typeface="David" panose="020E0502060401010101" pitchFamily="34" charset="-79"/>
              </a:rPr>
              <a:t>בְּחֹרֵב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 </a:t>
            </a: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400" u="sng" dirty="0" smtClean="0">
                <a:latin typeface="David" panose="020E0502060401010101" pitchFamily="34" charset="-79"/>
                <a:cs typeface="David" panose="020E0502060401010101" pitchFamily="34" charset="-79"/>
              </a:rPr>
              <a:t>נמעני הבריתות:</a:t>
            </a:r>
            <a:endParaRPr lang="en-US" sz="2400" u="sng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4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עבר - ברית סיני: 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ה', ב-ג: ה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’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אֱלֹהֵינו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ּ כָּרַת עִמָּנוּ בְּרִית בְּחֹרֵב: 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לֹא </a:t>
            </a:r>
            <a:r>
              <a:rPr lang="he-IL" sz="24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אֶת</a:t>
            </a:r>
            <a:r>
              <a:rPr lang="he-IL" sz="24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b="1" dirty="0" err="1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אֲבֹתֵינו</a:t>
            </a:r>
            <a:r>
              <a:rPr lang="he-IL" sz="24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ּ</a:t>
            </a:r>
            <a:r>
              <a:rPr lang="he-IL" sz="24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כָּרַת ה’ אֶת הַבְּרִית הַזֹּאת כִּי </a:t>
            </a:r>
            <a:r>
              <a:rPr lang="he-IL" sz="24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אִתָּנוּ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אֲנַחְנוּ אֵלֶּה פֹה הַיּוֹם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כֻּלָּנו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ּ חַיִּים: </a:t>
            </a:r>
            <a:endParaRPr lang="he-IL" sz="2400" dirty="0" smtClean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400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הווה - ברית ערבות מואב: 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כ"ט, </a:t>
            </a:r>
            <a:r>
              <a:rPr lang="he-IL" sz="2400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יג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-יד: וְלֹא </a:t>
            </a:r>
            <a:r>
              <a:rPr lang="he-IL" sz="24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אִתְּכֶם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לְבַדְּכֶם אָנֹכִי כֹּרֵת אֶת הַבְּרִית הַזֹּאת וְאֶת הָאָלָה הַזֹּאת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: כִּי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אֶת אֲשֶׁר יֶשְׁנוֹ פֹּה עִמָּנוּ עֹמֵד הַיּוֹם לִפְנֵי ה'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אֱלֹהֵינו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ּ </a:t>
            </a:r>
            <a:r>
              <a:rPr lang="he-IL" sz="24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וְאֵת אֲשֶׁר אֵינֶנּוּ פֹּה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עִמָּנוּ הַיּוֹם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42406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274638"/>
            <a:ext cx="5509260" cy="562074"/>
          </a:xfrm>
        </p:spPr>
        <p:txBody>
          <a:bodyPr>
            <a:normAutofit fontScale="90000"/>
          </a:bodyPr>
          <a:lstStyle/>
          <a:p>
            <a:r>
              <a:rPr lang="he-IL" dirty="0">
                <a:solidFill>
                  <a:srgbClr val="FF0000"/>
                </a:solidFill>
                <a:cs typeface="+mn-cs"/>
              </a:rPr>
              <a:t>חיבור הבריתות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06070" y="908721"/>
            <a:ext cx="5509260" cy="5760640"/>
          </a:xfrm>
        </p:spPr>
        <p:txBody>
          <a:bodyPr>
            <a:noAutofit/>
          </a:bodyPr>
          <a:lstStyle/>
          <a:p>
            <a:pPr marL="0" indent="0" algn="just">
              <a:buNone/>
            </a:pPr>
            <a:r>
              <a:rPr lang="he-IL" sz="2400" u="sng" dirty="0" smtClean="0">
                <a:latin typeface="David" panose="020E0502060401010101" pitchFamily="34" charset="-79"/>
                <a:cs typeface="David" panose="020E0502060401010101" pitchFamily="34" charset="-79"/>
              </a:rPr>
              <a:t>כתיבת הבריתות:</a:t>
            </a:r>
          </a:p>
          <a:p>
            <a:pPr marL="0" indent="0" algn="just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ט', ט: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בַּעֲלֹתִי הָהָרָה לָקַחַת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לוּחֹת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הָאֲבָנִים </a:t>
            </a:r>
            <a:r>
              <a:rPr lang="he-IL" sz="2400" b="1" dirty="0" err="1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לוּחֹת</a:t>
            </a:r>
            <a:r>
              <a:rPr lang="he-IL" sz="2400" b="1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הַבְּרִית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אֲשֶׁר כָּרַת ה’ עִמָּכֶם וָאֵשֵׁב בָּהָר אַרְבָּעִים יוֹם וְאַרְבָּעִים לַיְלָה לֶחֶם לֹא אָכַלְתִּי וּמַיִם לֹא שָׁתִיתִי: </a:t>
            </a: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י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', ח: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בָּעֵת הַהִוא הִבְדִּיל ה’ אֶת שֵׁבֶט הַלֵּוִי לָשֵׂאת אֶת </a:t>
            </a:r>
            <a:r>
              <a:rPr lang="he-IL" sz="24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אֲרוֹן בְּרִית ה’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לַעֲמֹד לִפְנֵי ה’ לְשָׁרְתוֹ וּלְבָרֵךְ בִּשְׁמוֹ עַד הַיּוֹם הַזֶּה: </a:t>
            </a:r>
            <a:endParaRPr lang="en-US" sz="24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endParaRPr lang="he-IL" sz="1400" dirty="0" smtClean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 algn="just">
              <a:buNone/>
            </a:pP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ל"א, כה-</a:t>
            </a:r>
            <a:r>
              <a:rPr lang="he-IL" sz="2400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כו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: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וַיְצַו מֹשֶׁה אֶת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הַלְוִיִּם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נֹשְׂאֵי </a:t>
            </a:r>
            <a:r>
              <a:rPr lang="he-IL" sz="24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אֲרוֹן</a:t>
            </a:r>
            <a:r>
              <a:rPr lang="he-IL" sz="2400" b="1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בְּרִית ה' </a:t>
            </a:r>
            <a:r>
              <a:rPr lang="he-IL" sz="2400" dirty="0" err="1" smtClean="0">
                <a:latin typeface="David" panose="020E0502060401010101" pitchFamily="34" charset="-79"/>
                <a:cs typeface="David" panose="020E0502060401010101" pitchFamily="34" charset="-79"/>
              </a:rPr>
              <a:t>לֵאמֹר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: לָקֹחַ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אֵת </a:t>
            </a:r>
            <a:r>
              <a:rPr lang="he-IL" sz="24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סֵפֶר הַתּוֹרָה 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הַזֶּה וְשַׂמְתֶּם אֹתוֹ </a:t>
            </a:r>
            <a:r>
              <a:rPr lang="he-IL" sz="24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מִצַּד אֲרוֹן בְּרִית ה'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4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אֱלֹהֵיכֶם</a:t>
            </a:r>
            <a:r>
              <a:rPr lang="he-IL" sz="2400" dirty="0">
                <a:latin typeface="David" panose="020E0502060401010101" pitchFamily="34" charset="-79"/>
                <a:cs typeface="David" panose="020E0502060401010101" pitchFamily="34" charset="-79"/>
              </a:rPr>
              <a:t> וְהָיָה שָׁם בְּךָ לְעֵד</a:t>
            </a:r>
            <a:r>
              <a:rPr lang="he-IL" sz="2400" dirty="0" smtClean="0"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</a:p>
        </p:txBody>
      </p:sp>
      <p:sp>
        <p:nvSpPr>
          <p:cNvPr id="4" name="מלבן 3"/>
          <p:cNvSpPr/>
          <p:nvPr/>
        </p:nvSpPr>
        <p:spPr>
          <a:xfrm>
            <a:off x="1044476" y="5805264"/>
            <a:ext cx="4032448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he-IL" sz="2000" dirty="0">
                <a:solidFill>
                  <a:srgbClr val="FF0000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כיצד משמרים לדורות את</a:t>
            </a:r>
          </a:p>
          <a:p>
            <a:pPr algn="ctr"/>
            <a:r>
              <a:rPr lang="he-IL" sz="2000" dirty="0">
                <a:solidFill>
                  <a:srgbClr val="FF0000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תחושת השייכות לברית</a:t>
            </a:r>
            <a:r>
              <a:rPr lang="he-IL" sz="2000" dirty="0" smtClean="0">
                <a:solidFill>
                  <a:srgbClr val="FF0000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?</a:t>
            </a:r>
          </a:p>
          <a:p>
            <a:pPr algn="ctr"/>
            <a:r>
              <a:rPr lang="he-IL" sz="2000" dirty="0" smtClean="0">
                <a:solidFill>
                  <a:srgbClr val="FF0000"/>
                </a:solidFill>
                <a:latin typeface="Guttman Yad-Brush" panose="02010401010101010101" pitchFamily="2" charset="-79"/>
                <a:cs typeface="Guttman Yad-Brush" panose="02010401010101010101" pitchFamily="2" charset="-79"/>
              </a:rPr>
              <a:t>כיצד יוצרים המשכיות ונצחיות?</a:t>
            </a:r>
            <a:endParaRPr lang="en-US" sz="2000" dirty="0">
              <a:solidFill>
                <a:srgbClr val="FF0000"/>
              </a:solidFill>
              <a:cs typeface="Guttman Yad-Brush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8175307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טקסט 4"/>
          <p:cNvSpPr>
            <a:spLocks noGrp="1"/>
          </p:cNvSpPr>
          <p:nvPr>
            <p:ph type="body" idx="1"/>
          </p:nvPr>
        </p:nvSpPr>
        <p:spPr>
          <a:xfrm>
            <a:off x="3308347" y="52934"/>
            <a:ext cx="2704681" cy="639762"/>
          </a:xfrm>
        </p:spPr>
        <p:txBody>
          <a:bodyPr/>
          <a:lstStyle/>
          <a:p>
            <a:pPr algn="ctr"/>
            <a:r>
              <a:rPr lang="he-IL" dirty="0" smtClean="0">
                <a:solidFill>
                  <a:srgbClr val="3333FF"/>
                </a:solidFill>
              </a:rPr>
              <a:t>ברית סיני</a:t>
            </a:r>
            <a:endParaRPr lang="he-IL" dirty="0">
              <a:solidFill>
                <a:srgbClr val="3333FF"/>
              </a:solidFill>
            </a:endParaRPr>
          </a:p>
        </p:txBody>
      </p:sp>
      <p:sp>
        <p:nvSpPr>
          <p:cNvPr id="6" name="מציין מיקום תוכן 5"/>
          <p:cNvSpPr>
            <a:spLocks noGrp="1"/>
          </p:cNvSpPr>
          <p:nvPr>
            <p:ph sz="half" idx="2"/>
          </p:nvPr>
        </p:nvSpPr>
        <p:spPr>
          <a:xfrm>
            <a:off x="3110649" y="917872"/>
            <a:ext cx="2902379" cy="39512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ד', </a:t>
            </a:r>
            <a:r>
              <a:rPr lang="he-IL" sz="2200" dirty="0" smtClean="0">
                <a:latin typeface="David" panose="020E0502060401010101" pitchFamily="34" charset="-79"/>
                <a:cs typeface="David" panose="020E0502060401010101" pitchFamily="34" charset="-79"/>
              </a:rPr>
              <a:t>ט-י: 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רַק </a:t>
            </a:r>
            <a:r>
              <a:rPr lang="he-IL" sz="2200" dirty="0" err="1">
                <a:latin typeface="David" panose="020E0502060401010101" pitchFamily="34" charset="-79"/>
                <a:cs typeface="David" panose="020E0502060401010101" pitchFamily="34" charset="-79"/>
              </a:rPr>
              <a:t>הִשָּׁמֶר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 לְךָ וּשְׁמֹר נַפְשְׁךָ מְאֹד פֶּן תִּשְׁכַּח אֶת הַדְּבָרִים אֲשֶׁר רָאוּ עֵינֶיךָ וּפֶן יָסוּרוּ מִלְּבָבְךָ כֹּל יְמֵי חַיֶּיךָ וְהוֹדַעְתָּם לְבָנֶיךָ וְלִבְנֵי בָנֶיךָ: יוֹם אֲשֶׁר עָמַדְתָּ לִפְנֵי ה’ </a:t>
            </a:r>
            <a:r>
              <a:rPr lang="he-IL" sz="22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ָ בְּחֹרֵב </a:t>
            </a:r>
            <a:r>
              <a:rPr lang="he-IL" sz="2200" dirty="0" err="1">
                <a:latin typeface="David" panose="020E0502060401010101" pitchFamily="34" charset="-79"/>
                <a:cs typeface="David" panose="020E0502060401010101" pitchFamily="34" charset="-79"/>
              </a:rPr>
              <a:t>בֶּאֱמֹר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 ה’ אֵלַי הַקְהֶל לִי אֶת הָעָם וְאַשְׁמִעֵם אֶת דְּבָרָי אֲשֶׁר יִלְמְדוּן לְיִרְאָה אֹתִי כָּל הַיָּמִים אֲשֶׁר הֵם חַיִּים עַל הָאֲדָמָה וְאֶת בְּנֵיהֶם יְלַמֵּדוּן</a:t>
            </a:r>
            <a:r>
              <a:rPr lang="he-IL" sz="2200" dirty="0" smtClean="0"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</a:p>
          <a:p>
            <a:pPr marL="0" indent="0">
              <a:buNone/>
            </a:pPr>
            <a:r>
              <a:rPr lang="he-IL" sz="2200" dirty="0" smtClean="0">
                <a:latin typeface="David" panose="020E0502060401010101" pitchFamily="34" charset="-79"/>
                <a:cs typeface="David" panose="020E0502060401010101" pitchFamily="34" charset="-79"/>
              </a:rPr>
              <a:t>ה', ד: פָּנִים בְּפָנִים דִּבֶּר ה’ עִמָּכֶם בָּהָר מִתּוֹךְ הָאֵשׁ: </a:t>
            </a:r>
            <a:endParaRPr lang="en-US" sz="2200" dirty="0" smtClean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buNone/>
            </a:pPr>
            <a:endParaRPr lang="en-US" sz="22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buNone/>
            </a:pPr>
            <a:endParaRPr lang="he-IL" sz="22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22932592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טקסט 4"/>
          <p:cNvSpPr>
            <a:spLocks noGrp="1"/>
          </p:cNvSpPr>
          <p:nvPr>
            <p:ph type="body" idx="1"/>
          </p:nvPr>
        </p:nvSpPr>
        <p:spPr>
          <a:xfrm>
            <a:off x="3308347" y="52934"/>
            <a:ext cx="2704681" cy="639762"/>
          </a:xfrm>
        </p:spPr>
        <p:txBody>
          <a:bodyPr/>
          <a:lstStyle/>
          <a:p>
            <a:pPr algn="ctr"/>
            <a:r>
              <a:rPr lang="he-IL" dirty="0" smtClean="0">
                <a:solidFill>
                  <a:srgbClr val="3333FF"/>
                </a:solidFill>
              </a:rPr>
              <a:t>ברית סיני</a:t>
            </a:r>
            <a:endParaRPr lang="he-IL" dirty="0">
              <a:solidFill>
                <a:srgbClr val="3333FF"/>
              </a:solidFill>
            </a:endParaRPr>
          </a:p>
        </p:txBody>
      </p:sp>
      <p:sp>
        <p:nvSpPr>
          <p:cNvPr id="6" name="מציין מיקום תוכן 5"/>
          <p:cNvSpPr>
            <a:spLocks noGrp="1"/>
          </p:cNvSpPr>
          <p:nvPr>
            <p:ph sz="half" idx="2"/>
          </p:nvPr>
        </p:nvSpPr>
        <p:spPr>
          <a:xfrm>
            <a:off x="3110649" y="917872"/>
            <a:ext cx="2902379" cy="39512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ד', </a:t>
            </a:r>
            <a:r>
              <a:rPr lang="he-IL" sz="2200" dirty="0" smtClean="0">
                <a:latin typeface="David" panose="020E0502060401010101" pitchFamily="34" charset="-79"/>
                <a:cs typeface="David" panose="020E0502060401010101" pitchFamily="34" charset="-79"/>
              </a:rPr>
              <a:t>ט-י: 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רַק </a:t>
            </a:r>
            <a:r>
              <a:rPr lang="he-IL" sz="2200" dirty="0" err="1">
                <a:latin typeface="David" panose="020E0502060401010101" pitchFamily="34" charset="-79"/>
                <a:cs typeface="David" panose="020E0502060401010101" pitchFamily="34" charset="-79"/>
              </a:rPr>
              <a:t>הִשָּׁמֶר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 לְךָ וּשְׁמֹר נַפְשְׁךָ מְאֹד פֶּן תִּשְׁכַּח אֶת הַדְּבָרִים אֲשֶׁר רָאוּ עֵינֶיךָ וּפֶן יָסוּרוּ מִלְּבָבְךָ כֹּל יְמֵי חַיֶּיךָ וְהוֹדַעְתָּם לְבָנֶיךָ וְלִבְנֵי בָנֶיךָ: יוֹם אֲשֶׁר עָמַדְתָּ לִפְנֵי ה’ </a:t>
            </a:r>
            <a:r>
              <a:rPr lang="he-IL" sz="22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ָ בְּחֹרֵב </a:t>
            </a:r>
            <a:r>
              <a:rPr lang="he-IL" sz="2200" dirty="0" err="1">
                <a:latin typeface="David" panose="020E0502060401010101" pitchFamily="34" charset="-79"/>
                <a:cs typeface="David" panose="020E0502060401010101" pitchFamily="34" charset="-79"/>
              </a:rPr>
              <a:t>בֶּאֱמֹר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 ה’ אֵלַי </a:t>
            </a:r>
            <a:r>
              <a:rPr lang="he-IL" sz="2200" b="1" dirty="0">
                <a:solidFill>
                  <a:srgbClr val="FF00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הַקְהֶל לִי אֶת הָעָם 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וְאַשְׁמִעֵם אֶת דְּבָרָי אֲשֶׁר יִלְמְדוּן לְיִרְאָה אֹתִי כָּל הַיָּמִים אֲשֶׁר הֵם חַיִּים עַל הָאֲדָמָה וְאֶת בְּנֵיהֶם</a:t>
            </a:r>
            <a:r>
              <a:rPr lang="he-IL" sz="2200" dirty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יְלַמֵּדוּן</a:t>
            </a:r>
            <a:r>
              <a:rPr lang="he-IL" sz="2200" dirty="0" smtClean="0"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</a:p>
          <a:p>
            <a:pPr marL="0" indent="0">
              <a:buNone/>
            </a:pP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ה', ד: </a:t>
            </a:r>
            <a:r>
              <a:rPr lang="he-IL" sz="22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פָּנִים בְּפָנִים</a:t>
            </a:r>
            <a:r>
              <a:rPr lang="he-IL" sz="2200" b="1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דִּבֶּר ה’ עִמָּכֶם בָּהָר מִתּוֹךְ הָאֵשׁ: </a:t>
            </a:r>
            <a:endParaRPr lang="en-US" sz="22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buNone/>
            </a:pPr>
            <a:endParaRPr lang="en-US" sz="22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buNone/>
            </a:pPr>
            <a:endParaRPr lang="he-IL" sz="22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610558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טקסט 4"/>
          <p:cNvSpPr>
            <a:spLocks noGrp="1"/>
          </p:cNvSpPr>
          <p:nvPr>
            <p:ph type="body" idx="1"/>
          </p:nvPr>
        </p:nvSpPr>
        <p:spPr>
          <a:xfrm>
            <a:off x="3308347" y="52934"/>
            <a:ext cx="2704681" cy="639762"/>
          </a:xfrm>
        </p:spPr>
        <p:txBody>
          <a:bodyPr/>
          <a:lstStyle/>
          <a:p>
            <a:pPr algn="ctr"/>
            <a:r>
              <a:rPr lang="he-IL" dirty="0" smtClean="0">
                <a:solidFill>
                  <a:srgbClr val="3333FF"/>
                </a:solidFill>
              </a:rPr>
              <a:t>ברית סיני</a:t>
            </a:r>
            <a:endParaRPr lang="he-IL" dirty="0">
              <a:solidFill>
                <a:srgbClr val="3333FF"/>
              </a:solidFill>
            </a:endParaRPr>
          </a:p>
        </p:txBody>
      </p:sp>
      <p:sp>
        <p:nvSpPr>
          <p:cNvPr id="6" name="מציין מיקום תוכן 5"/>
          <p:cNvSpPr>
            <a:spLocks noGrp="1"/>
          </p:cNvSpPr>
          <p:nvPr>
            <p:ph sz="half" idx="2"/>
          </p:nvPr>
        </p:nvSpPr>
        <p:spPr>
          <a:xfrm>
            <a:off x="3110649" y="917872"/>
            <a:ext cx="2902379" cy="39512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ד', </a:t>
            </a:r>
            <a:r>
              <a:rPr lang="he-IL" sz="2200" dirty="0" smtClean="0">
                <a:latin typeface="David" panose="020E0502060401010101" pitchFamily="34" charset="-79"/>
                <a:cs typeface="David" panose="020E0502060401010101" pitchFamily="34" charset="-79"/>
              </a:rPr>
              <a:t>ט-י: 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רַק </a:t>
            </a:r>
            <a:r>
              <a:rPr lang="he-IL" sz="2200" dirty="0" err="1">
                <a:latin typeface="David" panose="020E0502060401010101" pitchFamily="34" charset="-79"/>
                <a:cs typeface="David" panose="020E0502060401010101" pitchFamily="34" charset="-79"/>
              </a:rPr>
              <a:t>הִשָּׁמֶר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 לְךָ וּשְׁמֹר נַפְשְׁךָ מְאֹד פֶּן תִּשְׁכַּח אֶת הַדְּבָרִים אֲשֶׁר רָאוּ עֵינֶיךָ וּפֶן יָסוּרוּ מִלְּבָבְךָ כֹּל יְמֵי חַיֶּיךָ וְהוֹדַעְתָּם לְבָנֶיךָ וְלִבְנֵי בָנֶיךָ: יוֹם אֲשֶׁר עָמַדְתָּ לִפְנֵי ה’ </a:t>
            </a:r>
            <a:r>
              <a:rPr lang="he-IL" sz="22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ָ בְּחֹרֵב </a:t>
            </a:r>
            <a:r>
              <a:rPr lang="he-IL" sz="2200" dirty="0" err="1">
                <a:latin typeface="David" panose="020E0502060401010101" pitchFamily="34" charset="-79"/>
                <a:cs typeface="David" panose="020E0502060401010101" pitchFamily="34" charset="-79"/>
              </a:rPr>
              <a:t>בֶּאֱמֹר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 ה’ אֵלַי </a:t>
            </a:r>
            <a:r>
              <a:rPr lang="he-IL" sz="2200" b="1" dirty="0">
                <a:solidFill>
                  <a:srgbClr val="FF00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הַקְהֶל לִי אֶת הָעָם 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וְאַשְׁמִעֵם אֶת דְּבָרָי אֲשֶׁר יִלְמְדוּן לְיִרְאָה אֹתִי כָּל הַיָּמִים אֲשֶׁר הֵם חַיִּים עַל הָאֲדָמָה וְאֶת בְּנֵיהֶם</a:t>
            </a:r>
            <a:r>
              <a:rPr lang="he-IL" sz="2200" dirty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יְלַמֵּדוּן</a:t>
            </a:r>
            <a:r>
              <a:rPr lang="he-IL" sz="2200" dirty="0" smtClean="0"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</a:p>
          <a:p>
            <a:pPr marL="0" indent="0">
              <a:buNone/>
            </a:pP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ה', ד: </a:t>
            </a:r>
            <a:r>
              <a:rPr lang="he-IL" sz="22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פָּנִים בְּפָנִים</a:t>
            </a:r>
            <a:r>
              <a:rPr lang="he-IL" sz="2200" b="1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דִּבֶּר ה’ עִמָּכֶם בָּהָר מִתּוֹךְ הָאֵשׁ: </a:t>
            </a:r>
            <a:endParaRPr lang="en-US" sz="22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buNone/>
            </a:pPr>
            <a:endParaRPr lang="en-US" sz="22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buNone/>
            </a:pPr>
            <a:endParaRPr lang="he-IL" sz="22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7" name="מציין מיקום טקסט 6"/>
          <p:cNvSpPr>
            <a:spLocks noGrp="1"/>
          </p:cNvSpPr>
          <p:nvPr>
            <p:ph type="body" sz="quarter" idx="3"/>
          </p:nvPr>
        </p:nvSpPr>
        <p:spPr>
          <a:xfrm>
            <a:off x="138932" y="52934"/>
            <a:ext cx="2705744" cy="639762"/>
          </a:xfrm>
        </p:spPr>
        <p:txBody>
          <a:bodyPr/>
          <a:lstStyle/>
          <a:p>
            <a:pPr algn="ctr"/>
            <a:r>
              <a:rPr lang="he-IL" dirty="0" smtClean="0">
                <a:solidFill>
                  <a:srgbClr val="3333FF"/>
                </a:solidFill>
              </a:rPr>
              <a:t>מצוות הקהל</a:t>
            </a:r>
            <a:endParaRPr lang="he-IL" dirty="0">
              <a:solidFill>
                <a:srgbClr val="3333FF"/>
              </a:solidFill>
            </a:endParaRPr>
          </a:p>
        </p:txBody>
      </p:sp>
      <p:sp>
        <p:nvSpPr>
          <p:cNvPr id="8" name="מציין מיקום תוכן 7"/>
          <p:cNvSpPr>
            <a:spLocks noGrp="1"/>
          </p:cNvSpPr>
          <p:nvPr>
            <p:ph sz="quarter" idx="4"/>
          </p:nvPr>
        </p:nvSpPr>
        <p:spPr>
          <a:xfrm>
            <a:off x="-107652" y="917872"/>
            <a:ext cx="3024336" cy="39512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e-IL" sz="2200" dirty="0" smtClean="0">
                <a:latin typeface="David" panose="020E0502060401010101" pitchFamily="34" charset="-79"/>
                <a:cs typeface="David" panose="020E0502060401010101" pitchFamily="34" charset="-79"/>
              </a:rPr>
              <a:t>ל"א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, יא-</a:t>
            </a:r>
            <a:r>
              <a:rPr lang="he-IL" sz="2200" dirty="0" err="1">
                <a:latin typeface="David" panose="020E0502060401010101" pitchFamily="34" charset="-79"/>
                <a:cs typeface="David" panose="020E0502060401010101" pitchFamily="34" charset="-79"/>
              </a:rPr>
              <a:t>יג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: בְּבוֹא כָל יִשְׂרָאֵל </a:t>
            </a:r>
            <a:r>
              <a:rPr lang="he-IL" sz="22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לֵרָאוֹת אֶת פְּנֵי ה' </a:t>
            </a:r>
            <a:r>
              <a:rPr lang="he-IL" sz="2200" b="1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2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</a:t>
            </a:r>
            <a:r>
              <a:rPr lang="he-IL" sz="2200" b="1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בַּמָּקוֹם אֲשֶׁר יִבְחָר תִּקְרָא אֶת הַתּוֹרָה הַזֹּאת נֶגֶד כָּל יִשְׂרָאֵל בְּאָזְנֵיהֶם: </a:t>
            </a:r>
            <a:r>
              <a:rPr lang="he-IL" sz="2200" b="1" dirty="0">
                <a:solidFill>
                  <a:srgbClr val="FF00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הַקְהֵל אֶת הָעָם</a:t>
            </a:r>
            <a:r>
              <a:rPr lang="he-IL" sz="2200" dirty="0">
                <a:solidFill>
                  <a:srgbClr val="FF00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הָאֲנָשִׁים וְהַנָּשִׁים וְהַטַּף </a:t>
            </a:r>
            <a:r>
              <a:rPr lang="he-IL" sz="2200" dirty="0" err="1">
                <a:latin typeface="David" panose="020E0502060401010101" pitchFamily="34" charset="-79"/>
                <a:cs typeface="David" panose="020E0502060401010101" pitchFamily="34" charset="-79"/>
              </a:rPr>
              <a:t>וְגֵרְך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ָ אֲשֶׁר בִּשְׁעָרֶיךָ לְמַעַן יִשְׁמְעוּ וּלְמַעַן יִלְמְדוּ וְיָרְאוּ אֶת ה' </a:t>
            </a:r>
            <a:r>
              <a:rPr lang="he-IL" sz="22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אֱלֹהֵיכֶם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 וְשָׁמְרוּ לַעֲשׂוֹת אֶת כָּל דִּבְרֵי הַתּוֹרָה הַזֹּאת: וּבְנֵיהֶם אֲשֶׁר לֹא יָדְעוּ יִשְׁמְעוּ וְלָמְדוּ לְיִרְאָה אֶת ה' </a:t>
            </a:r>
            <a:r>
              <a:rPr lang="he-IL" sz="22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אֱלֹהֵיכֶם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 כָּל הַיָּמִים אֲשֶׁר אַתֶּם חַיִּים עַל הָאֲדָמָה אֲשֶׁר אַתֶּם עֹבְרִים אֶת הַיַּרְדֵּן שָׁמָּה לְרִשְׁתָּהּ: </a:t>
            </a:r>
            <a:endParaRPr lang="en-US" sz="22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4612771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ציין מיקום טקסט 4"/>
          <p:cNvSpPr>
            <a:spLocks noGrp="1"/>
          </p:cNvSpPr>
          <p:nvPr>
            <p:ph type="body" idx="1"/>
          </p:nvPr>
        </p:nvSpPr>
        <p:spPr>
          <a:xfrm>
            <a:off x="3308347" y="52934"/>
            <a:ext cx="2704681" cy="639762"/>
          </a:xfrm>
        </p:spPr>
        <p:txBody>
          <a:bodyPr/>
          <a:lstStyle/>
          <a:p>
            <a:pPr algn="ctr"/>
            <a:r>
              <a:rPr lang="he-IL" dirty="0" smtClean="0">
                <a:solidFill>
                  <a:srgbClr val="3333FF"/>
                </a:solidFill>
              </a:rPr>
              <a:t>ברית סיני</a:t>
            </a:r>
            <a:endParaRPr lang="he-IL" dirty="0">
              <a:solidFill>
                <a:srgbClr val="3333FF"/>
              </a:solidFill>
            </a:endParaRPr>
          </a:p>
        </p:txBody>
      </p:sp>
      <p:sp>
        <p:nvSpPr>
          <p:cNvPr id="6" name="מציין מיקום תוכן 5"/>
          <p:cNvSpPr>
            <a:spLocks noGrp="1"/>
          </p:cNvSpPr>
          <p:nvPr>
            <p:ph sz="half" idx="2"/>
          </p:nvPr>
        </p:nvSpPr>
        <p:spPr>
          <a:xfrm>
            <a:off x="3110649" y="917872"/>
            <a:ext cx="2902379" cy="39512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ד', </a:t>
            </a:r>
            <a:r>
              <a:rPr lang="he-IL" sz="2200" dirty="0" smtClean="0">
                <a:latin typeface="David" panose="020E0502060401010101" pitchFamily="34" charset="-79"/>
                <a:cs typeface="David" panose="020E0502060401010101" pitchFamily="34" charset="-79"/>
              </a:rPr>
              <a:t>ט-י: 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רַק </a:t>
            </a:r>
            <a:r>
              <a:rPr lang="he-IL" sz="2200" dirty="0" err="1">
                <a:latin typeface="David" panose="020E0502060401010101" pitchFamily="34" charset="-79"/>
                <a:cs typeface="David" panose="020E0502060401010101" pitchFamily="34" charset="-79"/>
              </a:rPr>
              <a:t>הִשָּׁמֶר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 לְךָ וּשְׁמֹר נַפְשְׁךָ מְאֹד פֶּן תִּשְׁכַּח אֶת הַדְּבָרִים אֲשֶׁר רָאוּ עֵינֶיךָ וּפֶן יָסוּרוּ מִלְּבָבְךָ כֹּל יְמֵי חַיֶּיךָ וְהוֹדַעְתָּם לְבָנֶיךָ וְלִבְנֵי בָנֶיךָ: יוֹם אֲשֶׁר עָמַדְתָּ לִפְנֵי ה’ </a:t>
            </a:r>
            <a:r>
              <a:rPr lang="he-IL" sz="22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ָ בְּחֹרֵב </a:t>
            </a:r>
            <a:r>
              <a:rPr lang="he-IL" sz="2200" dirty="0" err="1">
                <a:latin typeface="David" panose="020E0502060401010101" pitchFamily="34" charset="-79"/>
                <a:cs typeface="David" panose="020E0502060401010101" pitchFamily="34" charset="-79"/>
              </a:rPr>
              <a:t>בֶּאֱמֹר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 ה’ אֵלַי </a:t>
            </a:r>
            <a:r>
              <a:rPr lang="he-IL" sz="2200" b="1" dirty="0">
                <a:solidFill>
                  <a:srgbClr val="FF00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הַקְהֶל לִי אֶת הָעָם </a:t>
            </a:r>
            <a:r>
              <a:rPr lang="he-IL" sz="22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וְאַשְׁמִעֵם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 אֶת דְּבָרָי אֲשֶׁר </a:t>
            </a:r>
            <a:r>
              <a:rPr lang="he-IL" sz="22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יִלְמְדוּן לְיִרְאָה אֹתִי כָּל הַיָּמִים 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אֲשֶׁר הֵם חַיִּים עַל הָאֲדָמָה וְאֶת </a:t>
            </a:r>
            <a:r>
              <a:rPr lang="he-IL" sz="2200" b="1" dirty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בְּנֵיהֶם</a:t>
            </a:r>
            <a:r>
              <a:rPr lang="he-IL" sz="2200" dirty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יְלַמֵּדוּן</a:t>
            </a:r>
            <a:r>
              <a:rPr lang="he-IL" sz="2200" dirty="0" smtClean="0"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</a:p>
          <a:p>
            <a:pPr marL="0" indent="0">
              <a:buNone/>
            </a:pP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ה', ד: </a:t>
            </a:r>
            <a:r>
              <a:rPr lang="he-IL" sz="22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פָּנִים בְּפָנִים</a:t>
            </a:r>
            <a:r>
              <a:rPr lang="he-IL" sz="2200" b="1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דִּבֶּר ה’ עִמָּכֶם בָּהָר מִתּוֹךְ הָאֵשׁ: </a:t>
            </a:r>
            <a:endParaRPr lang="en-US" sz="22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buNone/>
            </a:pPr>
            <a:endParaRPr lang="en-US" sz="2200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buNone/>
            </a:pPr>
            <a:endParaRPr lang="he-IL" sz="22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7" name="מציין מיקום טקסט 6"/>
          <p:cNvSpPr>
            <a:spLocks noGrp="1"/>
          </p:cNvSpPr>
          <p:nvPr>
            <p:ph type="body" sz="quarter" idx="3"/>
          </p:nvPr>
        </p:nvSpPr>
        <p:spPr>
          <a:xfrm>
            <a:off x="138932" y="52934"/>
            <a:ext cx="2705744" cy="639762"/>
          </a:xfrm>
        </p:spPr>
        <p:txBody>
          <a:bodyPr/>
          <a:lstStyle/>
          <a:p>
            <a:pPr algn="ctr"/>
            <a:r>
              <a:rPr lang="he-IL" dirty="0" smtClean="0">
                <a:solidFill>
                  <a:srgbClr val="3333FF"/>
                </a:solidFill>
              </a:rPr>
              <a:t>מצוות הקהל</a:t>
            </a:r>
            <a:endParaRPr lang="he-IL" dirty="0">
              <a:solidFill>
                <a:srgbClr val="3333FF"/>
              </a:solidFill>
            </a:endParaRPr>
          </a:p>
        </p:txBody>
      </p:sp>
      <p:sp>
        <p:nvSpPr>
          <p:cNvPr id="8" name="מציין מיקום תוכן 7"/>
          <p:cNvSpPr>
            <a:spLocks noGrp="1"/>
          </p:cNvSpPr>
          <p:nvPr>
            <p:ph sz="quarter" idx="4"/>
          </p:nvPr>
        </p:nvSpPr>
        <p:spPr>
          <a:xfrm>
            <a:off x="-107652" y="917872"/>
            <a:ext cx="3024336" cy="39512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he-IL" sz="2200" dirty="0" smtClean="0">
                <a:latin typeface="David" panose="020E0502060401010101" pitchFamily="34" charset="-79"/>
                <a:cs typeface="David" panose="020E0502060401010101" pitchFamily="34" charset="-79"/>
              </a:rPr>
              <a:t>ל"א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, יא-</a:t>
            </a:r>
            <a:r>
              <a:rPr lang="he-IL" sz="2200" dirty="0" err="1">
                <a:latin typeface="David" panose="020E0502060401010101" pitchFamily="34" charset="-79"/>
                <a:cs typeface="David" panose="020E0502060401010101" pitchFamily="34" charset="-79"/>
              </a:rPr>
              <a:t>יג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: בְּבוֹא כָל יִשְׂרָאֵל </a:t>
            </a:r>
            <a:r>
              <a:rPr lang="he-IL" sz="22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לֵרָאוֹת אֶת פְּנֵי ה' </a:t>
            </a:r>
            <a:r>
              <a:rPr lang="he-IL" sz="2200" b="1" dirty="0" err="1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sz="2200" b="1" dirty="0">
                <a:solidFill>
                  <a:srgbClr val="FF000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ָ</a:t>
            </a:r>
            <a:r>
              <a:rPr lang="he-IL" sz="2200" b="1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בַּמָּקוֹם אֲשֶׁר יִבְחָר תִּקְרָא אֶת הַתּוֹרָה הַזֹּאת נֶגֶד כָּל יִשְׂרָאֵל בְּאָזְנֵיהֶם: </a:t>
            </a:r>
            <a:r>
              <a:rPr lang="he-IL" sz="2200" b="1" dirty="0">
                <a:solidFill>
                  <a:srgbClr val="FF00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הַקְהֵל אֶת הָעָם</a:t>
            </a:r>
            <a:r>
              <a:rPr lang="he-IL" sz="2200" dirty="0">
                <a:solidFill>
                  <a:srgbClr val="FF00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הָאֲנָשִׁים וְהַנָּשִׁים וְהַטַּף </a:t>
            </a:r>
            <a:r>
              <a:rPr lang="he-IL" sz="2200" dirty="0" err="1">
                <a:latin typeface="David" panose="020E0502060401010101" pitchFamily="34" charset="-79"/>
                <a:cs typeface="David" panose="020E0502060401010101" pitchFamily="34" charset="-79"/>
              </a:rPr>
              <a:t>וְגֵרְך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ָ אֲשֶׁר בִּשְׁעָרֶיךָ לְמַעַן </a:t>
            </a:r>
            <a:r>
              <a:rPr lang="he-IL" sz="22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יִשְׁמְעוּ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 וּלְמַעַן </a:t>
            </a:r>
            <a:r>
              <a:rPr lang="he-IL" sz="22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יִלְמְדוּ וְיָרְאוּ אֶת ה'</a:t>
            </a:r>
            <a:r>
              <a:rPr lang="he-IL" sz="2200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sz="2200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אֱלֹהֵיכֶם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 וְשָׁמְרוּ לַעֲשׂוֹת אֶת כָּל דִּבְרֵי הַתּוֹרָה הַזֹּאת: </a:t>
            </a:r>
            <a:r>
              <a:rPr lang="he-IL" sz="2200" b="1" dirty="0">
                <a:solidFill>
                  <a:srgbClr val="00B050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וּבְנֵיהֶם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 אֲשֶׁר לֹא יָדְעוּ </a:t>
            </a:r>
            <a:r>
              <a:rPr lang="he-IL" sz="22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יִשְׁמְעוּ וְלָמְדוּ לְיִרְאָה אֶת ה' </a:t>
            </a:r>
            <a:r>
              <a:rPr lang="he-IL" sz="2200" b="1" dirty="0" err="1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אֱלֹהֵיכֶם</a:t>
            </a:r>
            <a:r>
              <a:rPr lang="he-IL" sz="2200" b="1" dirty="0">
                <a:solidFill>
                  <a:srgbClr val="3333FF"/>
                </a:solidFill>
                <a:latin typeface="David" panose="020E0502060401010101" pitchFamily="34" charset="-79"/>
                <a:cs typeface="David" panose="020E0502060401010101" pitchFamily="34" charset="-79"/>
              </a:rPr>
              <a:t> כָּל הַיָּמִים </a:t>
            </a:r>
            <a:r>
              <a:rPr lang="he-IL" sz="2200" dirty="0">
                <a:latin typeface="David" panose="020E0502060401010101" pitchFamily="34" charset="-79"/>
                <a:cs typeface="David" panose="020E0502060401010101" pitchFamily="34" charset="-79"/>
              </a:rPr>
              <a:t>אֲשֶׁר אַתֶּם חַיִּים עַל הָאֲדָמָה אֲשֶׁר אַתֶּם עֹבְרִים אֶת הַיַּרְדֵּן שָׁמָּה לְרִשְׁתָּהּ: </a:t>
            </a:r>
            <a:endParaRPr lang="en-US" sz="2200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  <p:sp>
        <p:nvSpPr>
          <p:cNvPr id="4" name="חץ שמאלה 3"/>
          <p:cNvSpPr/>
          <p:nvPr/>
        </p:nvSpPr>
        <p:spPr>
          <a:xfrm>
            <a:off x="2268612" y="44624"/>
            <a:ext cx="1728192" cy="792088"/>
          </a:xfrm>
          <a:prstGeom prst="leftArrow">
            <a:avLst>
              <a:gd name="adj1" fmla="val 65972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r>
              <a:rPr lang="he-IL" sz="2000" b="1" dirty="0" smtClean="0"/>
              <a:t>משוחזרת ב</a:t>
            </a:r>
            <a:endParaRPr lang="he-IL" sz="2000" b="1" dirty="0"/>
          </a:p>
        </p:txBody>
      </p:sp>
    </p:spTree>
    <p:extLst>
      <p:ext uri="{BB962C8B-B14F-4D97-AF65-F5344CB8AC3E}">
        <p14:creationId xmlns:p14="http://schemas.microsoft.com/office/powerpoint/2010/main" val="3758713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-27384"/>
            <a:ext cx="5509260" cy="864096"/>
          </a:xfrm>
        </p:spPr>
        <p:txBody>
          <a:bodyPr>
            <a:normAutofit/>
          </a:bodyPr>
          <a:lstStyle/>
          <a:p>
            <a:r>
              <a:rPr lang="he-IL" sz="4000" dirty="0" smtClean="0">
                <a:cs typeface="+mn-cs"/>
              </a:rPr>
              <a:t>3 בריתות ועוד אחת</a:t>
            </a:r>
            <a:endParaRPr lang="he-IL" sz="4000" dirty="0">
              <a:cs typeface="+mn-cs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06070" y="908720"/>
            <a:ext cx="5509260" cy="5544616"/>
          </a:xfrm>
        </p:spPr>
        <p:txBody>
          <a:bodyPr>
            <a:norm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he-IL" sz="2200" dirty="0" smtClean="0">
                <a:solidFill>
                  <a:srgbClr val="FF0000"/>
                </a:solidFill>
                <a:latin typeface="Guttman Keren" panose="02010401010101010101" pitchFamily="2" charset="-79"/>
                <a:cs typeface="Guttman Keren" panose="02010401010101010101" pitchFamily="2" charset="-79"/>
              </a:rPr>
              <a:t>עבר - ברית סיני: </a:t>
            </a:r>
            <a:r>
              <a:rPr lang="he-IL" sz="2200" dirty="0" smtClean="0">
                <a:latin typeface="Guttman Keren" panose="02010401010101010101" pitchFamily="2" charset="-79"/>
                <a:cs typeface="Guttman Keren" panose="02010401010101010101" pitchFamily="2" charset="-79"/>
              </a:rPr>
              <a:t>ה', ב: </a:t>
            </a:r>
            <a:r>
              <a:rPr lang="he-IL" sz="2200" dirty="0">
                <a:latin typeface="Guttman Keren" panose="02010401010101010101" pitchFamily="2" charset="-79"/>
                <a:cs typeface="Guttman Keren" panose="02010401010101010101" pitchFamily="2" charset="-79"/>
              </a:rPr>
              <a:t>ה’ </a:t>
            </a:r>
            <a:r>
              <a:rPr lang="he-IL" sz="2200" dirty="0" err="1">
                <a:latin typeface="Guttman Keren" panose="02010401010101010101" pitchFamily="2" charset="-79"/>
                <a:cs typeface="Guttman Keren" panose="02010401010101010101" pitchFamily="2" charset="-79"/>
              </a:rPr>
              <a:t>אֱלֹהֵינו</a:t>
            </a:r>
            <a:r>
              <a:rPr lang="he-IL" sz="2200" dirty="0">
                <a:latin typeface="Guttman Keren" panose="02010401010101010101" pitchFamily="2" charset="-79"/>
                <a:cs typeface="Guttman Keren" panose="02010401010101010101" pitchFamily="2" charset="-79"/>
              </a:rPr>
              <a:t>ּ כָּרַת עִמָּנוּ בְּרִית בְּחֹרֵב: </a:t>
            </a:r>
            <a:endParaRPr lang="en-US" sz="2200" dirty="0">
              <a:cs typeface="Guttman Keren" panose="02010401010101010101" pitchFamily="2" charset="-79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he-IL" sz="2200" dirty="0" smtClean="0">
                <a:solidFill>
                  <a:srgbClr val="FF0000"/>
                </a:solidFill>
                <a:latin typeface="Guttman Keren" panose="02010401010101010101" pitchFamily="2" charset="-79"/>
                <a:cs typeface="Guttman Keren" panose="02010401010101010101" pitchFamily="2" charset="-79"/>
              </a:rPr>
              <a:t>הווה - ברית </a:t>
            </a:r>
            <a:r>
              <a:rPr lang="he-IL" sz="2200" dirty="0">
                <a:solidFill>
                  <a:srgbClr val="FF0000"/>
                </a:solidFill>
                <a:latin typeface="Guttman Keren" panose="02010401010101010101" pitchFamily="2" charset="-79"/>
                <a:cs typeface="Guttman Keren" panose="02010401010101010101" pitchFamily="2" charset="-79"/>
              </a:rPr>
              <a:t>ערבות מואב: </a:t>
            </a:r>
            <a:r>
              <a:rPr lang="he-IL" sz="2200" dirty="0" smtClean="0">
                <a:latin typeface="Guttman Keren" panose="02010401010101010101" pitchFamily="2" charset="-79"/>
                <a:cs typeface="Guttman Keren" panose="02010401010101010101" pitchFamily="2" charset="-79"/>
              </a:rPr>
              <a:t>כ"ט, יא: לְעָבְרְךָ </a:t>
            </a:r>
            <a:r>
              <a:rPr lang="he-IL" sz="2200" dirty="0">
                <a:latin typeface="Guttman Keren" panose="02010401010101010101" pitchFamily="2" charset="-79"/>
                <a:cs typeface="Guttman Keren" panose="02010401010101010101" pitchFamily="2" charset="-79"/>
              </a:rPr>
              <a:t>בִּבְרִית ה' </a:t>
            </a:r>
            <a:r>
              <a:rPr lang="he-IL" sz="2200" dirty="0" err="1">
                <a:latin typeface="Guttman Keren" panose="02010401010101010101" pitchFamily="2" charset="-79"/>
                <a:cs typeface="Guttman Keren" panose="02010401010101010101" pitchFamily="2" charset="-79"/>
              </a:rPr>
              <a:t>אֱלֹהֶיך</a:t>
            </a:r>
            <a:r>
              <a:rPr lang="he-IL" sz="2200" dirty="0">
                <a:latin typeface="Guttman Keren" panose="02010401010101010101" pitchFamily="2" charset="-79"/>
                <a:cs typeface="Guttman Keren" panose="02010401010101010101" pitchFamily="2" charset="-79"/>
              </a:rPr>
              <a:t>ָ וּבְאָלָתוֹ אֲשֶׁר ה' </a:t>
            </a:r>
            <a:r>
              <a:rPr lang="he-IL" sz="2200" dirty="0" err="1">
                <a:latin typeface="Guttman Keren" panose="02010401010101010101" pitchFamily="2" charset="-79"/>
                <a:cs typeface="Guttman Keren" panose="02010401010101010101" pitchFamily="2" charset="-79"/>
              </a:rPr>
              <a:t>אֱלֹהֶיך</a:t>
            </a:r>
            <a:r>
              <a:rPr lang="he-IL" sz="2200" dirty="0">
                <a:latin typeface="Guttman Keren" panose="02010401010101010101" pitchFamily="2" charset="-79"/>
                <a:cs typeface="Guttman Keren" panose="02010401010101010101" pitchFamily="2" charset="-79"/>
              </a:rPr>
              <a:t>ָ כֹּרֵת עִמְּךָ הַיּוֹם</a:t>
            </a:r>
            <a:r>
              <a:rPr lang="he-IL" sz="2200" dirty="0" smtClean="0">
                <a:latin typeface="Guttman Keren" panose="02010401010101010101" pitchFamily="2" charset="-79"/>
                <a:cs typeface="Guttman Keren" panose="02010401010101010101" pitchFamily="2" charset="-79"/>
              </a:rPr>
              <a:t>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he-IL" sz="2200" dirty="0" smtClean="0">
                <a:solidFill>
                  <a:srgbClr val="FF0000"/>
                </a:solidFill>
                <a:latin typeface="Guttman Keren" panose="02010401010101010101" pitchFamily="2" charset="-79"/>
                <a:cs typeface="Guttman Keren" panose="02010401010101010101" pitchFamily="2" charset="-79"/>
              </a:rPr>
              <a:t>עתיד - ברית </a:t>
            </a:r>
            <a:r>
              <a:rPr lang="he-IL" sz="2200" dirty="0">
                <a:solidFill>
                  <a:srgbClr val="FF0000"/>
                </a:solidFill>
                <a:latin typeface="Guttman Keren" panose="02010401010101010101" pitchFamily="2" charset="-79"/>
                <a:cs typeface="Guttman Keren" panose="02010401010101010101" pitchFamily="2" charset="-79"/>
              </a:rPr>
              <a:t>הרי גריזים ועיבל: </a:t>
            </a:r>
            <a:r>
              <a:rPr lang="he-IL" sz="2200" dirty="0" smtClean="0">
                <a:latin typeface="Guttman Keren" panose="02010401010101010101" pitchFamily="2" charset="-79"/>
                <a:cs typeface="Guttman Keren" panose="02010401010101010101" pitchFamily="2" charset="-79"/>
              </a:rPr>
              <a:t>כ"ז, </a:t>
            </a:r>
            <a:r>
              <a:rPr lang="he-IL" sz="2200" dirty="0" err="1" smtClean="0">
                <a:latin typeface="Guttman Keren" panose="02010401010101010101" pitchFamily="2" charset="-79"/>
                <a:cs typeface="Guttman Keren" panose="02010401010101010101" pitchFamily="2" charset="-79"/>
              </a:rPr>
              <a:t>יב-יג</a:t>
            </a:r>
            <a:r>
              <a:rPr lang="he-IL" sz="2200" dirty="0" smtClean="0">
                <a:latin typeface="Guttman Keren" panose="02010401010101010101" pitchFamily="2" charset="-79"/>
                <a:cs typeface="Guttman Keren" panose="02010401010101010101" pitchFamily="2" charset="-79"/>
              </a:rPr>
              <a:t>: </a:t>
            </a:r>
            <a:r>
              <a:rPr lang="he-IL" sz="2200" dirty="0">
                <a:latin typeface="Guttman Keren" panose="02010401010101010101" pitchFamily="2" charset="-79"/>
                <a:cs typeface="Guttman Keren" panose="02010401010101010101" pitchFamily="2" charset="-79"/>
              </a:rPr>
              <a:t>אֵלֶּה יַעַמְדוּ לְבָרֵךְ אֶת הָעָם עַל הַר גְּרִזִים בְּעָבְרְכֶם אֶת הַיַּרְדֵּן </a:t>
            </a:r>
            <a:r>
              <a:rPr lang="he-IL" sz="2200" dirty="0" smtClean="0">
                <a:latin typeface="Guttman Keren" panose="02010401010101010101" pitchFamily="2" charset="-79"/>
                <a:cs typeface="Guttman Keren" panose="02010401010101010101" pitchFamily="2" charset="-79"/>
              </a:rPr>
              <a:t>... וְאֵלֶּה </a:t>
            </a:r>
            <a:r>
              <a:rPr lang="he-IL" sz="2200" dirty="0">
                <a:latin typeface="Guttman Keren" panose="02010401010101010101" pitchFamily="2" charset="-79"/>
                <a:cs typeface="Guttman Keren" panose="02010401010101010101" pitchFamily="2" charset="-79"/>
              </a:rPr>
              <a:t>יַעַמְדוּ עַל הַקְּלָלָה בְּהַר עֵיבָל </a:t>
            </a:r>
            <a:endParaRPr lang="en-US" sz="2200" dirty="0">
              <a:cs typeface="Guttman Keren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290617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-27384"/>
            <a:ext cx="5509260" cy="864096"/>
          </a:xfrm>
        </p:spPr>
        <p:txBody>
          <a:bodyPr>
            <a:normAutofit/>
          </a:bodyPr>
          <a:lstStyle/>
          <a:p>
            <a:r>
              <a:rPr lang="he-IL" sz="4000" dirty="0">
                <a:cs typeface="+mn-cs"/>
              </a:rPr>
              <a:t>3 בריתות ועוד אחת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06070" y="908720"/>
            <a:ext cx="5509260" cy="5760640"/>
          </a:xfrm>
        </p:spPr>
        <p:txBody>
          <a:bodyPr>
            <a:normAutofit fontScale="92500"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he-IL" sz="2400" dirty="0" smtClean="0">
                <a:solidFill>
                  <a:srgbClr val="FF0000"/>
                </a:solidFill>
                <a:latin typeface="Guttman Keren" panose="02010401010101010101" pitchFamily="2" charset="-79"/>
                <a:cs typeface="Guttman Keren" panose="02010401010101010101" pitchFamily="2" charset="-79"/>
              </a:rPr>
              <a:t>עבר - ברית סיני: </a:t>
            </a:r>
            <a:r>
              <a:rPr lang="he-IL" sz="2400" dirty="0" smtClean="0">
                <a:latin typeface="Guttman Keren" panose="02010401010101010101" pitchFamily="2" charset="-79"/>
                <a:cs typeface="Guttman Keren" panose="02010401010101010101" pitchFamily="2" charset="-79"/>
              </a:rPr>
              <a:t>ה', ב: </a:t>
            </a:r>
            <a:r>
              <a:rPr lang="he-IL" sz="2400" dirty="0">
                <a:latin typeface="Guttman Keren" panose="02010401010101010101" pitchFamily="2" charset="-79"/>
                <a:cs typeface="Guttman Keren" panose="02010401010101010101" pitchFamily="2" charset="-79"/>
              </a:rPr>
              <a:t>ה’ </a:t>
            </a:r>
            <a:r>
              <a:rPr lang="he-IL" sz="2400" dirty="0" err="1">
                <a:latin typeface="Guttman Keren" panose="02010401010101010101" pitchFamily="2" charset="-79"/>
                <a:cs typeface="Guttman Keren" panose="02010401010101010101" pitchFamily="2" charset="-79"/>
              </a:rPr>
              <a:t>אֱלֹהֵינו</a:t>
            </a:r>
            <a:r>
              <a:rPr lang="he-IL" sz="2400" dirty="0">
                <a:latin typeface="Guttman Keren" panose="02010401010101010101" pitchFamily="2" charset="-79"/>
                <a:cs typeface="Guttman Keren" panose="02010401010101010101" pitchFamily="2" charset="-79"/>
              </a:rPr>
              <a:t>ּ כָּרַת עִמָּנוּ בְּרִית בְּחֹרֵב: </a:t>
            </a:r>
            <a:endParaRPr lang="en-US" sz="2400" dirty="0">
              <a:cs typeface="Guttman Keren" panose="02010401010101010101" pitchFamily="2" charset="-79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he-IL" sz="2400" dirty="0" smtClean="0">
                <a:solidFill>
                  <a:srgbClr val="FF0000"/>
                </a:solidFill>
                <a:latin typeface="Guttman Keren" panose="02010401010101010101" pitchFamily="2" charset="-79"/>
                <a:cs typeface="Guttman Keren" panose="02010401010101010101" pitchFamily="2" charset="-79"/>
              </a:rPr>
              <a:t>הווה - ברית </a:t>
            </a:r>
            <a:r>
              <a:rPr lang="he-IL" sz="2400" dirty="0">
                <a:solidFill>
                  <a:srgbClr val="FF0000"/>
                </a:solidFill>
                <a:latin typeface="Guttman Keren" panose="02010401010101010101" pitchFamily="2" charset="-79"/>
                <a:cs typeface="Guttman Keren" panose="02010401010101010101" pitchFamily="2" charset="-79"/>
              </a:rPr>
              <a:t>ערבות מואב: </a:t>
            </a:r>
            <a:r>
              <a:rPr lang="he-IL" sz="2400" dirty="0" smtClean="0">
                <a:latin typeface="Guttman Keren" panose="02010401010101010101" pitchFamily="2" charset="-79"/>
                <a:cs typeface="Guttman Keren" panose="02010401010101010101" pitchFamily="2" charset="-79"/>
              </a:rPr>
              <a:t>כ"ט, יא: לְעָבְרְךָ </a:t>
            </a:r>
            <a:r>
              <a:rPr lang="he-IL" sz="2400" dirty="0">
                <a:latin typeface="Guttman Keren" panose="02010401010101010101" pitchFamily="2" charset="-79"/>
                <a:cs typeface="Guttman Keren" panose="02010401010101010101" pitchFamily="2" charset="-79"/>
              </a:rPr>
              <a:t>בִּבְרִית ה' </a:t>
            </a:r>
            <a:r>
              <a:rPr lang="he-IL" sz="2400" dirty="0" err="1">
                <a:latin typeface="Guttman Keren" panose="02010401010101010101" pitchFamily="2" charset="-79"/>
                <a:cs typeface="Guttman Keren" panose="02010401010101010101" pitchFamily="2" charset="-79"/>
              </a:rPr>
              <a:t>אֱלֹהֶיך</a:t>
            </a:r>
            <a:r>
              <a:rPr lang="he-IL" sz="2400" dirty="0">
                <a:latin typeface="Guttman Keren" panose="02010401010101010101" pitchFamily="2" charset="-79"/>
                <a:cs typeface="Guttman Keren" panose="02010401010101010101" pitchFamily="2" charset="-79"/>
              </a:rPr>
              <a:t>ָ וּבְאָלָתוֹ אֲשֶׁר ה' </a:t>
            </a:r>
            <a:r>
              <a:rPr lang="he-IL" sz="2400" dirty="0" err="1">
                <a:latin typeface="Guttman Keren" panose="02010401010101010101" pitchFamily="2" charset="-79"/>
                <a:cs typeface="Guttman Keren" panose="02010401010101010101" pitchFamily="2" charset="-79"/>
              </a:rPr>
              <a:t>אֱלֹהֶיך</a:t>
            </a:r>
            <a:r>
              <a:rPr lang="he-IL" sz="2400" dirty="0">
                <a:latin typeface="Guttman Keren" panose="02010401010101010101" pitchFamily="2" charset="-79"/>
                <a:cs typeface="Guttman Keren" panose="02010401010101010101" pitchFamily="2" charset="-79"/>
              </a:rPr>
              <a:t>ָ כֹּרֵת עִמְּךָ הַיּוֹם</a:t>
            </a:r>
            <a:r>
              <a:rPr lang="he-IL" sz="2400" dirty="0" smtClean="0">
                <a:latin typeface="Guttman Keren" panose="02010401010101010101" pitchFamily="2" charset="-79"/>
                <a:cs typeface="Guttman Keren" panose="02010401010101010101" pitchFamily="2" charset="-79"/>
              </a:rPr>
              <a:t>:</a:t>
            </a:r>
          </a:p>
          <a:p>
            <a:pPr marL="0" indent="0">
              <a:spcBef>
                <a:spcPts val="1200"/>
              </a:spcBef>
              <a:buNone/>
            </a:pPr>
            <a:r>
              <a:rPr lang="he-IL" sz="2400" dirty="0" smtClean="0">
                <a:solidFill>
                  <a:srgbClr val="FF0000"/>
                </a:solidFill>
                <a:latin typeface="Guttman Keren" panose="02010401010101010101" pitchFamily="2" charset="-79"/>
                <a:cs typeface="Guttman Keren" panose="02010401010101010101" pitchFamily="2" charset="-79"/>
              </a:rPr>
              <a:t>עתיד - ברית </a:t>
            </a:r>
            <a:r>
              <a:rPr lang="he-IL" sz="2400" dirty="0">
                <a:solidFill>
                  <a:srgbClr val="FF0000"/>
                </a:solidFill>
                <a:latin typeface="Guttman Keren" panose="02010401010101010101" pitchFamily="2" charset="-79"/>
                <a:cs typeface="Guttman Keren" panose="02010401010101010101" pitchFamily="2" charset="-79"/>
              </a:rPr>
              <a:t>הרי גריזים ועיבל: </a:t>
            </a:r>
            <a:r>
              <a:rPr lang="he-IL" sz="2400" dirty="0" smtClean="0">
                <a:latin typeface="Guttman Keren" panose="02010401010101010101" pitchFamily="2" charset="-79"/>
                <a:cs typeface="Guttman Keren" panose="02010401010101010101" pitchFamily="2" charset="-79"/>
              </a:rPr>
              <a:t>כ"ז, </a:t>
            </a:r>
            <a:r>
              <a:rPr lang="he-IL" sz="2400" dirty="0" err="1" smtClean="0">
                <a:latin typeface="Guttman Keren" panose="02010401010101010101" pitchFamily="2" charset="-79"/>
                <a:cs typeface="Guttman Keren" panose="02010401010101010101" pitchFamily="2" charset="-79"/>
              </a:rPr>
              <a:t>יב-יג</a:t>
            </a:r>
            <a:r>
              <a:rPr lang="he-IL" sz="2400" dirty="0" smtClean="0">
                <a:latin typeface="Guttman Keren" panose="02010401010101010101" pitchFamily="2" charset="-79"/>
                <a:cs typeface="Guttman Keren" panose="02010401010101010101" pitchFamily="2" charset="-79"/>
              </a:rPr>
              <a:t>: </a:t>
            </a:r>
            <a:r>
              <a:rPr lang="he-IL" sz="2400" dirty="0">
                <a:latin typeface="Guttman Keren" panose="02010401010101010101" pitchFamily="2" charset="-79"/>
                <a:cs typeface="Guttman Keren" panose="02010401010101010101" pitchFamily="2" charset="-79"/>
              </a:rPr>
              <a:t>אֵלֶּה יַעַמְדוּ לְבָרֵךְ אֶת הָעָם עַל הַר גְּרִזִים בְּעָבְרְכֶם אֶת הַיַּרְדֵּן </a:t>
            </a:r>
            <a:r>
              <a:rPr lang="he-IL" sz="2400" dirty="0" smtClean="0">
                <a:latin typeface="Guttman Keren" panose="02010401010101010101" pitchFamily="2" charset="-79"/>
                <a:cs typeface="Guttman Keren" panose="02010401010101010101" pitchFamily="2" charset="-79"/>
              </a:rPr>
              <a:t>... וְאֵלֶּה </a:t>
            </a:r>
            <a:r>
              <a:rPr lang="he-IL" sz="2400" dirty="0">
                <a:latin typeface="Guttman Keren" panose="02010401010101010101" pitchFamily="2" charset="-79"/>
                <a:cs typeface="Guttman Keren" panose="02010401010101010101" pitchFamily="2" charset="-79"/>
              </a:rPr>
              <a:t>יַעַמְדוּ עַל הַקְּלָלָה בְּהַר עֵיבָל </a:t>
            </a:r>
            <a:endParaRPr lang="en-US" sz="2400" dirty="0">
              <a:cs typeface="Guttman Keren" panose="02010401010101010101" pitchFamily="2" charset="-79"/>
            </a:endParaRPr>
          </a:p>
          <a:p>
            <a:pPr marL="0" indent="0">
              <a:spcBef>
                <a:spcPts val="1200"/>
              </a:spcBef>
              <a:buNone/>
            </a:pPr>
            <a:r>
              <a:rPr lang="he-IL" sz="2400" dirty="0" smtClean="0">
                <a:solidFill>
                  <a:srgbClr val="FF0000"/>
                </a:solidFill>
                <a:latin typeface="Guttman Keren" panose="02010401010101010101" pitchFamily="2" charset="-79"/>
                <a:cs typeface="Guttman Keren" panose="02010401010101010101" pitchFamily="2" charset="-79"/>
              </a:rPr>
              <a:t>עתיד מתמשך – מצוות הקהל: </a:t>
            </a:r>
            <a:r>
              <a:rPr lang="he-IL" sz="2400" dirty="0" smtClean="0">
                <a:latin typeface="Guttman Keren" panose="02010401010101010101" pitchFamily="2" charset="-79"/>
                <a:cs typeface="Guttman Keren" panose="02010401010101010101" pitchFamily="2" charset="-79"/>
              </a:rPr>
              <a:t>ל"א, יא-</a:t>
            </a:r>
            <a:r>
              <a:rPr lang="he-IL" sz="2400" dirty="0" err="1" smtClean="0">
                <a:latin typeface="Guttman Keren" panose="02010401010101010101" pitchFamily="2" charset="-79"/>
                <a:cs typeface="Guttman Keren" panose="02010401010101010101" pitchFamily="2" charset="-79"/>
              </a:rPr>
              <a:t>יג</a:t>
            </a:r>
            <a:r>
              <a:rPr lang="he-IL" sz="2400" dirty="0" smtClean="0">
                <a:latin typeface="Guttman Keren" panose="02010401010101010101" pitchFamily="2" charset="-79"/>
                <a:cs typeface="Guttman Keren" panose="02010401010101010101" pitchFamily="2" charset="-79"/>
              </a:rPr>
              <a:t>: הַקְהֵל </a:t>
            </a:r>
            <a:r>
              <a:rPr lang="he-IL" sz="2400" dirty="0">
                <a:latin typeface="Guttman Keren" panose="02010401010101010101" pitchFamily="2" charset="-79"/>
                <a:cs typeface="Guttman Keren" panose="02010401010101010101" pitchFamily="2" charset="-79"/>
              </a:rPr>
              <a:t>אֶת הָעָם הָאֲנָשִׁים וְהַנָּשִׁים וְהַטַּף </a:t>
            </a:r>
            <a:r>
              <a:rPr lang="he-IL" sz="2400" dirty="0" err="1">
                <a:latin typeface="Guttman Keren" panose="02010401010101010101" pitchFamily="2" charset="-79"/>
                <a:cs typeface="Guttman Keren" panose="02010401010101010101" pitchFamily="2" charset="-79"/>
              </a:rPr>
              <a:t>וְגֵרְך</a:t>
            </a:r>
            <a:r>
              <a:rPr lang="he-IL" sz="2400" dirty="0">
                <a:latin typeface="Guttman Keren" panose="02010401010101010101" pitchFamily="2" charset="-79"/>
                <a:cs typeface="Guttman Keren" panose="02010401010101010101" pitchFamily="2" charset="-79"/>
              </a:rPr>
              <a:t>ָ אֲשֶׁר בִּשְׁעָרֶיךָ לְמַעַן יִשְׁמְעוּ וּלְמַעַן יִלְמְדוּ וְיָרְאוּ אֶת ה' </a:t>
            </a:r>
            <a:r>
              <a:rPr lang="he-IL" sz="2400" dirty="0" err="1">
                <a:latin typeface="Guttman Keren" panose="02010401010101010101" pitchFamily="2" charset="-79"/>
                <a:cs typeface="Guttman Keren" panose="02010401010101010101" pitchFamily="2" charset="-79"/>
              </a:rPr>
              <a:t>אֱלֹהֵיכֶם</a:t>
            </a:r>
            <a:r>
              <a:rPr lang="he-IL" sz="2400" dirty="0">
                <a:latin typeface="Guttman Keren" panose="02010401010101010101" pitchFamily="2" charset="-79"/>
                <a:cs typeface="Guttman Keren" panose="02010401010101010101" pitchFamily="2" charset="-79"/>
              </a:rPr>
              <a:t> וְשָׁמְרוּ לַעֲשׂוֹת אֶת כָּל דִּבְרֵי הַתּוֹרָה </a:t>
            </a:r>
            <a:r>
              <a:rPr lang="he-IL" sz="2400" dirty="0" smtClean="0">
                <a:latin typeface="Guttman Keren" panose="02010401010101010101" pitchFamily="2" charset="-79"/>
                <a:cs typeface="Guttman Keren" panose="02010401010101010101" pitchFamily="2" charset="-79"/>
              </a:rPr>
              <a:t>הַזֹּאת: </a:t>
            </a:r>
            <a:r>
              <a:rPr lang="he-IL" sz="2400" dirty="0">
                <a:latin typeface="Guttman Keren" panose="02010401010101010101" pitchFamily="2" charset="-79"/>
                <a:cs typeface="Guttman Keren" panose="02010401010101010101" pitchFamily="2" charset="-79"/>
              </a:rPr>
              <a:t>וּבְנֵיהֶם אֲשֶׁר לֹא יָדְעוּ יִשְׁמְעוּ וְלָמְדוּ לְיִרְאָה אֶת ה' </a:t>
            </a:r>
            <a:r>
              <a:rPr lang="he-IL" sz="2400" dirty="0" err="1">
                <a:latin typeface="Guttman Keren" panose="02010401010101010101" pitchFamily="2" charset="-79"/>
                <a:cs typeface="Guttman Keren" panose="02010401010101010101" pitchFamily="2" charset="-79"/>
              </a:rPr>
              <a:t>אֱלֹהֵיכֶם</a:t>
            </a:r>
            <a:r>
              <a:rPr lang="he-IL" sz="2400" dirty="0">
                <a:latin typeface="Guttman Keren" panose="02010401010101010101" pitchFamily="2" charset="-79"/>
                <a:cs typeface="Guttman Keren" panose="02010401010101010101" pitchFamily="2" charset="-79"/>
              </a:rPr>
              <a:t> כָּל הַיָּמִים אֲשֶׁר אַתֶּם חַיִּים עַל הָאֲדָמָה אֲשֶׁר אַתֶּם עֹבְרִים אֶת הַיַּרְדֵּן שָׁמָּה לְרִשְׁתָּהּ: </a:t>
            </a:r>
            <a:endParaRPr lang="en-US" sz="2400" dirty="0">
              <a:cs typeface="Guttman Keren" panose="02010401010101010101" pitchFamily="2" charset="-79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260500" y="4725144"/>
            <a:ext cx="3600400" cy="830997"/>
          </a:xfrm>
          <a:prstGeom prst="rect">
            <a:avLst/>
          </a:prstGeom>
          <a:solidFill>
            <a:schemeClr val="bg1"/>
          </a:solidFill>
          <a:ln w="28575">
            <a:solidFill>
              <a:srgbClr val="3333FF"/>
            </a:solidFill>
          </a:ln>
        </p:spPr>
        <p:txBody>
          <a:bodyPr wrap="square" rtlCol="1">
            <a:spAutoFit/>
          </a:bodyPr>
          <a:lstStyle/>
          <a:p>
            <a:pPr algn="ctr"/>
            <a:r>
              <a:rPr lang="he-IL" sz="2400" dirty="0" smtClean="0">
                <a:solidFill>
                  <a:srgbClr val="3333FF"/>
                </a:solidFill>
              </a:rPr>
              <a:t>שחזור חוויית ההתגלות</a:t>
            </a:r>
          </a:p>
          <a:p>
            <a:pPr algn="ctr"/>
            <a:r>
              <a:rPr lang="he-IL" sz="2400" dirty="0" smtClean="0">
                <a:solidFill>
                  <a:srgbClr val="3333FF"/>
                </a:solidFill>
              </a:rPr>
              <a:t>ולא חזרה על תוכן ההתגלות</a:t>
            </a:r>
            <a:endParaRPr lang="he-IL" sz="2400" dirty="0">
              <a:solidFill>
                <a:srgbClr val="3333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9908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3600" dirty="0" smtClean="0">
                <a:solidFill>
                  <a:srgbClr val="3333FF"/>
                </a:solidFill>
                <a:cs typeface="+mn-cs"/>
              </a:rPr>
              <a:t>גמול הברית</a:t>
            </a:r>
            <a:endParaRPr lang="he-IL" sz="3600" dirty="0">
              <a:solidFill>
                <a:srgbClr val="3333FF"/>
              </a:solidFill>
              <a:cs typeface="+mn-cs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he-IL" u="sng" dirty="0" smtClean="0">
                <a:latin typeface="David" panose="020E0502060401010101" pitchFamily="34" charset="-79"/>
                <a:cs typeface="David" panose="020E0502060401010101" pitchFamily="34" charset="-79"/>
              </a:rPr>
              <a:t>שיא הברכה</a:t>
            </a:r>
            <a:r>
              <a:rPr lang="he-IL" dirty="0" smtClean="0">
                <a:latin typeface="David" panose="020E0502060401010101" pitchFamily="34" charset="-79"/>
                <a:cs typeface="David" panose="020E0502060401010101" pitchFamily="34" charset="-79"/>
              </a:rPr>
              <a:t>: "עם קדוש"</a:t>
            </a:r>
          </a:p>
          <a:p>
            <a:pPr marL="0" indent="0">
              <a:buNone/>
            </a:pPr>
            <a:r>
              <a:rPr lang="he-IL" dirty="0" smtClean="0">
                <a:latin typeface="David" panose="020E0502060401010101" pitchFamily="34" charset="-79"/>
                <a:cs typeface="David" panose="020E0502060401010101" pitchFamily="34" charset="-79"/>
              </a:rPr>
              <a:t>כ"ח, ט-י:</a:t>
            </a:r>
          </a:p>
          <a:p>
            <a:pPr marL="0" indent="0">
              <a:buNone/>
            </a:pPr>
            <a:r>
              <a:rPr lang="he-IL" dirty="0" smtClean="0">
                <a:latin typeface="David" panose="020E0502060401010101" pitchFamily="34" charset="-79"/>
                <a:cs typeface="David" panose="020E0502060401010101" pitchFamily="34" charset="-79"/>
              </a:rPr>
              <a:t>יְקִימְךָ 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ה' לוֹ </a:t>
            </a:r>
            <a:r>
              <a:rPr lang="he-IL" b="1" dirty="0">
                <a:latin typeface="David" panose="020E0502060401010101" pitchFamily="34" charset="-79"/>
                <a:cs typeface="David" panose="020E0502060401010101" pitchFamily="34" charset="-79"/>
              </a:rPr>
              <a:t>לְעַם קָדוֹשׁ 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כַּאֲשֶׁר נִשְׁבַּע לָךְ כִּי תִשְׁמֹר אֶת מִצְוֹת ה' 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</a:rPr>
              <a:t>אֱלֹהֶיך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ָ </a:t>
            </a:r>
            <a:r>
              <a:rPr lang="he-IL" b="1" dirty="0">
                <a:latin typeface="David" panose="020E0502060401010101" pitchFamily="34" charset="-79"/>
                <a:cs typeface="David" panose="020E0502060401010101" pitchFamily="34" charset="-79"/>
              </a:rPr>
              <a:t>וְהָלַכְתָּ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b="1" dirty="0" smtClean="0">
                <a:latin typeface="David" panose="020E0502060401010101" pitchFamily="34" charset="-79"/>
                <a:cs typeface="David" panose="020E0502060401010101" pitchFamily="34" charset="-79"/>
              </a:rPr>
              <a:t>בִּדְרָכָיו</a:t>
            </a:r>
            <a:r>
              <a:rPr lang="he-IL" dirty="0" smtClean="0"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dirty="0" smtClean="0">
                <a:latin typeface="David" panose="020E0502060401010101" pitchFamily="34" charset="-79"/>
                <a:cs typeface="David" panose="020E0502060401010101" pitchFamily="34" charset="-79"/>
              </a:rPr>
              <a:t>וְרָאוּ 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כָּל עַמֵּי הָאָרֶץ כִּי שֵׁם ה' נִקְרָא עָלֶיךָ וְיָרְאוּ מִמֶּךָּ</a:t>
            </a:r>
            <a:r>
              <a:rPr lang="he-IL" dirty="0" smtClean="0">
                <a:latin typeface="David" panose="020E0502060401010101" pitchFamily="34" charset="-79"/>
                <a:cs typeface="David" panose="020E0502060401010101" pitchFamily="34" charset="-79"/>
              </a:rPr>
              <a:t>:</a:t>
            </a:r>
          </a:p>
          <a:p>
            <a:pPr marL="0" indent="0">
              <a:buNone/>
            </a:pPr>
            <a:endParaRPr lang="en-US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buNone/>
            </a:pPr>
            <a:r>
              <a:rPr lang="he-IL" u="sng" dirty="0" smtClean="0">
                <a:latin typeface="David" panose="020E0502060401010101" pitchFamily="34" charset="-79"/>
                <a:cs typeface="David" panose="020E0502060401010101" pitchFamily="34" charset="-79"/>
              </a:rPr>
              <a:t>שיא הקללה</a:t>
            </a:r>
            <a:r>
              <a:rPr lang="he-IL" dirty="0" smtClean="0">
                <a:latin typeface="David" panose="020E0502060401010101" pitchFamily="34" charset="-79"/>
                <a:cs typeface="David" panose="020E0502060401010101" pitchFamily="34" charset="-79"/>
              </a:rPr>
              <a:t>: אבדן הלאומיות וקרבת ה':</a:t>
            </a:r>
          </a:p>
          <a:p>
            <a:pPr marL="0" indent="0">
              <a:buNone/>
            </a:pPr>
            <a:r>
              <a:rPr lang="he-IL" dirty="0" smtClean="0">
                <a:latin typeface="David" panose="020E0502060401010101" pitchFamily="34" charset="-79"/>
                <a:cs typeface="David" panose="020E0502060401010101" pitchFamily="34" charset="-79"/>
              </a:rPr>
              <a:t>סד-סה: </a:t>
            </a:r>
            <a:r>
              <a:rPr lang="he-IL" b="1" dirty="0" smtClean="0">
                <a:latin typeface="David" panose="020E0502060401010101" pitchFamily="34" charset="-79"/>
                <a:cs typeface="David" panose="020E0502060401010101" pitchFamily="34" charset="-79"/>
              </a:rPr>
              <a:t>וֶהֱפִיצְךָ </a:t>
            </a:r>
            <a:r>
              <a:rPr lang="he-IL" b="1" dirty="0">
                <a:latin typeface="David" panose="020E0502060401010101" pitchFamily="34" charset="-79"/>
                <a:cs typeface="David" panose="020E0502060401010101" pitchFamily="34" charset="-79"/>
              </a:rPr>
              <a:t>ה' בְּכָל הָעַמִּים 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מִקְצֵה הָאָרֶץ וְעַד קְצֵה הָאָרֶץ וְעָבַדְתָּ שָּׁם אֱלֹהִים אֲחֵרִים אֲשֶׁר לֹא יָדַעְתָּ אַתָּה 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</a:rPr>
              <a:t>וַאֲבֹתֶיך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ָ עֵץ וָאָבֶן: וּבַגּוֹיִם הָהֵם לֹא תַרְגִּיעַ וְלֹא יִהְיֶה מָנוֹחַ לְכַף רַגְלֶךָ וְנָתַן ה' לְךָ שָׁם לֵב רַגָּז 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</a:rPr>
              <a:t>וְכִלְיוֹן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 </a:t>
            </a:r>
            <a:r>
              <a:rPr lang="he-IL" dirty="0" err="1">
                <a:latin typeface="David" panose="020E0502060401010101" pitchFamily="34" charset="-79"/>
                <a:cs typeface="David" panose="020E0502060401010101" pitchFamily="34" charset="-79"/>
              </a:rPr>
              <a:t>עֵינַיִם</a:t>
            </a:r>
            <a:r>
              <a:rPr lang="he-IL" dirty="0">
                <a:latin typeface="David" panose="020E0502060401010101" pitchFamily="34" charset="-79"/>
                <a:cs typeface="David" panose="020E0502060401010101" pitchFamily="34" charset="-79"/>
              </a:rPr>
              <a:t> וְדַאֲבוֹן נָפֶשׁ:</a:t>
            </a:r>
            <a:endParaRPr lang="en-US" dirty="0">
              <a:latin typeface="David" panose="020E0502060401010101" pitchFamily="34" charset="-79"/>
              <a:cs typeface="David" panose="020E0502060401010101" pitchFamily="34" charset="-79"/>
            </a:endParaRPr>
          </a:p>
          <a:p>
            <a:pPr marL="0" indent="0">
              <a:buNone/>
            </a:pPr>
            <a:endParaRPr lang="he-IL" dirty="0">
              <a:latin typeface="David" panose="020E0502060401010101" pitchFamily="34" charset="-79"/>
              <a:cs typeface="David" panose="020E0502060401010101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829733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e-IL" sz="4000" dirty="0" smtClean="0">
                <a:solidFill>
                  <a:srgbClr val="3333FF"/>
                </a:solidFill>
                <a:cs typeface="+mn-cs"/>
              </a:rPr>
              <a:t>חתימת הספר</a:t>
            </a:r>
            <a:endParaRPr lang="he-IL" sz="4000" dirty="0">
              <a:solidFill>
                <a:srgbClr val="3333FF"/>
              </a:solidFill>
              <a:cs typeface="+mn-cs"/>
            </a:endParaRPr>
          </a:p>
        </p:txBody>
      </p:sp>
      <p:graphicFrame>
        <p:nvGraphicFramePr>
          <p:cNvPr id="3" name="דיאגרמה 2"/>
          <p:cNvGraphicFramePr/>
          <p:nvPr>
            <p:extLst>
              <p:ext uri="{D42A27DB-BD31-4B8C-83A1-F6EECF244321}">
                <p14:modId xmlns:p14="http://schemas.microsoft.com/office/powerpoint/2010/main" val="2706647196"/>
              </p:ext>
            </p:extLst>
          </p:nvPr>
        </p:nvGraphicFramePr>
        <p:xfrm>
          <a:off x="972468" y="476672"/>
          <a:ext cx="4080933" cy="2720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דיאגרמה 4"/>
          <p:cNvGraphicFramePr/>
          <p:nvPr>
            <p:extLst>
              <p:ext uri="{D42A27DB-BD31-4B8C-83A1-F6EECF244321}">
                <p14:modId xmlns:p14="http://schemas.microsoft.com/office/powerpoint/2010/main" val="2083825829"/>
              </p:ext>
            </p:extLst>
          </p:nvPr>
        </p:nvGraphicFramePr>
        <p:xfrm>
          <a:off x="36364" y="1844824"/>
          <a:ext cx="5400600" cy="28803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graphicFrame>
        <p:nvGraphicFramePr>
          <p:cNvPr id="6" name="דיאגרמה 5"/>
          <p:cNvGraphicFramePr/>
          <p:nvPr>
            <p:extLst>
              <p:ext uri="{D42A27DB-BD31-4B8C-83A1-F6EECF244321}">
                <p14:modId xmlns:p14="http://schemas.microsoft.com/office/powerpoint/2010/main" val="180116678"/>
              </p:ext>
            </p:extLst>
          </p:nvPr>
        </p:nvGraphicFramePr>
        <p:xfrm>
          <a:off x="36364" y="3948738"/>
          <a:ext cx="5328592" cy="272062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2" r:lo="rId13" r:qs="rId14" r:cs="rId15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04916" y="3049796"/>
            <a:ext cx="1368152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he-IL" sz="2800" b="1" dirty="0" smtClean="0">
                <a:solidFill>
                  <a:srgbClr val="3333FF"/>
                </a:solidFill>
              </a:rPr>
              <a:t>הברית</a:t>
            </a:r>
            <a:endParaRPr lang="he-IL" sz="2800" b="1" dirty="0">
              <a:solidFill>
                <a:srgbClr val="3333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860900" y="4994012"/>
            <a:ext cx="1368152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algn="l" rtl="0"/>
            <a:r>
              <a:rPr lang="he-IL" sz="2800" b="1" dirty="0" smtClean="0">
                <a:solidFill>
                  <a:srgbClr val="3333FF"/>
                </a:solidFill>
              </a:rPr>
              <a:t>הפרידה</a:t>
            </a:r>
            <a:endParaRPr lang="he-IL" sz="2800" b="1" dirty="0">
              <a:solidFill>
                <a:srgbClr val="3333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1344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>
        <p:bldAsOne/>
      </p:bldGraphic>
      <p:bldGraphic spid="5" grpId="0">
        <p:bldAsOne/>
      </p:bldGraphic>
      <p:bldGraphic spid="6" grpId="0">
        <p:bldAsOne/>
      </p:bldGraphic>
      <p:bldP spid="8" grpId="0"/>
      <p:bldP spid="9" grpId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306070" y="-27384"/>
            <a:ext cx="5509260" cy="778098"/>
          </a:xfrm>
        </p:spPr>
        <p:txBody>
          <a:bodyPr>
            <a:normAutofit/>
          </a:bodyPr>
          <a:lstStyle/>
          <a:p>
            <a:r>
              <a:rPr lang="he-IL" sz="4000" dirty="0" smtClean="0">
                <a:cs typeface="+mn-cs"/>
              </a:rPr>
              <a:t>סיכום</a:t>
            </a:r>
            <a:endParaRPr lang="he-IL" sz="4000" dirty="0">
              <a:cs typeface="+mn-cs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1476524" y="5445224"/>
            <a:ext cx="3312368" cy="1296144"/>
          </a:xfrm>
          <a:solidFill>
            <a:srgbClr val="FFFF00"/>
          </a:solidFill>
          <a:ln w="28575">
            <a:solidFill>
              <a:srgbClr val="3333FF"/>
            </a:solidFill>
          </a:ln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he-IL" sz="2400" dirty="0" smtClean="0"/>
              <a:t>"עם קדוש"</a:t>
            </a:r>
          </a:p>
          <a:p>
            <a:pPr marL="0" indent="0" algn="ctr">
              <a:buNone/>
            </a:pPr>
            <a:r>
              <a:rPr lang="he-IL" sz="2400" dirty="0" smtClean="0"/>
              <a:t>אנושיות היונקת מהקב"ה</a:t>
            </a:r>
          </a:p>
          <a:p>
            <a:pPr marL="0" indent="0" algn="ctr">
              <a:buNone/>
            </a:pPr>
            <a:r>
              <a:rPr lang="he-IL" sz="2400" dirty="0" smtClean="0"/>
              <a:t>לאומיות קדושה </a:t>
            </a:r>
            <a:endParaRPr lang="he-IL" sz="2400" dirty="0"/>
          </a:p>
        </p:txBody>
      </p:sp>
      <p:graphicFrame>
        <p:nvGraphicFramePr>
          <p:cNvPr id="4" name="מציין מיקום תוכן 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8134035"/>
              </p:ext>
            </p:extLst>
          </p:nvPr>
        </p:nvGraphicFramePr>
        <p:xfrm>
          <a:off x="252388" y="750714"/>
          <a:ext cx="5688632" cy="2606280"/>
        </p:xfrm>
        <a:graphic>
          <a:graphicData uri="http://schemas.openxmlformats.org/drawingml/2006/table">
            <a:tbl>
              <a:tblPr rtl="1">
                <a:tableStyleId>{5C22544A-7EE6-4342-B048-85BDC9FD1C3A}</a:tableStyleId>
              </a:tblPr>
              <a:tblGrid>
                <a:gridCol w="1604371"/>
                <a:gridCol w="2018748"/>
                <a:gridCol w="2065513"/>
              </a:tblGrid>
              <a:tr h="651570">
                <a:tc>
                  <a:txBody>
                    <a:bodyPr/>
                    <a:lstStyle/>
                    <a:p>
                      <a:pPr indent="153035" algn="just" rtl="1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he-IL" sz="2400" dirty="0">
                          <a:effectLst/>
                        </a:rPr>
                        <a:t>נאום מס' 1 </a:t>
                      </a:r>
                      <a:endParaRPr lang="en-US" sz="1800" dirty="0"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45911" marR="45911" marT="0" marB="0" anchor="ctr"/>
                </a:tc>
                <a:tc>
                  <a:txBody>
                    <a:bodyPr/>
                    <a:lstStyle/>
                    <a:p>
                      <a:pPr indent="153035" algn="just" rtl="1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he-IL" sz="2400" dirty="0">
                          <a:effectLst/>
                        </a:rPr>
                        <a:t>פרקים א'-ד'</a:t>
                      </a:r>
                      <a:endParaRPr lang="en-US" sz="1800" dirty="0"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45911" marR="45911" marT="0" marB="0" anchor="ctr"/>
                </a:tc>
                <a:tc>
                  <a:txBody>
                    <a:bodyPr/>
                    <a:lstStyle/>
                    <a:p>
                      <a:pPr indent="153035" algn="just" rtl="1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he-IL" sz="2400" b="1" dirty="0">
                          <a:solidFill>
                            <a:srgbClr val="7030A0"/>
                          </a:solidFill>
                          <a:effectLst/>
                        </a:rPr>
                        <a:t>נאום </a:t>
                      </a:r>
                      <a:r>
                        <a:rPr lang="he-IL" sz="2400" b="1" dirty="0" smtClean="0">
                          <a:solidFill>
                            <a:srgbClr val="7030A0"/>
                          </a:solidFill>
                          <a:effectLst/>
                        </a:rPr>
                        <a:t>הפתיחה</a:t>
                      </a:r>
                      <a:endParaRPr lang="en-US" sz="1800" b="1" dirty="0">
                        <a:solidFill>
                          <a:srgbClr val="7030A0"/>
                        </a:solidFill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45911" marR="45911" marT="0" marB="0" anchor="ctr"/>
                </a:tc>
              </a:tr>
              <a:tr h="651570">
                <a:tc>
                  <a:txBody>
                    <a:bodyPr/>
                    <a:lstStyle/>
                    <a:p>
                      <a:pPr indent="153035" algn="just" rtl="1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he-IL" sz="2400" dirty="0">
                          <a:effectLst/>
                        </a:rPr>
                        <a:t>נאום מס' 2</a:t>
                      </a:r>
                      <a:endParaRPr lang="en-US" sz="1800" dirty="0"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45911" marR="45911" marT="0" marB="0" anchor="ctr"/>
                </a:tc>
                <a:tc>
                  <a:txBody>
                    <a:bodyPr/>
                    <a:lstStyle/>
                    <a:p>
                      <a:pPr indent="153035" algn="just" rtl="1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he-IL" sz="2400">
                          <a:effectLst/>
                        </a:rPr>
                        <a:t>פרקים ה'-כ"ו</a:t>
                      </a:r>
                      <a:endParaRPr lang="en-US" sz="1800"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45911" marR="45911" marT="0" marB="0" anchor="ctr"/>
                </a:tc>
                <a:tc>
                  <a:txBody>
                    <a:bodyPr/>
                    <a:lstStyle/>
                    <a:p>
                      <a:pPr indent="153035" algn="just" rtl="1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he-IL" sz="2400" b="1" dirty="0">
                          <a:solidFill>
                            <a:srgbClr val="7030A0"/>
                          </a:solidFill>
                          <a:effectLst/>
                        </a:rPr>
                        <a:t>נאום </a:t>
                      </a:r>
                      <a:r>
                        <a:rPr lang="he-IL" sz="2400" b="1" dirty="0" smtClean="0">
                          <a:solidFill>
                            <a:srgbClr val="7030A0"/>
                          </a:solidFill>
                          <a:effectLst/>
                        </a:rPr>
                        <a:t>המצוות</a:t>
                      </a:r>
                      <a:endParaRPr lang="en-US" sz="1800" b="1" dirty="0">
                        <a:solidFill>
                          <a:srgbClr val="7030A0"/>
                        </a:solidFill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45911" marR="45911" marT="0" marB="0" anchor="ctr"/>
                </a:tc>
              </a:tr>
              <a:tr h="651570">
                <a:tc>
                  <a:txBody>
                    <a:bodyPr/>
                    <a:lstStyle/>
                    <a:p>
                      <a:pPr indent="153035" algn="just" rtl="1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he-IL" sz="2400" dirty="0">
                          <a:effectLst/>
                        </a:rPr>
                        <a:t>נאום מס' 3</a:t>
                      </a:r>
                      <a:endParaRPr lang="en-US" sz="1800" dirty="0"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45911" marR="45911" marT="0" marB="0" anchor="ctr"/>
                </a:tc>
                <a:tc>
                  <a:txBody>
                    <a:bodyPr/>
                    <a:lstStyle/>
                    <a:p>
                      <a:pPr indent="153035" algn="just" rtl="1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he-IL" sz="2400" dirty="0">
                          <a:effectLst/>
                        </a:rPr>
                        <a:t>פרקים </a:t>
                      </a:r>
                      <a:r>
                        <a:rPr lang="he-IL" sz="2400" dirty="0" smtClean="0">
                          <a:effectLst/>
                        </a:rPr>
                        <a:t>כ"ז-ל' </a:t>
                      </a:r>
                      <a:endParaRPr lang="en-US" sz="1800" dirty="0"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45911" marR="45911" marT="0" marB="0" anchor="ctr"/>
                </a:tc>
                <a:tc>
                  <a:txBody>
                    <a:bodyPr/>
                    <a:lstStyle/>
                    <a:p>
                      <a:pPr indent="153035" algn="just" rtl="1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he-IL" sz="2400" b="1" dirty="0" smtClean="0">
                          <a:solidFill>
                            <a:srgbClr val="7030A0"/>
                          </a:solidFill>
                          <a:effectLst/>
                        </a:rPr>
                        <a:t>נאום הברית</a:t>
                      </a:r>
                      <a:endParaRPr lang="en-US" sz="1800" b="1" dirty="0">
                        <a:solidFill>
                          <a:srgbClr val="7030A0"/>
                        </a:solidFill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45911" marR="45911" marT="0" marB="0" anchor="ctr"/>
                </a:tc>
              </a:tr>
              <a:tr h="651570">
                <a:tc>
                  <a:txBody>
                    <a:bodyPr/>
                    <a:lstStyle/>
                    <a:p>
                      <a:pPr indent="153035" algn="just" rtl="1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he-IL" sz="2400" dirty="0">
                          <a:effectLst/>
                        </a:rPr>
                        <a:t>נאום מס' 4</a:t>
                      </a:r>
                      <a:endParaRPr lang="en-US" sz="1800" dirty="0">
                        <a:effectLst/>
                        <a:latin typeface="Times New Roman"/>
                        <a:ea typeface="Times New Roman"/>
                        <a:cs typeface="Miriam"/>
                      </a:endParaRPr>
                    </a:p>
                  </a:txBody>
                  <a:tcPr marL="45911" marR="45911" marT="0" marB="0" anchor="ctr"/>
                </a:tc>
                <a:tc>
                  <a:txBody>
                    <a:bodyPr/>
                    <a:lstStyle/>
                    <a:p>
                      <a:pPr indent="153035" algn="just" rtl="1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he-IL" sz="2400" dirty="0" smtClean="0">
                          <a:effectLst/>
                          <a:latin typeface="Times New Roman"/>
                          <a:ea typeface="Times New Roman"/>
                          <a:cs typeface="+mn-cs"/>
                        </a:rPr>
                        <a:t>פרקים ל"א-ל"ד</a:t>
                      </a:r>
                      <a:endParaRPr lang="en-US" sz="2400" dirty="0">
                        <a:effectLst/>
                        <a:latin typeface="Times New Roman"/>
                        <a:ea typeface="Times New Roman"/>
                        <a:cs typeface="+mn-cs"/>
                      </a:endParaRPr>
                    </a:p>
                  </a:txBody>
                  <a:tcPr marL="45911" marR="45911" marT="0" marB="0" anchor="ctr"/>
                </a:tc>
                <a:tc>
                  <a:txBody>
                    <a:bodyPr/>
                    <a:lstStyle/>
                    <a:p>
                      <a:pPr indent="153035" algn="just" rtl="1">
                        <a:lnSpc>
                          <a:spcPts val="1400"/>
                        </a:lnSpc>
                        <a:spcAft>
                          <a:spcPts val="0"/>
                        </a:spcAft>
                      </a:pPr>
                      <a:r>
                        <a:rPr lang="he-IL" sz="2400" b="1" dirty="0" smtClean="0">
                          <a:solidFill>
                            <a:srgbClr val="7030A0"/>
                          </a:solidFill>
                          <a:effectLst/>
                          <a:latin typeface="Times New Roman"/>
                          <a:ea typeface="Times New Roman"/>
                          <a:cs typeface="+mn-cs"/>
                        </a:rPr>
                        <a:t>נאום הפרידה</a:t>
                      </a:r>
                      <a:endParaRPr lang="en-US" sz="2400" b="1" dirty="0">
                        <a:solidFill>
                          <a:srgbClr val="7030A0"/>
                        </a:solidFill>
                        <a:effectLst/>
                        <a:latin typeface="Times New Roman"/>
                        <a:ea typeface="Times New Roman"/>
                        <a:cs typeface="+mn-cs"/>
                      </a:endParaRPr>
                    </a:p>
                  </a:txBody>
                  <a:tcPr marL="45911" marR="45911" marT="0" marB="0" anchor="ctr"/>
                </a:tc>
              </a:tr>
            </a:tbl>
          </a:graphicData>
        </a:graphic>
      </p:graphicFrame>
      <p:graphicFrame>
        <p:nvGraphicFramePr>
          <p:cNvPr id="5" name="דיאגרמה 4"/>
          <p:cNvGraphicFramePr/>
          <p:nvPr>
            <p:extLst>
              <p:ext uri="{D42A27DB-BD31-4B8C-83A1-F6EECF244321}">
                <p14:modId xmlns:p14="http://schemas.microsoft.com/office/powerpoint/2010/main" val="1672886663"/>
              </p:ext>
            </p:extLst>
          </p:nvPr>
        </p:nvGraphicFramePr>
        <p:xfrm>
          <a:off x="948225" y="3284984"/>
          <a:ext cx="4344723" cy="20882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147821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4" dur="1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250"/>
                            </p:stCondLst>
                            <p:childTnLst>
                              <p:par>
                                <p:cTn id="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125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30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500"/>
                            </p:stCondLst>
                            <p:childTnLst>
                              <p:par>
                                <p:cTn id="2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  <p:bldGraphic spid="5" grpId="0">
        <p:bldAsOne/>
      </p:bldGraphic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476524" y="274638"/>
            <a:ext cx="4338806" cy="994122"/>
          </a:xfrm>
        </p:spPr>
        <p:txBody>
          <a:bodyPr>
            <a:normAutofit/>
          </a:bodyPr>
          <a:lstStyle/>
          <a:p>
            <a:pPr algn="r"/>
            <a:r>
              <a:rPr lang="he-IL" sz="3200" dirty="0" smtClean="0">
                <a:solidFill>
                  <a:srgbClr val="3333FF"/>
                </a:solidFill>
                <a:latin typeface="Guttman Yad-Brush" pitchFamily="2" charset="-79"/>
                <a:cs typeface="Guttman Yad-Brush" pitchFamily="2" charset="-79"/>
              </a:rPr>
              <a:t>סיכום – מה למדנו?</a:t>
            </a:r>
            <a:endParaRPr lang="he-IL" sz="3200" dirty="0">
              <a:solidFill>
                <a:srgbClr val="3333FF"/>
              </a:solidFill>
              <a:latin typeface="Guttman Yad-Brush" pitchFamily="2" charset="-79"/>
              <a:cs typeface="Guttman Yad-Brush" pitchFamily="2" charset="-79"/>
            </a:endParaRP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24396" y="1196754"/>
            <a:ext cx="5509260" cy="3240360"/>
          </a:xfrm>
        </p:spPr>
        <p:txBody>
          <a:bodyPr>
            <a:normAutofit/>
          </a:bodyPr>
          <a:lstStyle/>
          <a:p>
            <a:r>
              <a:rPr lang="he-IL" sz="2800" dirty="0" smtClean="0"/>
              <a:t>מבנה הספר, נאומים ומסגרות.</a:t>
            </a:r>
          </a:p>
          <a:p>
            <a:r>
              <a:rPr lang="he-IL" sz="2800" dirty="0" smtClean="0"/>
              <a:t>הכנת העם לכניסה לארץ.</a:t>
            </a:r>
          </a:p>
          <a:p>
            <a:r>
              <a:rPr lang="he-IL" sz="2800" dirty="0" smtClean="0"/>
              <a:t>סכנות עם הכניסה לארץ.</a:t>
            </a:r>
          </a:p>
          <a:p>
            <a:r>
              <a:rPr lang="he-IL" sz="2800" dirty="0" smtClean="0"/>
              <a:t>שדרוג הקשר עם הקב"ה.</a:t>
            </a:r>
          </a:p>
          <a:p>
            <a:r>
              <a:rPr lang="he-IL" sz="2800" dirty="0" smtClean="0"/>
              <a:t>דגש לאומי ואישי. </a:t>
            </a:r>
          </a:p>
          <a:p>
            <a:r>
              <a:rPr lang="he-IL" sz="2800" dirty="0" smtClean="0"/>
              <a:t>הברית!</a:t>
            </a:r>
          </a:p>
          <a:p>
            <a:endParaRPr lang="he-IL" sz="2800" dirty="0"/>
          </a:p>
        </p:txBody>
      </p:sp>
      <p:sp>
        <p:nvSpPr>
          <p:cNvPr id="4" name="כותרת 1"/>
          <p:cNvSpPr txBox="1">
            <a:spLocks/>
          </p:cNvSpPr>
          <p:nvPr/>
        </p:nvSpPr>
        <p:spPr>
          <a:xfrm>
            <a:off x="1554472" y="4235078"/>
            <a:ext cx="4338806" cy="994122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>
            <a:lvl1pPr algn="ctr" defTabSz="914400" rtl="1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he-IL" sz="3200" dirty="0" smtClean="0">
                <a:solidFill>
                  <a:srgbClr val="3333FF"/>
                </a:solidFill>
                <a:latin typeface="Guttman Yad-Brush" pitchFamily="2" charset="-79"/>
                <a:cs typeface="Guttman Yad-Brush" pitchFamily="2" charset="-79"/>
              </a:rPr>
              <a:t>ומה לא למדנו?</a:t>
            </a:r>
            <a:endParaRPr lang="he-IL" sz="3200" dirty="0">
              <a:solidFill>
                <a:srgbClr val="3333FF"/>
              </a:solidFill>
              <a:latin typeface="Guttman Yad-Brush" pitchFamily="2" charset="-79"/>
              <a:cs typeface="Guttman Yad-Brush" pitchFamily="2" charset="-79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44476" y="5157192"/>
            <a:ext cx="3240360" cy="523220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2800" dirty="0" smtClean="0"/>
              <a:t>ואת הספר...</a:t>
            </a:r>
            <a:endParaRPr lang="he-IL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216384" y="6150431"/>
            <a:ext cx="2664296" cy="58477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sz="3200" dirty="0" smtClean="0"/>
              <a:t>ואידך </a:t>
            </a:r>
            <a:r>
              <a:rPr lang="he-IL" sz="3200" dirty="0" err="1" smtClean="0"/>
              <a:t>זיל</a:t>
            </a:r>
            <a:r>
              <a:rPr lang="he-IL" sz="3200" dirty="0" smtClean="0"/>
              <a:t> גמור!</a:t>
            </a:r>
            <a:endParaRPr lang="he-IL" sz="3200" dirty="0"/>
          </a:p>
        </p:txBody>
      </p:sp>
    </p:spTree>
    <p:extLst>
      <p:ext uri="{BB962C8B-B14F-4D97-AF65-F5344CB8AC3E}">
        <p14:creationId xmlns:p14="http://schemas.microsoft.com/office/powerpoint/2010/main" val="13443392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50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" grpId="0"/>
      <p:bldP spid="5" grpId="0"/>
      <p:bldP spid="6" grpId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he-IL" dirty="0">
                <a:solidFill>
                  <a:srgbClr val="3333FF"/>
                </a:solidFill>
                <a:latin typeface="Guttman Keren" panose="02010401010101010101" pitchFamily="2" charset="-79"/>
                <a:cs typeface="Guttman Keren" panose="02010401010101010101" pitchFamily="2" charset="-79"/>
              </a:rPr>
              <a:t>יְקִימְךָ ה' לוֹ לְעַם קָדוֹשׁ </a:t>
            </a:r>
            <a:endParaRPr lang="he-IL" dirty="0" smtClean="0">
              <a:solidFill>
                <a:srgbClr val="3333FF"/>
              </a:solidFill>
              <a:latin typeface="Guttman Keren" panose="02010401010101010101" pitchFamily="2" charset="-79"/>
              <a:cs typeface="Guttman Keren" panose="02010401010101010101" pitchFamily="2" charset="-79"/>
            </a:endParaRPr>
          </a:p>
          <a:p>
            <a:pPr marL="0" indent="0" algn="ctr">
              <a:buNone/>
            </a:pPr>
            <a:r>
              <a:rPr lang="he-IL" dirty="0" smtClean="0">
                <a:solidFill>
                  <a:srgbClr val="3333FF"/>
                </a:solidFill>
                <a:latin typeface="Guttman Keren" panose="02010401010101010101" pitchFamily="2" charset="-79"/>
                <a:cs typeface="Guttman Keren" panose="02010401010101010101" pitchFamily="2" charset="-79"/>
              </a:rPr>
              <a:t>כַּאֲשֶׁר </a:t>
            </a:r>
            <a:r>
              <a:rPr lang="he-IL" dirty="0">
                <a:solidFill>
                  <a:srgbClr val="3333FF"/>
                </a:solidFill>
                <a:latin typeface="Guttman Keren" panose="02010401010101010101" pitchFamily="2" charset="-79"/>
                <a:cs typeface="Guttman Keren" panose="02010401010101010101" pitchFamily="2" charset="-79"/>
              </a:rPr>
              <a:t>נִשְׁבַּע לָךְ </a:t>
            </a:r>
            <a:endParaRPr lang="he-IL" dirty="0" smtClean="0">
              <a:solidFill>
                <a:srgbClr val="3333FF"/>
              </a:solidFill>
              <a:latin typeface="Guttman Keren" panose="02010401010101010101" pitchFamily="2" charset="-79"/>
              <a:cs typeface="Guttman Keren" panose="02010401010101010101" pitchFamily="2" charset="-79"/>
            </a:endParaRPr>
          </a:p>
          <a:p>
            <a:pPr marL="0" indent="0" algn="ctr">
              <a:buNone/>
            </a:pPr>
            <a:r>
              <a:rPr lang="he-IL" dirty="0" smtClean="0">
                <a:solidFill>
                  <a:srgbClr val="3333FF"/>
                </a:solidFill>
                <a:latin typeface="Guttman Keren" panose="02010401010101010101" pitchFamily="2" charset="-79"/>
                <a:cs typeface="Guttman Keren" panose="02010401010101010101" pitchFamily="2" charset="-79"/>
              </a:rPr>
              <a:t>כִּי </a:t>
            </a:r>
            <a:r>
              <a:rPr lang="he-IL" dirty="0">
                <a:solidFill>
                  <a:srgbClr val="3333FF"/>
                </a:solidFill>
                <a:latin typeface="Guttman Keren" panose="02010401010101010101" pitchFamily="2" charset="-79"/>
                <a:cs typeface="Guttman Keren" panose="02010401010101010101" pitchFamily="2" charset="-79"/>
              </a:rPr>
              <a:t>תִשְׁמֹר אֶת מִצְוֹת ה' </a:t>
            </a:r>
            <a:r>
              <a:rPr lang="he-IL" dirty="0" err="1">
                <a:solidFill>
                  <a:srgbClr val="3333FF"/>
                </a:solidFill>
                <a:latin typeface="Guttman Keren" panose="02010401010101010101" pitchFamily="2" charset="-79"/>
                <a:cs typeface="Guttman Keren" panose="02010401010101010101" pitchFamily="2" charset="-79"/>
              </a:rPr>
              <a:t>אֱלֹהֶיך</a:t>
            </a:r>
            <a:r>
              <a:rPr lang="he-IL" dirty="0">
                <a:solidFill>
                  <a:srgbClr val="3333FF"/>
                </a:solidFill>
                <a:latin typeface="Guttman Keren" panose="02010401010101010101" pitchFamily="2" charset="-79"/>
                <a:cs typeface="Guttman Keren" panose="02010401010101010101" pitchFamily="2" charset="-79"/>
              </a:rPr>
              <a:t>ָ </a:t>
            </a:r>
            <a:endParaRPr lang="he-IL" dirty="0" smtClean="0">
              <a:solidFill>
                <a:srgbClr val="3333FF"/>
              </a:solidFill>
              <a:latin typeface="Guttman Keren" panose="02010401010101010101" pitchFamily="2" charset="-79"/>
              <a:cs typeface="Guttman Keren" panose="02010401010101010101" pitchFamily="2" charset="-79"/>
            </a:endParaRPr>
          </a:p>
          <a:p>
            <a:pPr marL="0" indent="0" algn="ctr">
              <a:buNone/>
            </a:pPr>
            <a:r>
              <a:rPr lang="he-IL" dirty="0" smtClean="0">
                <a:solidFill>
                  <a:srgbClr val="3333FF"/>
                </a:solidFill>
                <a:latin typeface="Guttman Keren" panose="02010401010101010101" pitchFamily="2" charset="-79"/>
                <a:cs typeface="Guttman Keren" panose="02010401010101010101" pitchFamily="2" charset="-79"/>
              </a:rPr>
              <a:t>וְהָלַכְתָּ </a:t>
            </a:r>
            <a:r>
              <a:rPr lang="he-IL" dirty="0">
                <a:solidFill>
                  <a:srgbClr val="3333FF"/>
                </a:solidFill>
                <a:latin typeface="Guttman Keren" panose="02010401010101010101" pitchFamily="2" charset="-79"/>
                <a:cs typeface="Guttman Keren" panose="02010401010101010101" pitchFamily="2" charset="-79"/>
              </a:rPr>
              <a:t>בִּדְרָכָיו:</a:t>
            </a:r>
          </a:p>
        </p:txBody>
      </p:sp>
    </p:spTree>
    <p:extLst>
      <p:ext uri="{BB962C8B-B14F-4D97-AF65-F5344CB8AC3E}">
        <p14:creationId xmlns:p14="http://schemas.microsoft.com/office/powerpoint/2010/main" val="3862843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1311</TotalTime>
  <Words>5266</Words>
  <Application>Microsoft Office PowerPoint</Application>
  <PresentationFormat>מותאם אישית</PresentationFormat>
  <Paragraphs>648</Paragraphs>
  <Slides>68</Slides>
  <Notes>0</Notes>
  <HiddenSlides>0</HiddenSlides>
  <MMClips>0</MMClips>
  <ScaleCrop>false</ScaleCrop>
  <HeadingPairs>
    <vt:vector size="4" baseType="variant"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68</vt:i4>
      </vt:variant>
    </vt:vector>
  </HeadingPairs>
  <TitlesOfParts>
    <vt:vector size="69" baseType="lpstr">
      <vt:lpstr>ערכת נושא Office</vt:lpstr>
      <vt:lpstr>מבוא לספר דברים</vt:lpstr>
      <vt:lpstr>מטרות ההרצאה</vt:lpstr>
      <vt:lpstr>מתי נאמר ספר דברים?</vt:lpstr>
      <vt:lpstr>היכן נאמר ספר דברים?</vt:lpstr>
      <vt:lpstr>נאומי משה</vt:lpstr>
      <vt:lpstr>נאום פתיחה – לקח היסטורי 1</vt:lpstr>
      <vt:lpstr>שני המסעות</vt:lpstr>
      <vt:lpstr>נאום פתיחה – לקח היסטורי 2</vt:lpstr>
      <vt:lpstr>(לב) כִּי שְׁאַל נָא לְיָמִים רִאשֹׁנִים אֲשֶׁר הָיוּ לְפָנֶיךָ לְמִן הַיּוֹם אֲשֶׁר בָּרָא אֱלֹהִים אָדָם עַל הָאָרֶץ וּלְמִקְצֵה הַשָּׁמַיִם וְעַד קְצֵה הַשָּׁמָיִם הֲנִהְיָה כַּדָּבָר הַגָּדוֹל הַזֶּה אוֹ הֲנִשְׁמַע כָּמֹהוּ:</vt:lpstr>
      <vt:lpstr>מצגת של PowerPoint</vt:lpstr>
      <vt:lpstr>מצוות וארץ ישראל</vt:lpstr>
      <vt:lpstr>מצוות וארץ ישראל</vt:lpstr>
      <vt:lpstr>מצוות וארץ ישראל</vt:lpstr>
      <vt:lpstr>מצוות וארץ ישראל</vt:lpstr>
      <vt:lpstr>נאום המצוות (ה'-כ"ו) </vt:lpstr>
      <vt:lpstr>נאום המצוות (ה'-כ"ו)  עשרת הדברות – אבות לכל המצוות כולן</vt:lpstr>
      <vt:lpstr>"הַדְּבָרִים הָאֵלֶּה"</vt:lpstr>
      <vt:lpstr>"הַדְּבָרִים הָאֵלֶּה"</vt:lpstr>
      <vt:lpstr>"הַדְּבָרִים הָאֵלֶּה"</vt:lpstr>
      <vt:lpstr>"הַדְּבָרִים הָאֵלֶּה"</vt:lpstr>
      <vt:lpstr>"דְּבָרַי אֵלֶּה"</vt:lpstr>
      <vt:lpstr>"דְּבָרַי אֵלֶּה"</vt:lpstr>
      <vt:lpstr>מצוות האמונה – פרקים ו'-י"א</vt:lpstr>
      <vt:lpstr>שירת האהבה</vt:lpstr>
      <vt:lpstr>שירת האהבה</vt:lpstr>
      <vt:lpstr>שירת האהבה</vt:lpstr>
      <vt:lpstr>שירת האהבה</vt:lpstr>
      <vt:lpstr>שירת אזהרה מתוך אהבה</vt:lpstr>
      <vt:lpstr>שירת אזהרה מתוך אהבה</vt:lpstr>
      <vt:lpstr>שירת אהבה בסיום נאום המצוות</vt:lpstr>
      <vt:lpstr>אהבת ה' בסיום נאום הברית</vt:lpstr>
      <vt:lpstr>אהבה בחתימת מצוות האמונה</vt:lpstr>
      <vt:lpstr>אהבה בחתימת מצוות האמונה</vt:lpstr>
      <vt:lpstr>אהבה בחתימת מצוות האמונה</vt:lpstr>
      <vt:lpstr>סיכום ביניים 1:  שִדרוג ביחסי ישראל והקב"ה</vt:lpstr>
      <vt:lpstr>המצוות המעשיות במסגרת הבריתות</vt:lpstr>
      <vt:lpstr>נאום המצוות (ה'-כ"ו)  עשרת הדברות – אבות לכל המצוות כולן</vt:lpstr>
      <vt:lpstr>פרשת "הַמָּקוֹם אֲשֶׁר יִבְחַר ה’ אֱלֹהֶיךָ לָשׂוּם שְׁמוֹ שָׁם"</vt:lpstr>
      <vt:lpstr>פרשת "הַמָּקוֹם אֲשֶׁר יִבְחַר ה’ אֱלֹהֶיךָ לָשׂוּם שְׁמוֹ שָׁם"</vt:lpstr>
      <vt:lpstr>פרשת "הַמָּקוֹם אֲשֶׁר יִבְחַר ה’ אֱלֹהֶיךָ לָשׂוּם שְׁמוֹ שָׁם"</vt:lpstr>
      <vt:lpstr>פרשת "הַמָּקוֹם אֲשֶׁר יִבְחַר ה’ אֱלֹהֶיךָ לָשׂוּם שְׁמוֹ שָׁם"</vt:lpstr>
      <vt:lpstr>שמחה ברגל</vt:lpstr>
      <vt:lpstr>מצוות לאומיות</vt:lpstr>
      <vt:lpstr>מנהיגות</vt:lpstr>
      <vt:lpstr>ובערת הרע...</vt:lpstr>
      <vt:lpstr>לכפר על...</vt:lpstr>
      <vt:lpstr>שמיטה</vt:lpstr>
      <vt:lpstr>שחרור עבדים</vt:lpstr>
      <vt:lpstr>קדושה</vt:lpstr>
      <vt:lpstr>מצגת של PowerPoint</vt:lpstr>
      <vt:lpstr>סיכום ביניים 2: ספר העם והאדם</vt:lpstr>
      <vt:lpstr>מה בין דברים לויקרא?</vt:lpstr>
      <vt:lpstr>המצוות המעשיות במסגרת הבריתות</vt:lpstr>
      <vt:lpstr>3 בריתות (ועוד אחת)</vt:lpstr>
      <vt:lpstr>ברית סיני בספר דברים</vt:lpstr>
      <vt:lpstr>חיבור הבריתות</vt:lpstr>
      <vt:lpstr>חיבור הבריתות</vt:lpstr>
      <vt:lpstr>מצגת של PowerPoint</vt:lpstr>
      <vt:lpstr>מצגת של PowerPoint</vt:lpstr>
      <vt:lpstr>מצגת של PowerPoint</vt:lpstr>
      <vt:lpstr>מצגת של PowerPoint</vt:lpstr>
      <vt:lpstr>3 בריתות ועוד אחת</vt:lpstr>
      <vt:lpstr>3 בריתות ועוד אחת</vt:lpstr>
      <vt:lpstr>גמול הברית</vt:lpstr>
      <vt:lpstr>חתימת הספר</vt:lpstr>
      <vt:lpstr>סיכום</vt:lpstr>
      <vt:lpstr>סיכום – מה למדנו?</vt:lpstr>
      <vt:lpstr>מצגת של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מבוא לספר דברים</dc:title>
  <dc:creator>User</dc:creator>
  <cp:lastModifiedBy>User</cp:lastModifiedBy>
  <cp:revision>96</cp:revision>
  <dcterms:created xsi:type="dcterms:W3CDTF">2014-08-25T22:21:58Z</dcterms:created>
  <dcterms:modified xsi:type="dcterms:W3CDTF">2015-08-17T10:18:21Z</dcterms:modified>
</cp:coreProperties>
</file>